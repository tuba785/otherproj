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94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3" r:id="rId19"/>
    <p:sldId id="272" r:id="rId20"/>
    <p:sldId id="274" r:id="rId21"/>
    <p:sldId id="275" r:id="rId22"/>
    <p:sldId id="276" r:id="rId23"/>
    <p:sldId id="281" r:id="rId24"/>
    <p:sldId id="277" r:id="rId25"/>
    <p:sldId id="278" r:id="rId26"/>
    <p:sldId id="280" r:id="rId27"/>
    <p:sldId id="282" r:id="rId28"/>
    <p:sldId id="283" r:id="rId29"/>
    <p:sldId id="284" r:id="rId30"/>
    <p:sldId id="285" r:id="rId31"/>
    <p:sldId id="286" r:id="rId32"/>
    <p:sldId id="287" r:id="rId33"/>
    <p:sldId id="289" r:id="rId34"/>
    <p:sldId id="288" r:id="rId35"/>
    <p:sldId id="290" r:id="rId36"/>
    <p:sldId id="291" r:id="rId37"/>
    <p:sldId id="292" r:id="rId38"/>
    <p:sldId id="298" r:id="rId39"/>
    <p:sldId id="295" r:id="rId40"/>
    <p:sldId id="296" r:id="rId41"/>
  </p:sldIdLst>
  <p:sldSz cx="12192000" cy="6858000"/>
  <p:notesSz cx="6858000" cy="9144000"/>
  <p:defaultTextStyle>
    <a:defPPr>
      <a:defRPr lang="en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B9813"/>
    <a:srgbClr val="FAB9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5814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Турал Бабаев" userId="854cf40533749be1" providerId="LiveId" clId="{96C38D1A-179B-41DC-A831-3A334C4F7C7C}"/>
    <pc:docChg chg="custSel addSld delSld modSld">
      <pc:chgData name="Турал Бабаев" userId="854cf40533749be1" providerId="LiveId" clId="{96C38D1A-179B-41DC-A831-3A334C4F7C7C}" dt="2025-12-07T15:41:12.111" v="626" actId="47"/>
      <pc:docMkLst>
        <pc:docMk/>
      </pc:docMkLst>
      <pc:sldChg chg="modSp mod">
        <pc:chgData name="Турал Бабаев" userId="854cf40533749be1" providerId="LiveId" clId="{96C38D1A-179B-41DC-A831-3A334C4F7C7C}" dt="2025-12-07T14:54:29.513" v="16" actId="20577"/>
        <pc:sldMkLst>
          <pc:docMk/>
          <pc:sldMk cId="411452489" sldId="270"/>
        </pc:sldMkLst>
        <pc:spChg chg="mod">
          <ac:chgData name="Турал Бабаев" userId="854cf40533749be1" providerId="LiveId" clId="{96C38D1A-179B-41DC-A831-3A334C4F7C7C}" dt="2025-12-07T14:54:29.513" v="16" actId="20577"/>
          <ac:spMkLst>
            <pc:docMk/>
            <pc:sldMk cId="411452489" sldId="270"/>
            <ac:spMk id="3" creationId="{E85AA8D1-CAB7-CF11-7E54-B3D359E01147}"/>
          </ac:spMkLst>
        </pc:spChg>
      </pc:sldChg>
      <pc:sldChg chg="modSp mod">
        <pc:chgData name="Турал Бабаев" userId="854cf40533749be1" providerId="LiveId" clId="{96C38D1A-179B-41DC-A831-3A334C4F7C7C}" dt="2025-12-07T15:26:43.323" v="24" actId="20577"/>
        <pc:sldMkLst>
          <pc:docMk/>
          <pc:sldMk cId="4213926294" sldId="282"/>
        </pc:sldMkLst>
        <pc:spChg chg="mod">
          <ac:chgData name="Турал Бабаев" userId="854cf40533749be1" providerId="LiveId" clId="{96C38D1A-179B-41DC-A831-3A334C4F7C7C}" dt="2025-12-07T15:26:43.323" v="24" actId="20577"/>
          <ac:spMkLst>
            <pc:docMk/>
            <pc:sldMk cId="4213926294" sldId="282"/>
            <ac:spMk id="3" creationId="{0701B6E1-32E1-34B7-75EF-3EEA81EAC360}"/>
          </ac:spMkLst>
        </pc:spChg>
      </pc:sldChg>
      <pc:sldChg chg="modSp mod">
        <pc:chgData name="Турал Бабаев" userId="854cf40533749be1" providerId="LiveId" clId="{96C38D1A-179B-41DC-A831-3A334C4F7C7C}" dt="2025-12-07T15:28:50.866" v="52" actId="20577"/>
        <pc:sldMkLst>
          <pc:docMk/>
          <pc:sldMk cId="4088415466" sldId="283"/>
        </pc:sldMkLst>
        <pc:spChg chg="mod">
          <ac:chgData name="Турал Бабаев" userId="854cf40533749be1" providerId="LiveId" clId="{96C38D1A-179B-41DC-A831-3A334C4F7C7C}" dt="2025-12-07T15:28:50.866" v="52" actId="20577"/>
          <ac:spMkLst>
            <pc:docMk/>
            <pc:sldMk cId="4088415466" sldId="283"/>
            <ac:spMk id="3" creationId="{5E74C8E5-D417-AEFD-BB86-1CB7A03F5BAA}"/>
          </ac:spMkLst>
        </pc:spChg>
      </pc:sldChg>
      <pc:sldChg chg="modSp mod">
        <pc:chgData name="Турал Бабаев" userId="854cf40533749be1" providerId="LiveId" clId="{96C38D1A-179B-41DC-A831-3A334C4F7C7C}" dt="2025-12-07T15:29:36.617" v="56" actId="20577"/>
        <pc:sldMkLst>
          <pc:docMk/>
          <pc:sldMk cId="3340422750" sldId="284"/>
        </pc:sldMkLst>
        <pc:spChg chg="mod">
          <ac:chgData name="Турал Бабаев" userId="854cf40533749be1" providerId="LiveId" clId="{96C38D1A-179B-41DC-A831-3A334C4F7C7C}" dt="2025-12-07T15:29:36.617" v="56" actId="20577"/>
          <ac:spMkLst>
            <pc:docMk/>
            <pc:sldMk cId="3340422750" sldId="284"/>
            <ac:spMk id="3" creationId="{282946E2-F437-C4C8-B479-BC6FF5A08F6E}"/>
          </ac:spMkLst>
        </pc:spChg>
      </pc:sldChg>
      <pc:sldChg chg="del">
        <pc:chgData name="Турал Бабаев" userId="854cf40533749be1" providerId="LiveId" clId="{96C38D1A-179B-41DC-A831-3A334C4F7C7C}" dt="2025-12-07T15:41:12.111" v="626" actId="47"/>
        <pc:sldMkLst>
          <pc:docMk/>
          <pc:sldMk cId="638592698" sldId="293"/>
        </pc:sldMkLst>
      </pc:sldChg>
      <pc:sldChg chg="modSp mod">
        <pc:chgData name="Турал Бабаев" userId="854cf40533749be1" providerId="LiveId" clId="{96C38D1A-179B-41DC-A831-3A334C4F7C7C}" dt="2025-12-07T14:54:07.962" v="9" actId="20577"/>
        <pc:sldMkLst>
          <pc:docMk/>
          <pc:sldMk cId="2483317009" sldId="295"/>
        </pc:sldMkLst>
        <pc:spChg chg="mod">
          <ac:chgData name="Турал Бабаев" userId="854cf40533749be1" providerId="LiveId" clId="{96C38D1A-179B-41DC-A831-3A334C4F7C7C}" dt="2025-12-07T14:54:07.962" v="9" actId="20577"/>
          <ac:spMkLst>
            <pc:docMk/>
            <pc:sldMk cId="2483317009" sldId="295"/>
            <ac:spMk id="2" creationId="{92190073-D115-4176-1E4F-82216518A556}"/>
          </ac:spMkLst>
        </pc:spChg>
      </pc:sldChg>
      <pc:sldChg chg="addSp delSp modSp add del mod">
        <pc:chgData name="Турал Бабаев" userId="854cf40533749be1" providerId="LiveId" clId="{96C38D1A-179B-41DC-A831-3A334C4F7C7C}" dt="2025-12-07T15:41:10.512" v="625" actId="47"/>
        <pc:sldMkLst>
          <pc:docMk/>
          <pc:sldMk cId="995276871" sldId="297"/>
        </pc:sldMkLst>
        <pc:graphicFrameChg chg="add mod modGraphic">
          <ac:chgData name="Турал Бабаев" userId="854cf40533749be1" providerId="LiveId" clId="{96C38D1A-179B-41DC-A831-3A334C4F7C7C}" dt="2025-12-07T15:37:22.208" v="214" actId="20577"/>
          <ac:graphicFrameMkLst>
            <pc:docMk/>
            <pc:sldMk cId="995276871" sldId="297"/>
            <ac:graphicFrameMk id="3" creationId="{80EA4A2A-2167-9684-43DE-28AE623CB7CD}"/>
          </ac:graphicFrameMkLst>
        </pc:graphicFrameChg>
        <pc:picChg chg="del">
          <ac:chgData name="Турал Бабаев" userId="854cf40533749be1" providerId="LiveId" clId="{96C38D1A-179B-41DC-A831-3A334C4F7C7C}" dt="2025-12-07T15:33:38.665" v="58" actId="478"/>
          <ac:picMkLst>
            <pc:docMk/>
            <pc:sldMk cId="995276871" sldId="297"/>
            <ac:picMk id="5" creationId="{7A1657F8-A0AF-970B-9F29-3359D4BE956D}"/>
          </ac:picMkLst>
        </pc:picChg>
      </pc:sldChg>
      <pc:sldChg chg="addSp delSp modSp add mod">
        <pc:chgData name="Турал Бабаев" userId="854cf40533749be1" providerId="LiveId" clId="{96C38D1A-179B-41DC-A831-3A334C4F7C7C}" dt="2025-12-07T15:41:00.439" v="624" actId="113"/>
        <pc:sldMkLst>
          <pc:docMk/>
          <pc:sldMk cId="1017154184" sldId="298"/>
        </pc:sldMkLst>
        <pc:graphicFrameChg chg="del">
          <ac:chgData name="Турал Бабаев" userId="854cf40533749be1" providerId="LiveId" clId="{96C38D1A-179B-41DC-A831-3A334C4F7C7C}" dt="2025-12-07T15:37:48.903" v="216" actId="478"/>
          <ac:graphicFrameMkLst>
            <pc:docMk/>
            <pc:sldMk cId="1017154184" sldId="298"/>
            <ac:graphicFrameMk id="3" creationId="{9E4E49DC-DAF4-E026-2E51-106DD1DC19FC}"/>
          </ac:graphicFrameMkLst>
        </pc:graphicFrameChg>
        <pc:graphicFrameChg chg="add mod modGraphic">
          <ac:chgData name="Турал Бабаев" userId="854cf40533749be1" providerId="LiveId" clId="{96C38D1A-179B-41DC-A831-3A334C4F7C7C}" dt="2025-12-07T15:41:00.439" v="624" actId="113"/>
          <ac:graphicFrameMkLst>
            <pc:docMk/>
            <pc:sldMk cId="1017154184" sldId="298"/>
            <ac:graphicFrameMk id="4" creationId="{4CE532B2-E188-6D34-8852-E55D801C7E40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281163A-9AAD-CD45-B4AF-FDFE4F21AF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B090732-A618-5A4E-A537-64A4B51DBF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8408" y="1324244"/>
            <a:ext cx="5962402" cy="2387600"/>
          </a:xfrm>
        </p:spPr>
        <p:txBody>
          <a:bodyPr anchor="b"/>
          <a:lstStyle>
            <a:lvl1pPr algn="l">
              <a:defRPr sz="6000">
                <a:solidFill>
                  <a:srgbClr val="CB981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B81846-9D9A-1D48-92A5-021FC167EB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8408" y="3803919"/>
            <a:ext cx="5962402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B87F3-D628-A44F-8A71-6B5B8A4DF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0EA87-86B7-834A-A87D-CEE75A2A3BFC}" type="datetimeFigureOut">
              <a:rPr lang="en-UA" smtClean="0"/>
              <a:t>12/07/2025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191E38-62B0-8045-9769-C5AE194EE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62D7D1-E196-7F41-90C4-8E5B6201A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AC70D-ECCF-4241-A93A-8AFA3630B14E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160369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57925-613C-8F4C-898F-6D8E28BAE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E8AEF-A169-0A42-A7FC-B7BFA281F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D3F5BF-3B8F-A441-9A1E-787664CE8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0EA87-86B7-834A-A87D-CEE75A2A3BFC}" type="datetimeFigureOut">
              <a:rPr lang="en-UA" smtClean="0"/>
              <a:t>12/07/2025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290D71-0132-B74F-AD43-4E63924C4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44F60-AD23-9B4A-85BC-49CF6F6F9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AC70D-ECCF-4241-A93A-8AFA3630B14E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4062204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CD35F-2DE7-044D-9304-4D0E27C6B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B14C52-09E4-0142-8C93-9205AFB926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760AB2-67FE-C342-BEE5-51174E49F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0EA87-86B7-834A-A87D-CEE75A2A3BFC}" type="datetimeFigureOut">
              <a:rPr lang="en-UA" smtClean="0"/>
              <a:t>12/07/2025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DFC55-2E13-584D-9D9C-483FA1164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4BBE1-4D03-1848-9FAF-D2A30348A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AC70D-ECCF-4241-A93A-8AFA3630B14E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23643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897D9-C720-FB4C-99A6-E445499FC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FFF7A-6894-C343-8B2B-8CFB6B3963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11E1F2-BB81-C84C-8A0E-597E1D6BD7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CFDE69-843F-2F45-A01D-7A6455D9A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0EA87-86B7-834A-A87D-CEE75A2A3BFC}" type="datetimeFigureOut">
              <a:rPr lang="en-UA" smtClean="0"/>
              <a:t>12/07/2025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1EC541-CB0F-1447-A506-BD02C21E4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2364D8-2F86-5249-AC00-826CF62D6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AC70D-ECCF-4241-A93A-8AFA3630B14E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377776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39618-D58A-3E49-8DBF-D185F900F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A3A620-4AFC-9442-A00C-5510DF8CAD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34134F-3AB2-EB41-8F58-E4D3BED981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A31031-5110-B148-9012-2884EAD357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11604A-9105-DF44-B650-A1CDCA6DC6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653A2E-AE44-7C4F-AD8A-5F36F9C07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0EA87-86B7-834A-A87D-CEE75A2A3BFC}" type="datetimeFigureOut">
              <a:rPr lang="en-UA" smtClean="0"/>
              <a:t>12/07/2025</a:t>
            </a:fld>
            <a:endParaRPr lang="en-U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0CA3C9-D689-5B43-8F60-5DE3EB385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1D2C46-9E97-CA48-B838-A1DDA315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AC70D-ECCF-4241-A93A-8AFA3630B14E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159084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15520-22D4-3640-9D6F-597D86B97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0402F3-0F1B-F04F-8083-FE485CB3E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0EA87-86B7-834A-A87D-CEE75A2A3BFC}" type="datetimeFigureOut">
              <a:rPr lang="en-UA" smtClean="0"/>
              <a:t>12/07/2025</a:t>
            </a:fld>
            <a:endParaRPr lang="en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BE8DC6-F039-8F4F-B92C-661E778DE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A092C0-3DBB-0C4D-B089-D6C4E4BC8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AC70D-ECCF-4241-A93A-8AFA3630B14E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756236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9A5E4A-1220-D446-BFF2-E1B1A29E5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0EA87-86B7-834A-A87D-CEE75A2A3BFC}" type="datetimeFigureOut">
              <a:rPr lang="en-UA" smtClean="0"/>
              <a:t>12/07/2025</a:t>
            </a:fld>
            <a:endParaRPr lang="en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B970E6-167F-3A4C-9E6F-0D0471B4F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90E22-C2AC-9449-9D85-E56E7D2FA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AC70D-ECCF-4241-A93A-8AFA3630B14E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42659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90BD6-680C-F145-A915-786F60844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18EA1-3EA0-D141-8A9E-4B0E2D1CB9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5F6717-0AE9-A949-B7AD-CBBECBA102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C583AA-572B-E44C-BA53-CC26402E6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0EA87-86B7-834A-A87D-CEE75A2A3BFC}" type="datetimeFigureOut">
              <a:rPr lang="en-UA" smtClean="0"/>
              <a:t>12/07/2025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C6B4A8-79E2-0A42-BF1C-E322E051C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C163C5-04D9-D149-B649-5C57AA533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AC70D-ECCF-4241-A93A-8AFA3630B14E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643353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19A20-09BC-224C-966B-185E6E82F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DE4764-B322-6D45-9B1F-7B7BC65DD6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7ABEFD-5A6F-8643-923F-DEFDD3EE0D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1069A7-6823-6749-A5A0-441D11337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0EA87-86B7-834A-A87D-CEE75A2A3BFC}" type="datetimeFigureOut">
              <a:rPr lang="en-UA" smtClean="0"/>
              <a:t>12/07/2025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5EFE2E-5D71-494E-B417-95968039D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9D1E64-6BCA-7947-AE30-65C339C3F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AC70D-ECCF-4241-A93A-8AFA3630B14E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763616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9C6D8-FAE2-CB48-B6AF-599145010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2E4046-1F2A-4549-875D-8B6B8B32A5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EC362-F507-E74D-A2C6-C5E7696D8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0EA87-86B7-834A-A87D-CEE75A2A3BFC}" type="datetimeFigureOut">
              <a:rPr lang="en-UA" smtClean="0"/>
              <a:t>12/07/2025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7D965-AD9F-644D-9131-2745EC311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5CBF72-9E7A-C148-95AB-B935E67E5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AC70D-ECCF-4241-A93A-8AFA3630B14E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783083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46FE51-5627-FC4A-A9A8-42553B4EA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B8741F-A682-2943-9C3F-0EF5CE5ECC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86AE9C-D32B-0741-85DC-E155CB25F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0EA87-86B7-834A-A87D-CEE75A2A3BFC}" type="datetimeFigureOut">
              <a:rPr lang="en-UA" smtClean="0"/>
              <a:t>12/07/2025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D3E463-3A1C-6143-A147-7218C72CC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8D7D94-A99D-EB42-9BD5-192CF6015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AC70D-ECCF-4241-A93A-8AFA3630B14E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533404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3945941-387D-394B-AB4A-8F41333371C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8F7AC8-1812-A049-A6C6-68DF81168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94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05E004-3B16-8247-A495-FDDBB5542D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16F0A-2448-D74F-A923-12E842E643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0EA87-86B7-834A-A87D-CEE75A2A3BFC}" type="datetimeFigureOut">
              <a:rPr lang="en-UA" smtClean="0"/>
              <a:t>12/07/2025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F9B30-A15F-DA40-8258-123C4CBC7D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01F1E-3986-CD43-A0EB-5C56A273E0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2AC70D-ECCF-4241-A93A-8AFA3630B14E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888247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361B26-5A1B-7490-0C6B-B5A4F59A88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latin typeface="Aptos Display" panose="020B0004020202020204" pitchFamily="34" charset="0"/>
              </a:rPr>
              <a:t>Визуализатор двоичного дерева поиска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51DFB20-C36F-7DC3-9941-8A579BF609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2000" dirty="0">
                <a:latin typeface="Aptos" panose="020B0004020202020204" pitchFamily="34" charset="0"/>
              </a:rPr>
              <a:t>Предмет: Проектирование ПО</a:t>
            </a:r>
          </a:p>
          <a:p>
            <a:r>
              <a:rPr lang="ru-RU" sz="2000" dirty="0">
                <a:latin typeface="Aptos" panose="020B0004020202020204" pitchFamily="34" charset="0"/>
              </a:rPr>
              <a:t>Преподаватель: </a:t>
            </a:r>
            <a:r>
              <a:rPr lang="ru-RU" sz="2000" dirty="0" err="1">
                <a:latin typeface="Aptos" panose="020B0004020202020204" pitchFamily="34" charset="0"/>
              </a:rPr>
              <a:t>Нагизаде</a:t>
            </a:r>
            <a:r>
              <a:rPr lang="ru-RU" sz="2000" dirty="0">
                <a:latin typeface="Aptos" panose="020B0004020202020204" pitchFamily="34" charset="0"/>
              </a:rPr>
              <a:t> </a:t>
            </a:r>
            <a:r>
              <a:rPr lang="ru-RU" sz="2000" dirty="0" err="1">
                <a:latin typeface="Aptos" panose="020B0004020202020204" pitchFamily="34" charset="0"/>
              </a:rPr>
              <a:t>Эльшан</a:t>
            </a:r>
            <a:endParaRPr lang="ru-RU" sz="2000" dirty="0">
              <a:latin typeface="Aptos" panose="020B0004020202020204" pitchFamily="34" charset="0"/>
            </a:endParaRPr>
          </a:p>
          <a:p>
            <a:r>
              <a:rPr lang="ru-RU" sz="2000" dirty="0">
                <a:latin typeface="Aptos" panose="020B0004020202020204" pitchFamily="34" charset="0"/>
              </a:rPr>
              <a:t>Студенты: Сулейманов Самир, Бабаев Турал</a:t>
            </a:r>
          </a:p>
          <a:p>
            <a:r>
              <a:rPr lang="ru-RU" sz="2000" dirty="0">
                <a:latin typeface="Aptos" panose="020B0004020202020204" pitchFamily="34" charset="0"/>
              </a:rPr>
              <a:t>Группа: 602.22</a:t>
            </a:r>
          </a:p>
        </p:txBody>
      </p:sp>
    </p:spTree>
    <p:extLst>
      <p:ext uri="{BB962C8B-B14F-4D97-AF65-F5344CB8AC3E}">
        <p14:creationId xmlns:p14="http://schemas.microsoft.com/office/powerpoint/2010/main" val="2234230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42DA93-C891-161C-CBD3-F6B2EE29C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ptos Display" panose="020B0004020202020204" pitchFamily="34" charset="0"/>
              </a:rPr>
              <a:t>План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CAAFF37-28B3-3EB6-8DF7-BC717D0DB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3189" y="1528549"/>
            <a:ext cx="4825621" cy="4771244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Aptos" panose="020B0004020202020204" pitchFamily="34" charset="0"/>
              </a:rPr>
              <a:t>Понятие и базовые свойства </a:t>
            </a:r>
            <a:r>
              <a:rPr lang="en-US" dirty="0">
                <a:latin typeface="Aptos" panose="020B0004020202020204" pitchFamily="34" charset="0"/>
              </a:rPr>
              <a:t>BST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Aptos" panose="020B0004020202020204" pitchFamily="34" charset="0"/>
              </a:rPr>
              <a:t>Операция вставки (</a:t>
            </a:r>
            <a:r>
              <a:rPr lang="en-US" dirty="0">
                <a:latin typeface="Aptos" panose="020B0004020202020204" pitchFamily="34" charset="0"/>
              </a:rPr>
              <a:t>Insert)</a:t>
            </a:r>
            <a:endParaRPr lang="ru-RU" dirty="0">
              <a:latin typeface="Aptos" panose="020B00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Aptos" panose="020B0004020202020204" pitchFamily="34" charset="0"/>
              </a:rPr>
              <a:t>Операция удаления </a:t>
            </a:r>
            <a:r>
              <a:rPr lang="en-US" dirty="0">
                <a:latin typeface="Aptos" panose="020B0004020202020204" pitchFamily="34" charset="0"/>
              </a:rPr>
              <a:t>(Delete)</a:t>
            </a:r>
            <a:endParaRPr lang="ru-RU" dirty="0">
              <a:latin typeface="Aptos" panose="020B00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Aptos" panose="020B0004020202020204" pitchFamily="34" charset="0"/>
              </a:rPr>
              <a:t>Операция поиска (</a:t>
            </a:r>
            <a:r>
              <a:rPr lang="en-US" dirty="0">
                <a:latin typeface="Aptos" panose="020B0004020202020204" pitchFamily="34" charset="0"/>
              </a:rPr>
              <a:t>Search)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Aptos" panose="020B0004020202020204" pitchFamily="34" charset="0"/>
              </a:rPr>
              <a:t>Обходы дерева </a:t>
            </a:r>
            <a:r>
              <a:rPr lang="en-US" dirty="0">
                <a:latin typeface="Aptos" panose="020B0004020202020204" pitchFamily="34" charset="0"/>
              </a:rPr>
              <a:t>(Traversals)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Aptos" panose="020B0004020202020204" pitchFamily="34" charset="0"/>
              </a:rPr>
              <a:t>AVL </a:t>
            </a:r>
            <a:r>
              <a:rPr lang="ru-RU" dirty="0">
                <a:latin typeface="Aptos" panose="020B0004020202020204" pitchFamily="34" charset="0"/>
              </a:rPr>
              <a:t>и </a:t>
            </a:r>
            <a:r>
              <a:rPr lang="en-US" dirty="0">
                <a:latin typeface="Aptos" panose="020B0004020202020204" pitchFamily="34" charset="0"/>
              </a:rPr>
              <a:t>Red-Black </a:t>
            </a:r>
            <a:r>
              <a:rPr lang="ru-RU" dirty="0">
                <a:latin typeface="Aptos" panose="020B0004020202020204" pitchFamily="34" charset="0"/>
              </a:rPr>
              <a:t>деревья</a:t>
            </a:r>
            <a:endParaRPr lang="en-US" dirty="0">
              <a:latin typeface="Aptos" panose="020B00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endParaRPr lang="ru-RU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2671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5F0FA-E7AE-333A-F5C0-35298E626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C09D9B-78E3-2EB0-E110-D0E3B40E9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ptos Display" panose="020B0004020202020204" pitchFamily="34" charset="0"/>
              </a:rPr>
              <a:t>Введение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122099-500A-4EAC-849E-3D85A52D9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1946"/>
            <a:ext cx="10515600" cy="50769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>
                <a:latin typeface="Aptos" panose="020B0004020202020204" pitchFamily="34" charset="0"/>
              </a:rPr>
              <a:t>   Структуры данных являются фундаментальной основой большинства современных программных систем. От того, насколько эффективно организованы данные, напрямую зависят производительность, масштабируемость и надёжность программных приложений. Среди множества структур данных особое место занимает двоичное дерево поиска (</a:t>
            </a:r>
            <a:r>
              <a:rPr lang="ru-RU" sz="2000" dirty="0" err="1">
                <a:latin typeface="Aptos" panose="020B0004020202020204" pitchFamily="34" charset="0"/>
              </a:rPr>
              <a:t>Binary</a:t>
            </a:r>
            <a:r>
              <a:rPr lang="ru-RU" sz="2000" dirty="0">
                <a:latin typeface="Aptos" panose="020B0004020202020204" pitchFamily="34" charset="0"/>
              </a:rPr>
              <a:t> Search </a:t>
            </a:r>
            <a:r>
              <a:rPr lang="ru-RU" sz="2000" dirty="0" err="1">
                <a:latin typeface="Aptos" panose="020B0004020202020204" pitchFamily="34" charset="0"/>
              </a:rPr>
              <a:t>Tree</a:t>
            </a:r>
            <a:r>
              <a:rPr lang="ru-RU" sz="2000" dirty="0">
                <a:latin typeface="Aptos" panose="020B0004020202020204" pitchFamily="34" charset="0"/>
              </a:rPr>
              <a:t>, BST) — динамическая структура, обеспечивающая эффективный доступ к информации и логическое упорядочивание данных. BST лежит в основе большого спектра алгоритмов, систем поиска, индексных структур баз данных и компонентов компиляторов, а также служит базовой моделью для понимания более сложных сбалансированных деревьев.</a:t>
            </a:r>
          </a:p>
          <a:p>
            <a:pPr marL="0" indent="0">
              <a:buNone/>
            </a:pPr>
            <a:r>
              <a:rPr lang="ru-RU" sz="2000" dirty="0">
                <a:latin typeface="Aptos" panose="020B0004020202020204" pitchFamily="34" charset="0"/>
              </a:rPr>
              <a:t>   Однако анализ операций над деревьями и понимание их поведения в реальных условиях часто затруднены из-за отсутствия наглядности. Именно поэтому визуализаторы структур данных приобретают особую ценность в образовательном процессе и при разработке программного обеспечения. Они позволяют прослеживать каждое действие алгоритма — вставку, поиск, удаление — и наблюдать, как дерево изменяет свою форму в зависимости от входных данных. Такой подход делает абстрактные алгоритмы интуитивно понятными и обеспечивает глубокое понимание механизмов, лежащих в основе работы BST.</a:t>
            </a:r>
          </a:p>
        </p:txBody>
      </p:sp>
    </p:spTree>
    <p:extLst>
      <p:ext uri="{BB962C8B-B14F-4D97-AF65-F5344CB8AC3E}">
        <p14:creationId xmlns:p14="http://schemas.microsoft.com/office/powerpoint/2010/main" val="1084248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144DD2-61D0-9AFE-67AC-63E8E6494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ptos Display" panose="020B0004020202020204" pitchFamily="34" charset="0"/>
              </a:rPr>
              <a:t>Понятие и базовые свойства </a:t>
            </a:r>
            <a:r>
              <a:rPr lang="en-US" dirty="0">
                <a:latin typeface="Aptos Display" panose="020B0004020202020204" pitchFamily="34" charset="0"/>
              </a:rPr>
              <a:t>BST</a:t>
            </a:r>
            <a:endParaRPr lang="ru-RU" dirty="0">
              <a:latin typeface="Aptos Display" panose="020B00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26559B3-4C64-9540-4FA0-6BF635833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9493"/>
            <a:ext cx="6094863" cy="4607470"/>
          </a:xfrm>
        </p:spPr>
        <p:txBody>
          <a:bodyPr>
            <a:noAutofit/>
          </a:bodyPr>
          <a:lstStyle/>
          <a:p>
            <a:pPr marL="0" indent="457200">
              <a:buNone/>
            </a:pPr>
            <a:r>
              <a:rPr lang="ru-RU" sz="1800" dirty="0">
                <a:latin typeface="Aptos" panose="020B0004020202020204" pitchFamily="34" charset="0"/>
              </a:rPr>
              <a:t>Двоичное дерево поиска, или </a:t>
            </a:r>
            <a:r>
              <a:rPr lang="ru-RU" sz="1800" i="1" dirty="0" err="1">
                <a:latin typeface="Aptos" panose="020B0004020202020204" pitchFamily="34" charset="0"/>
              </a:rPr>
              <a:t>Binary</a:t>
            </a:r>
            <a:r>
              <a:rPr lang="ru-RU" sz="1800" i="1" dirty="0">
                <a:latin typeface="Aptos" panose="020B0004020202020204" pitchFamily="34" charset="0"/>
              </a:rPr>
              <a:t> Search </a:t>
            </a:r>
            <a:r>
              <a:rPr lang="ru-RU" sz="1800" i="1" dirty="0" err="1">
                <a:latin typeface="Aptos" panose="020B0004020202020204" pitchFamily="34" charset="0"/>
              </a:rPr>
              <a:t>Tree</a:t>
            </a:r>
            <a:r>
              <a:rPr lang="ru-RU" sz="1800" i="1" dirty="0">
                <a:latin typeface="Aptos" panose="020B0004020202020204" pitchFamily="34" charset="0"/>
              </a:rPr>
              <a:t> (BST)</a:t>
            </a:r>
            <a:r>
              <a:rPr lang="ru-RU" sz="1800" dirty="0">
                <a:latin typeface="Aptos" panose="020B0004020202020204" pitchFamily="34" charset="0"/>
              </a:rPr>
              <a:t>, представляет собой одну из базовых динамических структур данных, которая широко используется в алгоритмах, системном программировании и современных программных приложениях. Основная задача BST — обеспечить эффективное хранение данных, организованных по определённому правилу, что позволяет быстро выполнять операции поиска, вставки и удаления элементов.</a:t>
            </a:r>
            <a:endParaRPr lang="en-US" sz="1800" dirty="0">
              <a:latin typeface="Aptos" panose="020B0004020202020204" pitchFamily="34" charset="0"/>
            </a:endParaRPr>
          </a:p>
          <a:p>
            <a:pPr marL="0" indent="457200">
              <a:buNone/>
            </a:pPr>
            <a:r>
              <a:rPr lang="ru-RU" sz="1800" dirty="0">
                <a:latin typeface="Aptos" panose="020B0004020202020204" pitchFamily="34" charset="0"/>
              </a:rPr>
              <a:t>BST является логическим развитием идеи бинарного поиска, применяемой к линейным структурам. Однако, в отличие от массива, где бинарный поиск требует предварительной сортировки и невозможности динамически менять порядок элементов, BST обеспечивает </a:t>
            </a:r>
            <a:r>
              <a:rPr lang="ru-RU" sz="1800" b="1" dirty="0">
                <a:latin typeface="Aptos" panose="020B0004020202020204" pitchFamily="34" charset="0"/>
              </a:rPr>
              <a:t>гибкое обновление</a:t>
            </a:r>
            <a:r>
              <a:rPr lang="ru-RU" sz="1800" dirty="0">
                <a:latin typeface="Aptos" panose="020B0004020202020204" pitchFamily="34" charset="0"/>
              </a:rPr>
              <a:t>, </a:t>
            </a:r>
            <a:r>
              <a:rPr lang="ru-RU" sz="1800" b="1" dirty="0">
                <a:latin typeface="Aptos" panose="020B0004020202020204" pitchFamily="34" charset="0"/>
              </a:rPr>
              <a:t>автоматическую сортировку данных</a:t>
            </a:r>
            <a:r>
              <a:rPr lang="ru-RU" sz="1800" dirty="0">
                <a:latin typeface="Aptos" panose="020B0004020202020204" pitchFamily="34" charset="0"/>
              </a:rPr>
              <a:t> и </a:t>
            </a:r>
            <a:r>
              <a:rPr lang="ru-RU" sz="1800" b="1" dirty="0">
                <a:latin typeface="Aptos" panose="020B0004020202020204" pitchFamily="34" charset="0"/>
              </a:rPr>
              <a:t>оптимальную навигацию по ключам</a:t>
            </a:r>
            <a:r>
              <a:rPr lang="ru-RU" sz="1800" dirty="0">
                <a:latin typeface="Aptos" panose="020B0004020202020204" pitchFamily="34" charset="0"/>
              </a:rPr>
              <a:t>.</a:t>
            </a:r>
          </a:p>
          <a:p>
            <a:pPr marL="0" indent="457200">
              <a:buNone/>
            </a:pPr>
            <a:endParaRPr lang="ru-RU" sz="1800" dirty="0">
              <a:latin typeface="Aptos" panose="020B0004020202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1A401F2-2DF0-DB99-8746-97FE1DD3B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3063" y="1883392"/>
            <a:ext cx="4503592" cy="3752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292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8509AB-A09D-5C0D-C781-C04FA4FA8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ptos Display" panose="020B0004020202020204" pitchFamily="34" charset="0"/>
              </a:rPr>
              <a:t>Понятие и базовые свойства </a:t>
            </a:r>
            <a:r>
              <a:rPr lang="en-US" dirty="0">
                <a:latin typeface="Aptos Display" panose="020B0004020202020204" pitchFamily="34" charset="0"/>
              </a:rPr>
              <a:t>BST</a:t>
            </a:r>
            <a:endParaRPr lang="ru-RU" dirty="0">
              <a:latin typeface="Aptos Display" panose="020B00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DD9A6AB-8C11-BDB5-A012-DF2B53082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1946"/>
            <a:ext cx="10515600" cy="50769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100" dirty="0">
                <a:latin typeface="Aptos" panose="020B0004020202020204" pitchFamily="34" charset="0"/>
              </a:rPr>
              <a:t>   </a:t>
            </a:r>
            <a:r>
              <a:rPr lang="ru-RU" sz="1100" dirty="0">
                <a:latin typeface="Aptos" panose="020B0004020202020204" pitchFamily="34" charset="0"/>
              </a:rPr>
              <a:t>Основные свойства. Каждый элемент структуры называется </a:t>
            </a:r>
            <a:r>
              <a:rPr lang="ru-RU" sz="1100" b="1" dirty="0">
                <a:latin typeface="Aptos" panose="020B0004020202020204" pitchFamily="34" charset="0"/>
              </a:rPr>
              <a:t>узлом</a:t>
            </a:r>
            <a:r>
              <a:rPr lang="ru-RU" sz="1100" dirty="0">
                <a:latin typeface="Aptos" panose="020B0004020202020204" pitchFamily="34" charset="0"/>
              </a:rPr>
              <a:t> и содержит следующие компоненты:</a:t>
            </a:r>
          </a:p>
          <a:p>
            <a:r>
              <a:rPr lang="ru-RU" sz="1100" b="1" dirty="0">
                <a:latin typeface="Aptos" panose="020B0004020202020204" pitchFamily="34" charset="0"/>
              </a:rPr>
              <a:t>ключ</a:t>
            </a:r>
            <a:r>
              <a:rPr lang="ru-RU" sz="1100" dirty="0">
                <a:latin typeface="Aptos" panose="020B0004020202020204" pitchFamily="34" charset="0"/>
              </a:rPr>
              <a:t> — основная информация, по которой выполняются сравнения;</a:t>
            </a:r>
          </a:p>
          <a:p>
            <a:r>
              <a:rPr lang="ru-RU" sz="1100" b="1" dirty="0">
                <a:latin typeface="Aptos" panose="020B0004020202020204" pitchFamily="34" charset="0"/>
              </a:rPr>
              <a:t>левый потомок</a:t>
            </a:r>
            <a:r>
              <a:rPr lang="ru-RU" sz="1100" dirty="0">
                <a:latin typeface="Aptos" panose="020B0004020202020204" pitchFamily="34" charset="0"/>
              </a:rPr>
              <a:t> — ссылка на узел с меньшим значением ключа;</a:t>
            </a:r>
          </a:p>
          <a:p>
            <a:r>
              <a:rPr lang="ru-RU" sz="1100" b="1" dirty="0">
                <a:latin typeface="Aptos" panose="020B0004020202020204" pitchFamily="34" charset="0"/>
              </a:rPr>
              <a:t>правый потомок</a:t>
            </a:r>
            <a:r>
              <a:rPr lang="ru-RU" sz="1100" dirty="0">
                <a:latin typeface="Aptos" panose="020B0004020202020204" pitchFamily="34" charset="0"/>
              </a:rPr>
              <a:t> — ссылка на узел с большим значением ключа.</a:t>
            </a:r>
          </a:p>
          <a:p>
            <a:pPr marL="0" indent="0">
              <a:buNone/>
            </a:pPr>
            <a:r>
              <a:rPr lang="en-US" sz="1100" dirty="0">
                <a:latin typeface="Aptos" panose="020B0004020202020204" pitchFamily="34" charset="0"/>
              </a:rPr>
              <a:t>   </a:t>
            </a:r>
            <a:r>
              <a:rPr lang="ru-RU" sz="1100" dirty="0">
                <a:latin typeface="Aptos" panose="020B0004020202020204" pitchFamily="34" charset="0"/>
              </a:rPr>
              <a:t>Корневой узел является начальной точкой всех операций, а поддеревья, являющиеся левыми и правыми потомками, сохраняют все свойства полноценного BST. Это означает, что BST определяется </a:t>
            </a:r>
            <a:r>
              <a:rPr lang="ru-RU" sz="1100" b="1" dirty="0">
                <a:latin typeface="Aptos" panose="020B0004020202020204" pitchFamily="34" charset="0"/>
              </a:rPr>
              <a:t>рекурсивно</a:t>
            </a:r>
            <a:r>
              <a:rPr lang="ru-RU" sz="1100" dirty="0">
                <a:latin typeface="Aptos" panose="020B0004020202020204" pitchFamily="34" charset="0"/>
              </a:rPr>
              <a:t>.</a:t>
            </a:r>
            <a:r>
              <a:rPr lang="en-US" sz="1100" dirty="0">
                <a:latin typeface="Aptos" panose="020B0004020202020204" pitchFamily="34" charset="0"/>
              </a:rPr>
              <a:t> </a:t>
            </a:r>
            <a:r>
              <a:rPr lang="ru-RU" sz="1100" dirty="0">
                <a:latin typeface="Aptos" panose="020B0004020202020204" pitchFamily="34" charset="0"/>
              </a:rPr>
              <a:t>Работа BST основана на строгом свойстве упорядоченности — </a:t>
            </a:r>
            <a:r>
              <a:rPr lang="ru-RU" sz="1100" b="1" dirty="0">
                <a:latin typeface="Aptos" panose="020B0004020202020204" pitchFamily="34" charset="0"/>
              </a:rPr>
              <a:t>инварианте BST</a:t>
            </a:r>
            <a:r>
              <a:rPr lang="ru-RU" sz="1100" dirty="0">
                <a:latin typeface="Aptos" panose="020B0004020202020204" pitchFamily="34" charset="0"/>
              </a:rPr>
              <a:t>:</a:t>
            </a:r>
          </a:p>
          <a:p>
            <a:r>
              <a:rPr lang="ru-RU" sz="1100" dirty="0">
                <a:latin typeface="Aptos" panose="020B0004020202020204" pitchFamily="34" charset="0"/>
              </a:rPr>
              <a:t>Все ключи в </a:t>
            </a:r>
            <a:r>
              <a:rPr lang="ru-RU" sz="1100" b="1" dirty="0">
                <a:latin typeface="Aptos" panose="020B0004020202020204" pitchFamily="34" charset="0"/>
              </a:rPr>
              <a:t>левом поддереве</a:t>
            </a:r>
            <a:r>
              <a:rPr lang="ru-RU" sz="1100" dirty="0">
                <a:latin typeface="Aptos" panose="020B0004020202020204" pitchFamily="34" charset="0"/>
              </a:rPr>
              <a:t> узла строго меньше ключа данного узла.</a:t>
            </a:r>
            <a:endParaRPr lang="en-US" sz="11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1100" dirty="0">
                <a:latin typeface="Aptos" panose="020B0004020202020204" pitchFamily="34" charset="0"/>
              </a:rPr>
              <a:t>   </a:t>
            </a:r>
            <a:r>
              <a:rPr lang="ru-RU" sz="1100" dirty="0">
                <a:latin typeface="Aptos" panose="020B0004020202020204" pitchFamily="34" charset="0"/>
              </a:rPr>
              <a:t>Пример: если ключ узла = 15, то слева могут быть {1, 7, 14}, но не 15 или 16.</a:t>
            </a:r>
          </a:p>
          <a:p>
            <a:r>
              <a:rPr lang="ru-RU" sz="1100" dirty="0">
                <a:latin typeface="Aptos" panose="020B0004020202020204" pitchFamily="34" charset="0"/>
              </a:rPr>
              <a:t>Все ключи в </a:t>
            </a:r>
            <a:r>
              <a:rPr lang="ru-RU" sz="1100" b="1" dirty="0">
                <a:latin typeface="Aptos" panose="020B0004020202020204" pitchFamily="34" charset="0"/>
              </a:rPr>
              <a:t>правом поддереве</a:t>
            </a:r>
            <a:r>
              <a:rPr lang="ru-RU" sz="1100" dirty="0">
                <a:latin typeface="Aptos" panose="020B0004020202020204" pitchFamily="34" charset="0"/>
              </a:rPr>
              <a:t> строго больше ключа данного узла.</a:t>
            </a:r>
            <a:endParaRPr lang="en-US" sz="11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1100" dirty="0">
                <a:latin typeface="Aptos" panose="020B0004020202020204" pitchFamily="34" charset="0"/>
              </a:rPr>
              <a:t>   </a:t>
            </a:r>
            <a:r>
              <a:rPr lang="ru-RU" sz="1100" dirty="0">
                <a:latin typeface="Aptos" panose="020B0004020202020204" pitchFamily="34" charset="0"/>
              </a:rPr>
              <a:t>Например: справа узла 15 могут быть {16, 20, 31}.</a:t>
            </a:r>
          </a:p>
          <a:p>
            <a:r>
              <a:rPr lang="ru-RU" sz="1100" dirty="0">
                <a:latin typeface="Aptos" panose="020B0004020202020204" pitchFamily="34" charset="0"/>
              </a:rPr>
              <a:t>Оба поддерева являются корректными BST, то есть сами удовлетворяют этим правилам.</a:t>
            </a:r>
          </a:p>
          <a:p>
            <a:pPr marL="0" indent="0">
              <a:buNone/>
            </a:pPr>
            <a:r>
              <a:rPr lang="en-US" sz="1100" dirty="0">
                <a:latin typeface="Aptos" panose="020B0004020202020204" pitchFamily="34" charset="0"/>
              </a:rPr>
              <a:t>   </a:t>
            </a:r>
            <a:r>
              <a:rPr lang="ru-RU" sz="1100" dirty="0">
                <a:latin typeface="Aptos" panose="020B0004020202020204" pitchFamily="34" charset="0"/>
              </a:rPr>
              <a:t>Это ключевое свойство позволяет сократить пространство поиска при навигации по дереву. На каждом шаге программа сравнивает искомый ключ с текущим узлом и выбирает соответствующее направление — влево или вправо.</a:t>
            </a:r>
          </a:p>
          <a:p>
            <a:pPr marL="0" indent="0">
              <a:buNone/>
            </a:pPr>
            <a:r>
              <a:rPr lang="en-US" sz="1100" dirty="0">
                <a:latin typeface="Aptos" panose="020B0004020202020204" pitchFamily="34" charset="0"/>
              </a:rPr>
              <a:t>   </a:t>
            </a:r>
            <a:r>
              <a:rPr lang="ru-RU" sz="1100" dirty="0">
                <a:latin typeface="Aptos" panose="020B0004020202020204" pitchFamily="34" charset="0"/>
              </a:rPr>
              <a:t>Расположение ключей по принципу «меньше — влево, больше — вправо» обеспечивает:</a:t>
            </a:r>
          </a:p>
          <a:p>
            <a:r>
              <a:rPr lang="ru-RU" sz="1100" dirty="0">
                <a:latin typeface="Aptos" panose="020B0004020202020204" pitchFamily="34" charset="0"/>
              </a:rPr>
              <a:t>минимизацию количества сравнений при поиске;</a:t>
            </a:r>
          </a:p>
          <a:p>
            <a:r>
              <a:rPr lang="ru-RU" sz="1100" dirty="0">
                <a:latin typeface="Aptos" panose="020B0004020202020204" pitchFamily="34" charset="0"/>
              </a:rPr>
              <a:t>возможность работы алгоритмов, аналогичных бинарному поиску;</a:t>
            </a:r>
          </a:p>
          <a:p>
            <a:r>
              <a:rPr lang="ru-RU" sz="1100" dirty="0">
                <a:latin typeface="Aptos" panose="020B0004020202020204" pitchFamily="34" charset="0"/>
              </a:rPr>
              <a:t>получение </a:t>
            </a:r>
            <a:r>
              <a:rPr lang="ru-RU" sz="1100" i="1" dirty="0">
                <a:latin typeface="Aptos" panose="020B0004020202020204" pitchFamily="34" charset="0"/>
              </a:rPr>
              <a:t>отсортированной последовательности</a:t>
            </a:r>
            <a:r>
              <a:rPr lang="ru-RU" sz="1100" dirty="0">
                <a:latin typeface="Aptos" panose="020B0004020202020204" pitchFamily="34" charset="0"/>
              </a:rPr>
              <a:t> ключей через симметричный обход;</a:t>
            </a:r>
          </a:p>
          <a:p>
            <a:r>
              <a:rPr lang="ru-RU" sz="1100" dirty="0">
                <a:latin typeface="Aptos" panose="020B0004020202020204" pitchFamily="34" charset="0"/>
              </a:rPr>
              <a:t>основание для построения сбалансированных деревьев и других структур (AVL, Red-Black </a:t>
            </a:r>
            <a:r>
              <a:rPr lang="ru-RU" sz="1100" dirty="0" err="1">
                <a:latin typeface="Aptos" panose="020B0004020202020204" pitchFamily="34" charset="0"/>
              </a:rPr>
              <a:t>Tree</a:t>
            </a:r>
            <a:r>
              <a:rPr lang="ru-RU" sz="1100" dirty="0">
                <a:latin typeface="Aptos" panose="020B0004020202020204" pitchFamily="34" charset="0"/>
              </a:rPr>
              <a:t> и др.).</a:t>
            </a:r>
          </a:p>
          <a:p>
            <a:pPr marL="0" indent="0">
              <a:buNone/>
            </a:pPr>
            <a:r>
              <a:rPr lang="en-US" sz="1100" dirty="0">
                <a:latin typeface="Aptos" panose="020B0004020202020204" pitchFamily="34" charset="0"/>
              </a:rPr>
              <a:t>   </a:t>
            </a:r>
            <a:r>
              <a:rPr lang="ru-RU" sz="1100" dirty="0">
                <a:latin typeface="Aptos" panose="020B0004020202020204" pitchFamily="34" charset="0"/>
              </a:rPr>
              <a:t>Таким образом, BST — это структура, которая объединяет гибкость связных списков с эффективностью бинарного поиска.</a:t>
            </a:r>
          </a:p>
        </p:txBody>
      </p:sp>
    </p:spTree>
    <p:extLst>
      <p:ext uri="{BB962C8B-B14F-4D97-AF65-F5344CB8AC3E}">
        <p14:creationId xmlns:p14="http://schemas.microsoft.com/office/powerpoint/2010/main" val="101209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B56768-5769-92B8-7E72-433F686F4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ptos Display" panose="020B0004020202020204" pitchFamily="34" charset="0"/>
              </a:rPr>
              <a:t>Понятие и базовые свойства </a:t>
            </a:r>
            <a:r>
              <a:rPr lang="en-US" dirty="0">
                <a:latin typeface="Aptos Display" panose="020B0004020202020204" pitchFamily="34" charset="0"/>
              </a:rPr>
              <a:t>BST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DA71DF9-0256-4AF3-FF82-CF9D19A49C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ru-RU" dirty="0">
                <a:latin typeface="Aptos" panose="020B0004020202020204" pitchFamily="34" charset="0"/>
              </a:rPr>
              <a:t>Примеры правильного и неправильного построения </a:t>
            </a:r>
            <a:r>
              <a:rPr lang="en-US" dirty="0">
                <a:latin typeface="Aptos" panose="020B0004020202020204" pitchFamily="34" charset="0"/>
              </a:rPr>
              <a:t>BST</a:t>
            </a:r>
            <a:endParaRPr lang="ru-RU" dirty="0">
              <a:latin typeface="Aptos" panose="020B0004020202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EE05F51-E37E-574D-1D18-D7F8F1D1E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888" y="2893327"/>
            <a:ext cx="5721112" cy="286055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1F0B59F-101A-16E4-9B6F-162CA0ABE9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5449" y="2893327"/>
            <a:ext cx="5721112" cy="2860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828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88818-4718-3906-AC92-6829DB828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C86009-08AF-4F0E-0D71-CFB7581D7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ptos Display" panose="020B0004020202020204" pitchFamily="34" charset="0"/>
              </a:rPr>
              <a:t>Понятие и базовые свойства </a:t>
            </a:r>
            <a:r>
              <a:rPr lang="en-US" dirty="0">
                <a:latin typeface="Aptos Display" panose="020B0004020202020204" pitchFamily="34" charset="0"/>
              </a:rPr>
              <a:t>BST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A4BFE2-6ED5-44A1-0A3E-33F5389201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0184"/>
            <a:ext cx="10515600" cy="530897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latin typeface="Aptos" panose="020B0004020202020204" pitchFamily="34" charset="0"/>
              </a:rPr>
              <a:t>   </a:t>
            </a:r>
            <a:r>
              <a:rPr lang="ru-RU" sz="1400" dirty="0">
                <a:latin typeface="Aptos" panose="020B0004020202020204" pitchFamily="34" charset="0"/>
              </a:rPr>
              <a:t>Основные характеристики </a:t>
            </a:r>
            <a:r>
              <a:rPr lang="en-US" sz="1400" dirty="0">
                <a:latin typeface="Aptos" panose="020B0004020202020204" pitchFamily="34" charset="0"/>
              </a:rPr>
              <a:t>BST:</a:t>
            </a:r>
          </a:p>
          <a:p>
            <a:pPr marL="0" indent="0">
              <a:buNone/>
            </a:pPr>
            <a:r>
              <a:rPr lang="en-US" sz="1400" b="1" dirty="0">
                <a:latin typeface="Aptos" panose="020B0004020202020204" pitchFamily="34" charset="0"/>
              </a:rPr>
              <a:t>1. </a:t>
            </a:r>
            <a:r>
              <a:rPr lang="ru-RU" sz="1400" b="1" dirty="0">
                <a:latin typeface="Aptos" panose="020B0004020202020204" pitchFamily="34" charset="0"/>
              </a:rPr>
              <a:t>Рекурсивность структуры</a:t>
            </a:r>
          </a:p>
          <a:p>
            <a:r>
              <a:rPr lang="ru-RU" sz="1400" dirty="0">
                <a:latin typeface="Aptos" panose="020B0004020202020204" pitchFamily="34" charset="0"/>
              </a:rPr>
              <a:t>Каждый узел — это корень небольшого BST. Благодаря рекурсивному определению:</a:t>
            </a:r>
          </a:p>
          <a:p>
            <a:r>
              <a:rPr lang="ru-RU" sz="1400" dirty="0">
                <a:latin typeface="Aptos" panose="020B0004020202020204" pitchFamily="34" charset="0"/>
              </a:rPr>
              <a:t>алгоритмы легко реализуются через рекурсивные вызовы,</a:t>
            </a:r>
          </a:p>
          <a:p>
            <a:r>
              <a:rPr lang="ru-RU" sz="1400" dirty="0">
                <a:latin typeface="Aptos" panose="020B0004020202020204" pitchFamily="34" charset="0"/>
              </a:rPr>
              <a:t>дерево само поддерживает логическую корректность после операций.</a:t>
            </a:r>
          </a:p>
          <a:p>
            <a:pPr marL="0" indent="0">
              <a:buNone/>
            </a:pPr>
            <a:r>
              <a:rPr lang="en-US" sz="1400" dirty="0">
                <a:latin typeface="Aptos" panose="020B0004020202020204" pitchFamily="34" charset="0"/>
              </a:rPr>
              <a:t>   </a:t>
            </a:r>
            <a:r>
              <a:rPr lang="ru-RU" sz="1400" dirty="0">
                <a:latin typeface="Aptos" panose="020B0004020202020204" pitchFamily="34" charset="0"/>
              </a:rPr>
              <a:t>Это свойство облегчает проектирование и реализацию программных компонентов, особенно в учебных визуализаторах, где важна понятность алгоритма.</a:t>
            </a:r>
            <a:endParaRPr lang="en-US" sz="14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1400" b="1" dirty="0">
                <a:latin typeface="Aptos" panose="020B0004020202020204" pitchFamily="34" charset="0"/>
              </a:rPr>
              <a:t>2. </a:t>
            </a:r>
            <a:r>
              <a:rPr lang="ru-RU" sz="1400" b="1" dirty="0">
                <a:latin typeface="Aptos" panose="020B0004020202020204" pitchFamily="34" charset="0"/>
              </a:rPr>
              <a:t>Динамичность</a:t>
            </a:r>
          </a:p>
          <a:p>
            <a:pPr marL="0" indent="0">
              <a:buNone/>
            </a:pPr>
            <a:r>
              <a:rPr lang="ru-RU" sz="1400" dirty="0">
                <a:latin typeface="Aptos" panose="020B0004020202020204" pitchFamily="34" charset="0"/>
              </a:rPr>
              <a:t>BST — динамическая структура, которая:</a:t>
            </a:r>
          </a:p>
          <a:p>
            <a:r>
              <a:rPr lang="ru-RU" sz="1400" dirty="0">
                <a:latin typeface="Aptos" panose="020B0004020202020204" pitchFamily="34" charset="0"/>
              </a:rPr>
              <a:t>растёт при вставке новых ключей,</a:t>
            </a:r>
          </a:p>
          <a:p>
            <a:r>
              <a:rPr lang="ru-RU" sz="1400" dirty="0">
                <a:latin typeface="Aptos" panose="020B0004020202020204" pitchFamily="34" charset="0"/>
              </a:rPr>
              <a:t>уменьшается при удалении,</a:t>
            </a:r>
          </a:p>
          <a:p>
            <a:r>
              <a:rPr lang="ru-RU" sz="1400" dirty="0">
                <a:latin typeface="Aptos" panose="020B0004020202020204" pitchFamily="34" charset="0"/>
              </a:rPr>
              <a:t>изменяет общую форму в зависимости от порядка добавления данных.</a:t>
            </a:r>
          </a:p>
          <a:p>
            <a:pPr marL="0" indent="0">
              <a:buNone/>
            </a:pPr>
            <a:r>
              <a:rPr lang="en-US" sz="1400" dirty="0">
                <a:latin typeface="Aptos" panose="020B0004020202020204" pitchFamily="34" charset="0"/>
              </a:rPr>
              <a:t>   </a:t>
            </a:r>
            <a:r>
              <a:rPr lang="ru-RU" sz="1400" dirty="0">
                <a:latin typeface="Aptos" panose="020B0004020202020204" pitchFamily="34" charset="0"/>
              </a:rPr>
              <a:t>Такая гибкость позволяет использовать дерево для хранения данных, которые постоянно изменяются.</a:t>
            </a:r>
          </a:p>
          <a:p>
            <a:pPr marL="0" indent="0">
              <a:buNone/>
            </a:pPr>
            <a:r>
              <a:rPr lang="en-US" sz="1400" b="1" dirty="0">
                <a:latin typeface="Aptos" panose="020B0004020202020204" pitchFamily="34" charset="0"/>
              </a:rPr>
              <a:t>3. </a:t>
            </a:r>
            <a:r>
              <a:rPr lang="ru-RU" sz="1400" b="1" dirty="0">
                <a:latin typeface="Aptos" panose="020B0004020202020204" pitchFamily="34" charset="0"/>
              </a:rPr>
              <a:t>Упорядоченность</a:t>
            </a:r>
          </a:p>
          <a:p>
            <a:pPr marL="0" indent="0">
              <a:buNone/>
            </a:pPr>
            <a:r>
              <a:rPr lang="en-US" sz="1400" dirty="0">
                <a:latin typeface="Aptos" panose="020B0004020202020204" pitchFamily="34" charset="0"/>
              </a:rPr>
              <a:t>   </a:t>
            </a:r>
            <a:r>
              <a:rPr lang="ru-RU" sz="1400" dirty="0">
                <a:latin typeface="Aptos" panose="020B0004020202020204" pitchFamily="34" charset="0"/>
              </a:rPr>
              <a:t>BST автоматически поддерживает естественный порядок элементов. Благодаря этому:</a:t>
            </a:r>
          </a:p>
          <a:p>
            <a:r>
              <a:rPr lang="ru-RU" sz="1400" dirty="0">
                <a:latin typeface="Aptos" panose="020B0004020202020204" pitchFamily="34" charset="0"/>
              </a:rPr>
              <a:t>симметричный обход (</a:t>
            </a:r>
            <a:r>
              <a:rPr lang="ru-RU" sz="1400" dirty="0" err="1">
                <a:latin typeface="Aptos" panose="020B0004020202020204" pitchFamily="34" charset="0"/>
              </a:rPr>
              <a:t>Inorder</a:t>
            </a:r>
            <a:r>
              <a:rPr lang="ru-RU" sz="1400" dirty="0">
                <a:latin typeface="Aptos" panose="020B0004020202020204" pitchFamily="34" charset="0"/>
              </a:rPr>
              <a:t>) возвращает отсортированный список,</a:t>
            </a:r>
          </a:p>
          <a:p>
            <a:r>
              <a:rPr lang="ru-RU" sz="1400" dirty="0">
                <a:latin typeface="Aptos" panose="020B0004020202020204" pitchFamily="34" charset="0"/>
              </a:rPr>
              <a:t>минимальный элемент всегда находится в самом левом узле,</a:t>
            </a:r>
          </a:p>
          <a:p>
            <a:r>
              <a:rPr lang="ru-RU" sz="1400" dirty="0">
                <a:latin typeface="Aptos" panose="020B0004020202020204" pitchFamily="34" charset="0"/>
              </a:rPr>
              <a:t>максимальный — в самом правом.</a:t>
            </a:r>
          </a:p>
          <a:p>
            <a:pPr marL="0" indent="0">
              <a:buNone/>
            </a:pPr>
            <a:r>
              <a:rPr lang="en-US" sz="1400" dirty="0">
                <a:latin typeface="Aptos" panose="020B0004020202020204" pitchFamily="34" charset="0"/>
              </a:rPr>
              <a:t>   </a:t>
            </a:r>
            <a:r>
              <a:rPr lang="ru-RU" sz="1400" dirty="0">
                <a:latin typeface="Aptos" panose="020B0004020202020204" pitchFamily="34" charset="0"/>
              </a:rPr>
              <a:t>Это делает BST удобной основой для реализации </a:t>
            </a:r>
            <a:r>
              <a:rPr lang="ru-RU" sz="1400" b="1" dirty="0">
                <a:latin typeface="Aptos" panose="020B0004020202020204" pitchFamily="34" charset="0"/>
              </a:rPr>
              <a:t>множества (</a:t>
            </a:r>
            <a:r>
              <a:rPr lang="ru-RU" sz="1400" b="1" dirty="0" err="1">
                <a:latin typeface="Aptos" panose="020B0004020202020204" pitchFamily="34" charset="0"/>
              </a:rPr>
              <a:t>Set</a:t>
            </a:r>
            <a:r>
              <a:rPr lang="ru-RU" sz="1400" b="1" dirty="0">
                <a:latin typeface="Aptos" panose="020B0004020202020204" pitchFamily="34" charset="0"/>
              </a:rPr>
              <a:t>)</a:t>
            </a:r>
            <a:r>
              <a:rPr lang="ru-RU" sz="1400" dirty="0">
                <a:latin typeface="Aptos" panose="020B0004020202020204" pitchFamily="34" charset="0"/>
              </a:rPr>
              <a:t> и </a:t>
            </a:r>
            <a:r>
              <a:rPr lang="ru-RU" sz="1400" b="1" dirty="0">
                <a:latin typeface="Aptos" panose="020B0004020202020204" pitchFamily="34" charset="0"/>
              </a:rPr>
              <a:t>словаря (</a:t>
            </a:r>
            <a:r>
              <a:rPr lang="ru-RU" sz="1400" b="1" dirty="0" err="1">
                <a:latin typeface="Aptos" panose="020B0004020202020204" pitchFamily="34" charset="0"/>
              </a:rPr>
              <a:t>Map</a:t>
            </a:r>
            <a:r>
              <a:rPr lang="ru-RU" sz="1400" b="1" dirty="0">
                <a:latin typeface="Aptos" panose="020B0004020202020204" pitchFamily="34" charset="0"/>
              </a:rPr>
              <a:t>)</a:t>
            </a:r>
            <a:r>
              <a:rPr lang="ru-RU" sz="1400" dirty="0">
                <a:latin typeface="Aptos" panose="020B0004020202020204" pitchFamily="34" charset="0"/>
              </a:rPr>
              <a:t>.</a:t>
            </a:r>
          </a:p>
          <a:p>
            <a:pPr marL="0" indent="0">
              <a:buNone/>
            </a:pPr>
            <a:endParaRPr lang="ru-RU" sz="14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8860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CEF83-0B74-4EC4-15CC-D3106A56B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41CB87-CF3C-DC1E-5D8B-2E97F3C31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ptos Display" panose="020B0004020202020204" pitchFamily="34" charset="0"/>
              </a:rPr>
              <a:t>Понятие и базовые свойства </a:t>
            </a:r>
            <a:r>
              <a:rPr lang="en-US" dirty="0">
                <a:latin typeface="Aptos Display" panose="020B0004020202020204" pitchFamily="34" charset="0"/>
              </a:rPr>
              <a:t>BST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5C9D4C-C32A-54C7-990D-31BE1CED1C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0185"/>
            <a:ext cx="10515600" cy="52816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300" b="1" dirty="0">
                <a:latin typeface="Aptos" panose="020B0004020202020204" pitchFamily="34" charset="0"/>
              </a:rPr>
              <a:t>4. Зависимость производительности от формы дерева</a:t>
            </a:r>
          </a:p>
          <a:p>
            <a:pPr marL="0" indent="0">
              <a:buNone/>
            </a:pPr>
            <a:r>
              <a:rPr lang="en-US" sz="1300" dirty="0">
                <a:latin typeface="Aptos" panose="020B0004020202020204" pitchFamily="34" charset="0"/>
              </a:rPr>
              <a:t>   </a:t>
            </a:r>
            <a:r>
              <a:rPr lang="ru-RU" sz="1300" dirty="0">
                <a:latin typeface="Aptos" panose="020B0004020202020204" pitchFamily="34" charset="0"/>
              </a:rPr>
              <a:t>Эффективность BST определяется его </a:t>
            </a:r>
            <a:r>
              <a:rPr lang="ru-RU" sz="1300" b="1" dirty="0">
                <a:latin typeface="Aptos" panose="020B0004020202020204" pitchFamily="34" charset="0"/>
              </a:rPr>
              <a:t>высотой</a:t>
            </a:r>
            <a:r>
              <a:rPr lang="ru-RU" sz="1300" dirty="0">
                <a:latin typeface="Aptos" panose="020B0004020202020204" pitchFamily="34" charset="0"/>
              </a:rPr>
              <a:t>:</a:t>
            </a:r>
          </a:p>
          <a:p>
            <a:r>
              <a:rPr lang="ru-RU" sz="1300" dirty="0">
                <a:latin typeface="Aptos" panose="020B0004020202020204" pitchFamily="34" charset="0"/>
              </a:rPr>
              <a:t>Если дерево сбалансировано, то высота ≈ </a:t>
            </a:r>
            <a:r>
              <a:rPr lang="ru-RU" sz="1300" dirty="0" err="1">
                <a:latin typeface="Aptos" panose="020B0004020202020204" pitchFamily="34" charset="0"/>
              </a:rPr>
              <a:t>log</a:t>
            </a:r>
            <a:r>
              <a:rPr lang="ru-RU" sz="1300" dirty="0">
                <a:latin typeface="Aptos" panose="020B0004020202020204" pitchFamily="34" charset="0"/>
              </a:rPr>
              <a:t>₂(n).</a:t>
            </a:r>
            <a:br>
              <a:rPr lang="ru-RU" sz="1300" dirty="0">
                <a:latin typeface="Aptos" panose="020B0004020202020204" pitchFamily="34" charset="0"/>
              </a:rPr>
            </a:br>
            <a:r>
              <a:rPr lang="ru-RU" sz="1300" dirty="0">
                <a:latin typeface="Aptos" panose="020B0004020202020204" pitchFamily="34" charset="0"/>
              </a:rPr>
              <a:t>В этом случае:</a:t>
            </a:r>
          </a:p>
          <a:p>
            <a:pPr lvl="1"/>
            <a:r>
              <a:rPr lang="ru-RU" sz="1300" dirty="0">
                <a:latin typeface="Aptos" panose="020B0004020202020204" pitchFamily="34" charset="0"/>
              </a:rPr>
              <a:t>поиск,</a:t>
            </a:r>
          </a:p>
          <a:p>
            <a:pPr lvl="1"/>
            <a:r>
              <a:rPr lang="ru-RU" sz="1300" dirty="0">
                <a:latin typeface="Aptos" panose="020B0004020202020204" pitchFamily="34" charset="0"/>
              </a:rPr>
              <a:t>вставка,</a:t>
            </a:r>
          </a:p>
          <a:p>
            <a:pPr lvl="1"/>
            <a:r>
              <a:rPr lang="ru-RU" sz="1300" dirty="0">
                <a:latin typeface="Aptos" panose="020B0004020202020204" pitchFamily="34" charset="0"/>
              </a:rPr>
              <a:t>удаление</a:t>
            </a:r>
            <a:br>
              <a:rPr lang="ru-RU" sz="1300" dirty="0">
                <a:latin typeface="Aptos" panose="020B0004020202020204" pitchFamily="34" charset="0"/>
              </a:rPr>
            </a:br>
            <a:r>
              <a:rPr lang="ru-RU" sz="1300" dirty="0">
                <a:latin typeface="Aptos" panose="020B0004020202020204" pitchFamily="34" charset="0"/>
              </a:rPr>
              <a:t>выполняются за O(</a:t>
            </a:r>
            <a:r>
              <a:rPr lang="ru-RU" sz="1300" dirty="0" err="1">
                <a:latin typeface="Aptos" panose="020B0004020202020204" pitchFamily="34" charset="0"/>
              </a:rPr>
              <a:t>log</a:t>
            </a:r>
            <a:r>
              <a:rPr lang="ru-RU" sz="1300" dirty="0">
                <a:latin typeface="Aptos" panose="020B0004020202020204" pitchFamily="34" charset="0"/>
              </a:rPr>
              <a:t> n).</a:t>
            </a:r>
          </a:p>
          <a:p>
            <a:r>
              <a:rPr lang="ru-RU" sz="1300" dirty="0">
                <a:latin typeface="Aptos" panose="020B0004020202020204" pitchFamily="34" charset="0"/>
              </a:rPr>
              <a:t>Если дерево вырождается в цепочку (например, при вставке отсортированной последовательности), высота может стать O(n), и тогда эффективность падает.</a:t>
            </a:r>
          </a:p>
          <a:p>
            <a:pPr marL="0" indent="0">
              <a:buNone/>
            </a:pPr>
            <a:r>
              <a:rPr lang="en-US" sz="1300" dirty="0">
                <a:latin typeface="Aptos" panose="020B0004020202020204" pitchFamily="34" charset="0"/>
              </a:rPr>
              <a:t>   </a:t>
            </a:r>
            <a:r>
              <a:rPr lang="ru-RU" sz="1300" dirty="0">
                <a:latin typeface="Aptos" panose="020B0004020202020204" pitchFamily="34" charset="0"/>
              </a:rPr>
              <a:t>Это важное свойство подчёркивает необходимость балансировки и является мотивацией для появления AVL и </a:t>
            </a:r>
            <a:r>
              <a:rPr lang="ru-RU" sz="1300" dirty="0" err="1">
                <a:latin typeface="Aptos" panose="020B0004020202020204" pitchFamily="34" charset="0"/>
              </a:rPr>
              <a:t>red-black</a:t>
            </a:r>
            <a:r>
              <a:rPr lang="ru-RU" sz="1300" dirty="0">
                <a:latin typeface="Aptos" panose="020B0004020202020204" pitchFamily="34" charset="0"/>
              </a:rPr>
              <a:t> деревьев.</a:t>
            </a:r>
          </a:p>
          <a:p>
            <a:pPr marL="0" indent="0">
              <a:buNone/>
            </a:pPr>
            <a:r>
              <a:rPr lang="ru-RU" sz="1300" b="1" dirty="0">
                <a:latin typeface="Aptos" panose="020B0004020202020204" pitchFamily="34" charset="0"/>
              </a:rPr>
              <a:t>5. Отсутствие дубликатов (в классической модели)</a:t>
            </a:r>
          </a:p>
          <a:p>
            <a:pPr marL="0" indent="0">
              <a:buNone/>
            </a:pPr>
            <a:r>
              <a:rPr lang="en-US" sz="1300" dirty="0">
                <a:latin typeface="Aptos" panose="020B0004020202020204" pitchFamily="34" charset="0"/>
              </a:rPr>
              <a:t>   </a:t>
            </a:r>
            <a:r>
              <a:rPr lang="ru-RU" sz="1300" dirty="0">
                <a:latin typeface="Aptos" panose="020B0004020202020204" pitchFamily="34" charset="0"/>
              </a:rPr>
              <a:t>Классическая модель BST предполагает уникальность ключей. Если дубликаты всё же допускаются, применяются специальные правила:</a:t>
            </a:r>
          </a:p>
          <a:p>
            <a:r>
              <a:rPr lang="ru-RU" sz="1300" dirty="0">
                <a:latin typeface="Aptos" panose="020B0004020202020204" pitchFamily="34" charset="0"/>
              </a:rPr>
              <a:t>хранить счётчик повторов,</a:t>
            </a:r>
          </a:p>
          <a:p>
            <a:r>
              <a:rPr lang="ru-RU" sz="1300" dirty="0">
                <a:latin typeface="Aptos" panose="020B0004020202020204" pitchFamily="34" charset="0"/>
              </a:rPr>
              <a:t>помещать дубликаты в заранее определённое поддерево.</a:t>
            </a:r>
          </a:p>
          <a:p>
            <a:pPr marL="0" indent="0">
              <a:buNone/>
            </a:pPr>
            <a:r>
              <a:rPr lang="ru-RU" sz="1300" dirty="0">
                <a:latin typeface="Aptos" panose="020B0004020202020204" pitchFamily="34" charset="0"/>
              </a:rPr>
              <a:t>Это делается для сохранения корректности структуры.</a:t>
            </a:r>
          </a:p>
          <a:p>
            <a:pPr marL="0" indent="0">
              <a:buNone/>
            </a:pPr>
            <a:r>
              <a:rPr lang="ru-RU" sz="1300" b="1" dirty="0">
                <a:latin typeface="Aptos" panose="020B0004020202020204" pitchFamily="34" charset="0"/>
              </a:rPr>
              <a:t>6. Получение данных в отсортированном виде</a:t>
            </a:r>
          </a:p>
          <a:p>
            <a:pPr marL="0" indent="0">
              <a:buNone/>
            </a:pPr>
            <a:r>
              <a:rPr lang="en-US" sz="1300" dirty="0">
                <a:latin typeface="Aptos" panose="020B0004020202020204" pitchFamily="34" charset="0"/>
              </a:rPr>
              <a:t>   </a:t>
            </a:r>
            <a:r>
              <a:rPr lang="ru-RU" sz="1300" dirty="0">
                <a:latin typeface="Aptos" panose="020B0004020202020204" pitchFamily="34" charset="0"/>
              </a:rPr>
              <a:t>Одним из важнейших свойств BST является то, что симметричный обход дерева (</a:t>
            </a:r>
            <a:r>
              <a:rPr lang="ru-RU" sz="1300" dirty="0" err="1">
                <a:latin typeface="Aptos" panose="020B0004020202020204" pitchFamily="34" charset="0"/>
              </a:rPr>
              <a:t>Left</a:t>
            </a:r>
            <a:r>
              <a:rPr lang="ru-RU" sz="1300" dirty="0">
                <a:latin typeface="Aptos" panose="020B0004020202020204" pitchFamily="34" charset="0"/>
              </a:rPr>
              <a:t> → </a:t>
            </a:r>
            <a:r>
              <a:rPr lang="ru-RU" sz="1300" dirty="0" err="1">
                <a:latin typeface="Aptos" panose="020B0004020202020204" pitchFamily="34" charset="0"/>
              </a:rPr>
              <a:t>Node</a:t>
            </a:r>
            <a:r>
              <a:rPr lang="ru-RU" sz="1300" dirty="0">
                <a:latin typeface="Aptos" panose="020B0004020202020204" pitchFamily="34" charset="0"/>
              </a:rPr>
              <a:t> → </a:t>
            </a:r>
            <a:r>
              <a:rPr lang="ru-RU" sz="1300" dirty="0" err="1">
                <a:latin typeface="Aptos" panose="020B0004020202020204" pitchFamily="34" charset="0"/>
              </a:rPr>
              <a:t>Right</a:t>
            </a:r>
            <a:r>
              <a:rPr lang="ru-RU" sz="1300" dirty="0">
                <a:latin typeface="Aptos" panose="020B0004020202020204" pitchFamily="34" charset="0"/>
              </a:rPr>
              <a:t>) выдаёт значения </a:t>
            </a:r>
            <a:r>
              <a:rPr lang="ru-RU" sz="1300" b="1" dirty="0">
                <a:latin typeface="Aptos" panose="020B0004020202020204" pitchFamily="34" charset="0"/>
              </a:rPr>
              <a:t>строго по возрастанию</a:t>
            </a:r>
            <a:r>
              <a:rPr lang="ru-RU" sz="1300" dirty="0">
                <a:latin typeface="Aptos" panose="020B0004020202020204" pitchFamily="34" charset="0"/>
              </a:rPr>
              <a:t>. Это делает BST естественной основой для алгоритмов сортировки и упорядоченного вывода данных.</a:t>
            </a:r>
          </a:p>
          <a:p>
            <a:pPr marL="0" indent="0">
              <a:buNone/>
            </a:pPr>
            <a:endParaRPr lang="ru-RU" sz="13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86733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87C65-4A07-53EC-F980-8170F5E4A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8668AE-3E96-2A21-A8DA-E4E746722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Операция вставки (</a:t>
            </a:r>
            <a:r>
              <a:rPr lang="en-US" dirty="0">
                <a:latin typeface="Aptos" panose="020B0004020202020204" pitchFamily="34" charset="0"/>
              </a:rPr>
              <a:t>Insert)</a:t>
            </a:r>
            <a:endParaRPr lang="ru-RU" dirty="0">
              <a:latin typeface="Aptos" panose="020B00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63C0181-25DF-C969-B725-C61BFBADEA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0185"/>
            <a:ext cx="10515600" cy="51826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400" b="1" dirty="0">
                <a:latin typeface="Aptos" panose="020B0004020202020204" pitchFamily="34" charset="0"/>
              </a:rPr>
              <a:t>   Операция вставки (</a:t>
            </a:r>
            <a:r>
              <a:rPr lang="en-US" sz="1400" b="1" dirty="0">
                <a:latin typeface="Aptos" panose="020B0004020202020204" pitchFamily="34" charset="0"/>
              </a:rPr>
              <a:t>insert)</a:t>
            </a:r>
            <a:r>
              <a:rPr lang="ru-RU" sz="1400" b="1" dirty="0">
                <a:latin typeface="Aptos" panose="020B0004020202020204" pitchFamily="34" charset="0"/>
              </a:rPr>
              <a:t> </a:t>
            </a:r>
            <a:r>
              <a:rPr lang="ru-RU" sz="1400" dirty="0">
                <a:latin typeface="Aptos" panose="020B0004020202020204" pitchFamily="34" charset="0"/>
              </a:rPr>
              <a:t>нового элемента в двоичное дерево поиска является фундаментальной, поскольку именно она определяет, каким образом дерево будет расти и изменять свою структуру. Вставка нового узла осуществляется в соответствии с основным принципом BST: каждый новый ключ размещается в точке, где сохраняется строгий порядок значений — меньшие ключи должны находиться в левом поддереве, а большие — в правом. Благодаря этому свойству дерево не только организует данные, но и поддерживает их логическую упорядоченность без необходимости явной сортировки.</a:t>
            </a:r>
          </a:p>
          <a:p>
            <a:pPr marL="0" indent="0">
              <a:buNone/>
            </a:pPr>
            <a:r>
              <a:rPr lang="ru-RU" sz="1400" dirty="0">
                <a:latin typeface="Aptos" panose="020B0004020202020204" pitchFamily="34" charset="0"/>
              </a:rPr>
              <a:t>Чтобы вставка происходила корректно, операция должна опираться на несколько важных логических принципов:</a:t>
            </a:r>
          </a:p>
          <a:p>
            <a:r>
              <a:rPr lang="ru-RU" sz="1400" b="1" dirty="0">
                <a:latin typeface="Aptos" panose="020B0004020202020204" pitchFamily="34" charset="0"/>
              </a:rPr>
              <a:t>Все элементы левого поддерева нового узла должны быть меньше его ключа</a:t>
            </a:r>
            <a:r>
              <a:rPr lang="ru-RU" sz="1400" dirty="0">
                <a:latin typeface="Aptos" panose="020B0004020202020204" pitchFamily="34" charset="0"/>
              </a:rPr>
              <a:t>, а правого — строго больше.</a:t>
            </a:r>
          </a:p>
          <a:p>
            <a:r>
              <a:rPr lang="ru-RU" sz="1400" b="1" dirty="0">
                <a:latin typeface="Aptos" panose="020B0004020202020204" pitchFamily="34" charset="0"/>
              </a:rPr>
              <a:t>Вставка должна сохранять рекурсивность структуры</a:t>
            </a:r>
            <a:r>
              <a:rPr lang="ru-RU" sz="1400" dirty="0">
                <a:latin typeface="Aptos" panose="020B0004020202020204" pitchFamily="34" charset="0"/>
              </a:rPr>
              <a:t>, то есть любое поддерево после вставки остаётся корректным BST.</a:t>
            </a:r>
          </a:p>
          <a:p>
            <a:r>
              <a:rPr lang="ru-RU" sz="1400" b="1" dirty="0">
                <a:latin typeface="Aptos" panose="020B0004020202020204" pitchFamily="34" charset="0"/>
              </a:rPr>
              <a:t>Движение при вставке всегда однозначно</a:t>
            </a:r>
            <a:r>
              <a:rPr lang="ru-RU" sz="1400" dirty="0">
                <a:latin typeface="Aptos" panose="020B0004020202020204" pitchFamily="34" charset="0"/>
              </a:rPr>
              <a:t>, поскольку направление определяется только сравнением ключей, и для каждого узла выбирается либо левый, либо правый путь.</a:t>
            </a:r>
          </a:p>
          <a:p>
            <a:r>
              <a:rPr lang="ru-RU" sz="1400" b="1" dirty="0">
                <a:latin typeface="Aptos" panose="020B0004020202020204" pitchFamily="34" charset="0"/>
              </a:rPr>
              <a:t>Дубликаты в классическом BST не допускаются</a:t>
            </a:r>
            <a:r>
              <a:rPr lang="ru-RU" sz="1400" dirty="0">
                <a:latin typeface="Aptos" panose="020B0004020202020204" pitchFamily="34" charset="0"/>
              </a:rPr>
              <a:t>, поэтому при совпадении ключей обычно операция либо игнорируется, либо используется специальный механизм обработки повторений.</a:t>
            </a:r>
          </a:p>
          <a:p>
            <a:pPr marL="0" indent="0">
              <a:buNone/>
            </a:pPr>
            <a:r>
              <a:rPr lang="ru-RU" sz="1400" dirty="0">
                <a:latin typeface="Aptos" panose="020B0004020202020204" pitchFamily="34" charset="0"/>
              </a:rPr>
              <a:t>Эти принципы обеспечивают логическую стабильность дерева и предсказуемость его роста.</a:t>
            </a:r>
          </a:p>
          <a:p>
            <a:pPr marL="0" indent="0">
              <a:buNone/>
            </a:pPr>
            <a:r>
              <a:rPr lang="ru-RU" sz="1400" dirty="0">
                <a:latin typeface="Aptos" panose="020B0004020202020204" pitchFamily="34" charset="0"/>
              </a:rPr>
              <a:t>Несмотря на простоту этого принципа, важно понимать, что правила расположения ключей применяются не только локально, но и глобально. Это означает, что корректность структуры определяется не только отношением между узлом и его потомками, но и соблюдением полного диапазона допустимых значений для каждого поддерева. Например, если узел расположен в левом поддереве корня, он должен быть меньше корня вне зависимости от того, на какой глубине он находится. Именно поэтому операция вставки не только позиционирует новый узел, но и гарантирует дальнейшее сохранение инварианта BST на всех уровнях дерева.</a:t>
            </a:r>
            <a:endParaRPr lang="ru-RU" sz="13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48594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3A615-6AB7-512E-D861-7E9127758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2F1523-9632-D75C-5E28-08DEAA312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Операция вставки (</a:t>
            </a:r>
            <a:r>
              <a:rPr lang="en-US" dirty="0">
                <a:latin typeface="Aptos" panose="020B0004020202020204" pitchFamily="34" charset="0"/>
              </a:rPr>
              <a:t>Insert)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967793-26FA-27B0-3224-7EF7B20457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0185"/>
            <a:ext cx="10515600" cy="51826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600" b="1" dirty="0">
                <a:latin typeface="Aptos" panose="020B0004020202020204" pitchFamily="34" charset="0"/>
              </a:rPr>
              <a:t>Подробный пошаговый алгоритм вставки</a:t>
            </a:r>
          </a:p>
          <a:p>
            <a:pPr marL="0" indent="0">
              <a:buNone/>
            </a:pPr>
            <a:r>
              <a:rPr lang="ru-RU" sz="1600" dirty="0">
                <a:latin typeface="Aptos" panose="020B0004020202020204" pitchFamily="34" charset="0"/>
              </a:rPr>
              <a:t>Пусть у нас есть дерево с корнем </a:t>
            </a:r>
            <a:r>
              <a:rPr lang="ru-RU" sz="1600" i="1" dirty="0" err="1">
                <a:latin typeface="Aptos" panose="020B0004020202020204" pitchFamily="34" charset="0"/>
              </a:rPr>
              <a:t>root</a:t>
            </a:r>
            <a:r>
              <a:rPr lang="ru-RU" sz="1600" dirty="0">
                <a:latin typeface="Aptos" panose="020B0004020202020204" pitchFamily="34" charset="0"/>
              </a:rPr>
              <a:t>, и мы хотим вставить ключ k.</a:t>
            </a:r>
          </a:p>
          <a:p>
            <a:pPr marL="0" indent="0">
              <a:buNone/>
            </a:pPr>
            <a:r>
              <a:rPr lang="ru-RU" sz="1600" b="1" dirty="0">
                <a:latin typeface="Aptos" panose="020B0004020202020204" pitchFamily="34" charset="0"/>
              </a:rPr>
              <a:t>Если дерево пустое</a:t>
            </a:r>
            <a:r>
              <a:rPr lang="ru-RU" sz="1600" dirty="0">
                <a:latin typeface="Aptos" panose="020B0004020202020204" pitchFamily="34" charset="0"/>
              </a:rPr>
              <a:t> (</a:t>
            </a:r>
            <a:r>
              <a:rPr lang="ru-RU" sz="1600" i="1" dirty="0" err="1">
                <a:latin typeface="Aptos" panose="020B0004020202020204" pitchFamily="34" charset="0"/>
              </a:rPr>
              <a:t>root</a:t>
            </a:r>
            <a:r>
              <a:rPr lang="ru-RU" sz="1600" i="1" dirty="0">
                <a:latin typeface="Aptos" panose="020B0004020202020204" pitchFamily="34" charset="0"/>
              </a:rPr>
              <a:t> = </a:t>
            </a:r>
            <a:r>
              <a:rPr lang="ru-RU" sz="1600" i="1" dirty="0" err="1">
                <a:latin typeface="Aptos" panose="020B0004020202020204" pitchFamily="34" charset="0"/>
              </a:rPr>
              <a:t>null</a:t>
            </a:r>
            <a:r>
              <a:rPr lang="ru-RU" sz="1600" dirty="0">
                <a:latin typeface="Aptos" panose="020B0004020202020204" pitchFamily="34" charset="0"/>
              </a:rPr>
              <a:t>):</a:t>
            </a:r>
          </a:p>
          <a:p>
            <a:pPr lvl="1"/>
            <a:r>
              <a:rPr lang="ru-RU" sz="1600" dirty="0">
                <a:latin typeface="Aptos" panose="020B0004020202020204" pitchFamily="34" charset="0"/>
              </a:rPr>
              <a:t>создаётся новый узел с ключом k,</a:t>
            </a:r>
          </a:p>
          <a:p>
            <a:pPr lvl="1"/>
            <a:r>
              <a:rPr lang="ru-RU" sz="1600" dirty="0">
                <a:latin typeface="Aptos" panose="020B0004020202020204" pitchFamily="34" charset="0"/>
              </a:rPr>
              <a:t>этот узел становится корнем дерева.</a:t>
            </a:r>
          </a:p>
          <a:p>
            <a:pPr marL="0" indent="0">
              <a:buNone/>
            </a:pPr>
            <a:r>
              <a:rPr lang="ru-RU" sz="1600" b="1" dirty="0">
                <a:latin typeface="Aptos" panose="020B0004020202020204" pitchFamily="34" charset="0"/>
              </a:rPr>
              <a:t>Если дерево не пустое:</a:t>
            </a:r>
            <a:endParaRPr lang="ru-RU" sz="1600" dirty="0">
              <a:latin typeface="Aptos" panose="020B0004020202020204" pitchFamily="34" charset="0"/>
            </a:endParaRPr>
          </a:p>
          <a:p>
            <a:pPr lvl="1"/>
            <a:r>
              <a:rPr lang="ru-RU" sz="1600" dirty="0">
                <a:latin typeface="Aptos" panose="020B0004020202020204" pitchFamily="34" charset="0"/>
              </a:rPr>
              <a:t>сравниваем </a:t>
            </a:r>
            <a:r>
              <a:rPr lang="ru-RU" sz="1600" i="1" dirty="0">
                <a:latin typeface="Aptos" panose="020B0004020202020204" pitchFamily="34" charset="0"/>
              </a:rPr>
              <a:t>k</a:t>
            </a:r>
            <a:r>
              <a:rPr lang="ru-RU" sz="1600" dirty="0">
                <a:latin typeface="Aptos" panose="020B0004020202020204" pitchFamily="34" charset="0"/>
              </a:rPr>
              <a:t> с ключом текущего узла (начинаем с корня):</a:t>
            </a:r>
          </a:p>
          <a:p>
            <a:pPr lvl="2"/>
            <a:r>
              <a:rPr lang="ru-RU" sz="1600" dirty="0">
                <a:latin typeface="Aptos" panose="020B0004020202020204" pitchFamily="34" charset="0"/>
              </a:rPr>
              <a:t>если </a:t>
            </a:r>
            <a:r>
              <a:rPr lang="ru-RU" sz="1600" i="1" dirty="0">
                <a:latin typeface="Aptos" panose="020B0004020202020204" pitchFamily="34" charset="0"/>
              </a:rPr>
              <a:t>k &lt; </a:t>
            </a:r>
            <a:r>
              <a:rPr lang="ru-RU" sz="1600" i="1" dirty="0" err="1">
                <a:latin typeface="Aptos" panose="020B0004020202020204" pitchFamily="34" charset="0"/>
              </a:rPr>
              <a:t>key</a:t>
            </a:r>
            <a:r>
              <a:rPr lang="ru-RU" sz="1600" dirty="0">
                <a:latin typeface="Aptos" panose="020B0004020202020204" pitchFamily="34" charset="0"/>
              </a:rPr>
              <a:t>(текущего узла) → переходим в левое поддерево;</a:t>
            </a:r>
          </a:p>
          <a:p>
            <a:pPr lvl="2"/>
            <a:r>
              <a:rPr lang="ru-RU" sz="1600" dirty="0">
                <a:latin typeface="Aptos" panose="020B0004020202020204" pitchFamily="34" charset="0"/>
              </a:rPr>
              <a:t>если </a:t>
            </a:r>
            <a:r>
              <a:rPr lang="ru-RU" sz="1600" i="1" dirty="0">
                <a:latin typeface="Aptos" panose="020B0004020202020204" pitchFamily="34" charset="0"/>
              </a:rPr>
              <a:t>k &gt; </a:t>
            </a:r>
            <a:r>
              <a:rPr lang="ru-RU" sz="1600" i="1" dirty="0" err="1">
                <a:latin typeface="Aptos" panose="020B0004020202020204" pitchFamily="34" charset="0"/>
              </a:rPr>
              <a:t>key</a:t>
            </a:r>
            <a:r>
              <a:rPr lang="ru-RU" sz="1600" dirty="0">
                <a:latin typeface="Aptos" panose="020B0004020202020204" pitchFamily="34" charset="0"/>
              </a:rPr>
              <a:t>(текущего узла) → переходим в правое поддерево;</a:t>
            </a:r>
          </a:p>
          <a:p>
            <a:pPr lvl="2"/>
            <a:r>
              <a:rPr lang="ru-RU" sz="1600" dirty="0">
                <a:latin typeface="Aptos" panose="020B0004020202020204" pitchFamily="34" charset="0"/>
              </a:rPr>
              <a:t>если </a:t>
            </a:r>
            <a:r>
              <a:rPr lang="ru-RU" sz="1600" i="1" dirty="0">
                <a:latin typeface="Aptos" panose="020B0004020202020204" pitchFamily="34" charset="0"/>
              </a:rPr>
              <a:t>k</a:t>
            </a:r>
            <a:r>
              <a:rPr lang="ru-RU" sz="1600" dirty="0">
                <a:latin typeface="Aptos" panose="020B0004020202020204" pitchFamily="34" charset="0"/>
              </a:rPr>
              <a:t> </a:t>
            </a:r>
            <a:r>
              <a:rPr lang="ru-RU" sz="1600" i="1" dirty="0">
                <a:latin typeface="Aptos" panose="020B0004020202020204" pitchFamily="34" charset="0"/>
              </a:rPr>
              <a:t>== </a:t>
            </a:r>
            <a:r>
              <a:rPr lang="ru-RU" sz="1600" i="1" dirty="0" err="1">
                <a:latin typeface="Aptos" panose="020B0004020202020204" pitchFamily="34" charset="0"/>
              </a:rPr>
              <a:t>key</a:t>
            </a:r>
            <a:r>
              <a:rPr lang="ru-RU" sz="1600" dirty="0">
                <a:latin typeface="Aptos" panose="020B0004020202020204" pitchFamily="34" charset="0"/>
              </a:rPr>
              <a:t>(текущего узла):</a:t>
            </a:r>
          </a:p>
          <a:p>
            <a:pPr lvl="3"/>
            <a:r>
              <a:rPr lang="ru-RU" sz="1600" dirty="0">
                <a:latin typeface="Aptos" panose="020B0004020202020204" pitchFamily="34" charset="0"/>
              </a:rPr>
              <a:t>в классическом BST дубликаты </a:t>
            </a:r>
            <a:r>
              <a:rPr lang="ru-RU" sz="1600" b="1" dirty="0">
                <a:latin typeface="Aptos" panose="020B0004020202020204" pitchFamily="34" charset="0"/>
              </a:rPr>
              <a:t>не вставляются</a:t>
            </a:r>
            <a:r>
              <a:rPr lang="ru-RU" sz="1600" dirty="0">
                <a:latin typeface="Aptos" panose="020B0004020202020204" pitchFamily="34" charset="0"/>
              </a:rPr>
              <a:t>,</a:t>
            </a:r>
          </a:p>
          <a:p>
            <a:pPr lvl="3"/>
            <a:r>
              <a:rPr lang="ru-RU" sz="1600" dirty="0">
                <a:latin typeface="Aptos" panose="020B0004020202020204" pitchFamily="34" charset="0"/>
              </a:rPr>
              <a:t>либо обрабатываются отдельно (например, увеличивается счётчик в узле).</a:t>
            </a:r>
          </a:p>
          <a:p>
            <a:pPr marL="0" indent="0">
              <a:buNone/>
            </a:pPr>
            <a:r>
              <a:rPr lang="ru-RU" sz="1600" b="1" dirty="0">
                <a:latin typeface="Aptos" panose="020B0004020202020204" pitchFamily="34" charset="0"/>
              </a:rPr>
              <a:t>Если выбранное поддерево пустое</a:t>
            </a:r>
            <a:r>
              <a:rPr lang="ru-RU" sz="1600" dirty="0">
                <a:latin typeface="Aptos" panose="020B0004020202020204" pitchFamily="34" charset="0"/>
              </a:rPr>
              <a:t>, мы создаём новый узел:</a:t>
            </a:r>
          </a:p>
          <a:p>
            <a:pPr lvl="1"/>
            <a:r>
              <a:rPr lang="ru-RU" sz="1600" dirty="0">
                <a:latin typeface="Aptos" panose="020B0004020202020204" pitchFamily="34" charset="0"/>
              </a:rPr>
              <a:t>при движении влево: новый узел становится </a:t>
            </a:r>
            <a:r>
              <a:rPr lang="ru-RU" sz="1600" b="1" dirty="0">
                <a:latin typeface="Aptos" panose="020B0004020202020204" pitchFamily="34" charset="0"/>
              </a:rPr>
              <a:t>левым потомком</a:t>
            </a:r>
            <a:r>
              <a:rPr lang="ru-RU" sz="1600" dirty="0">
                <a:latin typeface="Aptos" panose="020B0004020202020204" pitchFamily="34" charset="0"/>
              </a:rPr>
              <a:t> текущего узла;</a:t>
            </a:r>
          </a:p>
          <a:p>
            <a:pPr lvl="1"/>
            <a:r>
              <a:rPr lang="ru-RU" sz="1600" dirty="0">
                <a:latin typeface="Aptos" panose="020B0004020202020204" pitchFamily="34" charset="0"/>
              </a:rPr>
              <a:t>при движении вправо: новым </a:t>
            </a:r>
            <a:r>
              <a:rPr lang="ru-RU" sz="1600" b="1" dirty="0">
                <a:latin typeface="Aptos" panose="020B0004020202020204" pitchFamily="34" charset="0"/>
              </a:rPr>
              <a:t>правым потомком</a:t>
            </a:r>
            <a:r>
              <a:rPr lang="ru-RU" sz="1600" dirty="0">
                <a:latin typeface="Aptos" panose="020B0004020202020204" pitchFamily="34" charset="0"/>
              </a:rPr>
              <a:t>.</a:t>
            </a:r>
          </a:p>
          <a:p>
            <a:pPr marL="0" indent="0">
              <a:buNone/>
            </a:pPr>
            <a:endParaRPr lang="ru-RU" sz="16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8461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CE8A6-FF54-706F-9E82-14DE8DB4B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0FFE8E-7DEF-EBF4-DA9D-548FFA2DF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Операция вставки (</a:t>
            </a:r>
            <a:r>
              <a:rPr lang="en-US" dirty="0">
                <a:latin typeface="Aptos" panose="020B0004020202020204" pitchFamily="34" charset="0"/>
              </a:rPr>
              <a:t>Insert)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5546F7-1DF0-4F47-1F89-641194FA6A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7481"/>
            <a:ext cx="10515600" cy="51553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>
                <a:latin typeface="Aptos" panose="020B0004020202020204" pitchFamily="34" charset="0"/>
              </a:rPr>
              <a:t>   </a:t>
            </a:r>
            <a:r>
              <a:rPr lang="ru-RU" sz="1600" dirty="0">
                <a:latin typeface="Aptos" panose="020B0004020202020204" pitchFamily="34" charset="0"/>
              </a:rPr>
              <a:t>Важно понимать, что </a:t>
            </a:r>
            <a:r>
              <a:rPr lang="ru-RU" sz="1600" b="1" dirty="0">
                <a:latin typeface="Aptos" panose="020B0004020202020204" pitchFamily="34" charset="0"/>
              </a:rPr>
              <a:t>порядок вставки</a:t>
            </a:r>
            <a:r>
              <a:rPr lang="ru-RU" sz="1600" dirty="0">
                <a:latin typeface="Aptos" panose="020B0004020202020204" pitchFamily="34" charset="0"/>
              </a:rPr>
              <a:t> сильно влияет на форму дерева:</a:t>
            </a:r>
          </a:p>
          <a:p>
            <a:r>
              <a:rPr lang="ru-RU" sz="1600" dirty="0">
                <a:latin typeface="Aptos" panose="020B0004020202020204" pitchFamily="34" charset="0"/>
              </a:rPr>
              <a:t>Для случайного порядка вставки дерево обычно «похоже» на сбалансированное (высота близка к </a:t>
            </a:r>
            <a:r>
              <a:rPr lang="ru-RU" sz="1600" dirty="0" err="1">
                <a:latin typeface="Aptos" panose="020B0004020202020204" pitchFamily="34" charset="0"/>
              </a:rPr>
              <a:t>log</a:t>
            </a:r>
            <a:r>
              <a:rPr lang="ru-RU" sz="1600" dirty="0">
                <a:latin typeface="Aptos" panose="020B0004020202020204" pitchFamily="34" charset="0"/>
              </a:rPr>
              <a:t> n).</a:t>
            </a:r>
          </a:p>
          <a:p>
            <a:r>
              <a:rPr lang="ru-RU" sz="1600" dirty="0">
                <a:latin typeface="Aptos" panose="020B0004020202020204" pitchFamily="34" charset="0"/>
              </a:rPr>
              <a:t>Для отсортированной последовательности (например, 1, 2, 3, 4, 5, 6, 7) дерево вырождается в цепочку:</a:t>
            </a:r>
          </a:p>
          <a:p>
            <a:pPr marL="0" indent="0">
              <a:buNone/>
            </a:pPr>
            <a:r>
              <a:rPr lang="en-US" sz="1600" dirty="0">
                <a:latin typeface="Aptos" panose="020B0004020202020204" pitchFamily="34" charset="0"/>
              </a:rPr>
              <a:t>   </a:t>
            </a:r>
            <a:r>
              <a:rPr lang="ru-RU" sz="1600" dirty="0">
                <a:latin typeface="Aptos" panose="020B0004020202020204" pitchFamily="34" charset="0"/>
              </a:rPr>
              <a:t>В этом случае сложность операций падает до O(n), хотя теоретически для “хорошего” BST она O(</a:t>
            </a:r>
            <a:r>
              <a:rPr lang="ru-RU" sz="1600" dirty="0" err="1">
                <a:latin typeface="Aptos" panose="020B0004020202020204" pitchFamily="34" charset="0"/>
              </a:rPr>
              <a:t>log</a:t>
            </a:r>
            <a:r>
              <a:rPr lang="ru-RU" sz="1600" dirty="0">
                <a:latin typeface="Aptos" panose="020B0004020202020204" pitchFamily="34" charset="0"/>
              </a:rPr>
              <a:t> n).</a:t>
            </a:r>
          </a:p>
          <a:p>
            <a:pPr marL="0" indent="0">
              <a:buNone/>
            </a:pPr>
            <a:r>
              <a:rPr lang="en-US" sz="1600" dirty="0">
                <a:latin typeface="Aptos" panose="020B0004020202020204" pitchFamily="34" charset="0"/>
              </a:rPr>
              <a:t>   </a:t>
            </a:r>
            <a:r>
              <a:rPr lang="ru-RU" sz="1600" dirty="0">
                <a:latin typeface="Aptos" panose="020B0004020202020204" pitchFamily="34" charset="0"/>
              </a:rPr>
              <a:t>Это объясняет, почему в реальных системах применяются </a:t>
            </a:r>
            <a:r>
              <a:rPr lang="ru-RU" sz="1600" b="1" dirty="0">
                <a:latin typeface="Aptos" panose="020B0004020202020204" pitchFamily="34" charset="0"/>
              </a:rPr>
              <a:t>балансирующие деревья</a:t>
            </a:r>
            <a:r>
              <a:rPr lang="ru-RU" sz="1600" dirty="0">
                <a:latin typeface="Aptos" panose="020B0004020202020204" pitchFamily="34" charset="0"/>
              </a:rPr>
              <a:t> (AVL, Red-Black и др.).</a:t>
            </a:r>
          </a:p>
          <a:p>
            <a:pPr marL="0" indent="0">
              <a:buNone/>
            </a:pPr>
            <a:r>
              <a:rPr lang="en-US" sz="1600" dirty="0">
                <a:latin typeface="Aptos" panose="020B0004020202020204" pitchFamily="34" charset="0"/>
              </a:rPr>
              <a:t>   </a:t>
            </a:r>
            <a:r>
              <a:rPr lang="ru-RU" sz="1600" dirty="0">
                <a:latin typeface="Aptos" panose="020B0004020202020204" pitchFamily="34" charset="0"/>
              </a:rPr>
              <a:t>Классическое BST предполагает, что все ключи уникальны, однако в некоторых задачах дубликаты допустимы. Тогда выбирают одну из стратегий:</a:t>
            </a:r>
          </a:p>
          <a:p>
            <a:r>
              <a:rPr lang="ru-RU" sz="1600" b="1" dirty="0">
                <a:latin typeface="Aptos" panose="020B0004020202020204" pitchFamily="34" charset="0"/>
              </a:rPr>
              <a:t>Не вставлять дубликат вообще</a:t>
            </a:r>
            <a:br>
              <a:rPr lang="ru-RU" sz="1600" dirty="0">
                <a:latin typeface="Aptos" panose="020B0004020202020204" pitchFamily="34" charset="0"/>
              </a:rPr>
            </a:br>
            <a:r>
              <a:rPr lang="ru-RU" sz="1600" dirty="0">
                <a:latin typeface="Aptos" panose="020B0004020202020204" pitchFamily="34" charset="0"/>
              </a:rPr>
              <a:t>— если ключ уже есть, операция </a:t>
            </a:r>
            <a:r>
              <a:rPr lang="ru-RU" sz="1600" dirty="0" err="1">
                <a:latin typeface="Aptos" panose="020B0004020202020204" pitchFamily="34" charset="0"/>
              </a:rPr>
              <a:t>insert</a:t>
            </a:r>
            <a:r>
              <a:rPr lang="ru-RU" sz="1600" dirty="0">
                <a:latin typeface="Aptos" panose="020B0004020202020204" pitchFamily="34" charset="0"/>
              </a:rPr>
              <a:t> ничего не меняет.</a:t>
            </a:r>
          </a:p>
          <a:p>
            <a:r>
              <a:rPr lang="ru-RU" sz="1600" b="1" dirty="0">
                <a:latin typeface="Aptos" panose="020B0004020202020204" pitchFamily="34" charset="0"/>
              </a:rPr>
              <a:t>Хранить счётчик в узле</a:t>
            </a:r>
            <a:br>
              <a:rPr lang="ru-RU" sz="1600" dirty="0">
                <a:latin typeface="Aptos" panose="020B0004020202020204" pitchFamily="34" charset="0"/>
              </a:rPr>
            </a:br>
            <a:r>
              <a:rPr lang="ru-RU" sz="1600" dirty="0">
                <a:latin typeface="Aptos" panose="020B0004020202020204" pitchFamily="34" charset="0"/>
              </a:rPr>
              <a:t>— в узле помимо ключа сохраняется количество вхождений.</a:t>
            </a:r>
          </a:p>
          <a:p>
            <a:r>
              <a:rPr lang="ru-RU" sz="1600" b="1" dirty="0">
                <a:latin typeface="Aptos" panose="020B0004020202020204" pitchFamily="34" charset="0"/>
              </a:rPr>
              <a:t>Соглашение о направлении</a:t>
            </a:r>
            <a:br>
              <a:rPr lang="ru-RU" sz="1600" dirty="0">
                <a:latin typeface="Aptos" panose="020B0004020202020204" pitchFamily="34" charset="0"/>
              </a:rPr>
            </a:br>
            <a:r>
              <a:rPr lang="ru-RU" sz="1600" dirty="0">
                <a:latin typeface="Aptos" panose="020B0004020202020204" pitchFamily="34" charset="0"/>
              </a:rPr>
              <a:t>— например, при </a:t>
            </a:r>
            <a:r>
              <a:rPr lang="ru-RU" sz="1600" i="1" dirty="0">
                <a:latin typeface="Aptos" panose="020B0004020202020204" pitchFamily="34" charset="0"/>
              </a:rPr>
              <a:t>k == </a:t>
            </a:r>
            <a:r>
              <a:rPr lang="ru-RU" sz="1600" i="1" dirty="0" err="1">
                <a:latin typeface="Aptos" panose="020B0004020202020204" pitchFamily="34" charset="0"/>
              </a:rPr>
              <a:t>node.key</a:t>
            </a:r>
            <a:r>
              <a:rPr lang="ru-RU" sz="1600" i="1" dirty="0">
                <a:latin typeface="Aptos" panose="020B0004020202020204" pitchFamily="34" charset="0"/>
              </a:rPr>
              <a:t> </a:t>
            </a:r>
            <a:r>
              <a:rPr lang="ru-RU" sz="1600" dirty="0">
                <a:latin typeface="Aptos" panose="020B0004020202020204" pitchFamily="34" charset="0"/>
              </a:rPr>
              <a:t>всегда идём вправо, чтобы все дубликаты оказывались в правом поддереве.</a:t>
            </a:r>
          </a:p>
          <a:p>
            <a:pPr marL="0" indent="0">
              <a:buNone/>
            </a:pPr>
            <a:r>
              <a:rPr lang="en-US" sz="1600" dirty="0">
                <a:latin typeface="Aptos" panose="020B0004020202020204" pitchFamily="34" charset="0"/>
              </a:rPr>
              <a:t>   </a:t>
            </a:r>
            <a:r>
              <a:rPr lang="ru-RU" sz="1600" dirty="0">
                <a:latin typeface="Aptos" panose="020B0004020202020204" pitchFamily="34" charset="0"/>
              </a:rPr>
              <a:t>В системах, где важна строгая упорядоченность, обычно выбирают первый или второй вариант.</a:t>
            </a:r>
          </a:p>
          <a:p>
            <a:pPr marL="0" indent="0">
              <a:buNone/>
            </a:pPr>
            <a:endParaRPr lang="ru-RU" sz="1600" dirty="0"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ru-RU" sz="16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58567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F86FE-8B6C-FB62-6AD4-943B5B8A7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95C6B8-52C6-C87E-35CE-1E03A2F55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Операция вставки (</a:t>
            </a:r>
            <a:r>
              <a:rPr lang="en-US" dirty="0">
                <a:latin typeface="Aptos" panose="020B0004020202020204" pitchFamily="34" charset="0"/>
              </a:rPr>
              <a:t>Insert)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D1A69E4-1B66-4127-63E6-46CABC9936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44588"/>
                <a:ext cx="10515600" cy="5348287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ru-RU" sz="1400" dirty="0">
                    <a:latin typeface="Aptos" panose="020B0004020202020204" pitchFamily="34" charset="0"/>
                  </a:rPr>
                  <a:t>   Временная сложность операции вставки в двоичное дерево поиска напрямую зависит от структуры дерева, то есть от его </a:t>
                </a:r>
                <a:r>
                  <a:rPr lang="ru-RU" sz="1400" b="1" dirty="0">
                    <a:latin typeface="Aptos" panose="020B0004020202020204" pitchFamily="34" charset="0"/>
                  </a:rPr>
                  <a:t>высоты</a:t>
                </a:r>
                <a:r>
                  <a:rPr lang="ru-RU" sz="1400" dirty="0">
                    <a:latin typeface="Aptos" panose="020B0004020202020204" pitchFamily="34" charset="0"/>
                  </a:rPr>
                  <a:t>. Именно высота определяет, сколько сравнений и шагов необходимо выполнить алгоритму, чтобы найти правильное место для нового узла. количество шагов в процессе вставки пропорционально количеству узлов, которые алгоритму нужно пройти, а это число равно </a:t>
                </a:r>
                <a:r>
                  <a:rPr lang="ru-RU" sz="1400" b="1" dirty="0">
                    <a:latin typeface="Aptos" panose="020B0004020202020204" pitchFamily="34" charset="0"/>
                  </a:rPr>
                  <a:t>высоте дерева</a:t>
                </a:r>
                <a:r>
                  <a:rPr lang="ru-RU" sz="1400" dirty="0">
                    <a:latin typeface="Aptos" panose="020B0004020202020204" pitchFamily="34" charset="0"/>
                  </a:rPr>
                  <a:t>. Поэтому сложность операции можно обозначить как:</a:t>
                </a:r>
              </a:p>
              <a:p>
                <a:pPr marL="0" indent="0" algn="ctr">
                  <a:buNone/>
                </a:pPr>
                <a:r>
                  <a:rPr lang="ru-RU" sz="1400" b="1" dirty="0">
                    <a:latin typeface="Aptos" panose="020B0004020202020204" pitchFamily="34" charset="0"/>
                  </a:rPr>
                  <a:t>Time </a:t>
                </a:r>
                <a:r>
                  <a:rPr lang="ru-RU" sz="1400" b="1" dirty="0" err="1">
                    <a:latin typeface="Aptos" panose="020B0004020202020204" pitchFamily="34" charset="0"/>
                  </a:rPr>
                  <a:t>Complexity</a:t>
                </a:r>
                <a:r>
                  <a:rPr lang="ru-RU" sz="1400" b="1" dirty="0">
                    <a:latin typeface="Aptos" panose="020B0004020202020204" pitchFamily="34" charset="0"/>
                  </a:rPr>
                  <a:t>(</a:t>
                </a:r>
                <a:r>
                  <a:rPr lang="ru-RU" sz="1400" b="1" dirty="0" err="1">
                    <a:latin typeface="Aptos" panose="020B0004020202020204" pitchFamily="34" charset="0"/>
                  </a:rPr>
                  <a:t>insert</a:t>
                </a:r>
                <a:r>
                  <a:rPr lang="ru-RU" sz="1400" b="1" dirty="0">
                    <a:latin typeface="Aptos" panose="020B0004020202020204" pitchFamily="34" charset="0"/>
                  </a:rPr>
                  <a:t>) = O(h)</a:t>
                </a:r>
                <a:br>
                  <a:rPr lang="ru-RU" sz="1400" dirty="0">
                    <a:latin typeface="Aptos" panose="020B0004020202020204" pitchFamily="34" charset="0"/>
                  </a:rPr>
                </a:br>
                <a:r>
                  <a:rPr lang="ru-RU" sz="1400" dirty="0">
                    <a:latin typeface="Aptos" panose="020B0004020202020204" pitchFamily="34" charset="0"/>
                  </a:rPr>
                  <a:t>где h — высота BST.</a:t>
                </a:r>
              </a:p>
              <a:p>
                <a:pPr marL="0" indent="0">
                  <a:buNone/>
                </a:pPr>
                <a:r>
                  <a:rPr lang="en-US" sz="1400" dirty="0">
                    <a:latin typeface="Aptos" panose="020B0004020202020204" pitchFamily="34" charset="0"/>
                  </a:rPr>
                  <a:t>   </a:t>
                </a:r>
                <a:r>
                  <a:rPr lang="ru-RU" sz="1400" dirty="0">
                    <a:latin typeface="Aptos" panose="020B0004020202020204" pitchFamily="34" charset="0"/>
                  </a:rPr>
                  <a:t>Теперь важно понять, каким может быть h в разных случаях.</a:t>
                </a:r>
              </a:p>
              <a:p>
                <a:pPr marL="0" indent="0">
                  <a:buNone/>
                </a:pPr>
                <a:r>
                  <a:rPr lang="ru-RU" sz="1400" b="1" dirty="0">
                    <a:latin typeface="Aptos" panose="020B0004020202020204" pitchFamily="34" charset="0"/>
                  </a:rPr>
                  <a:t>1. Идеально сбалансированное дерево — </a:t>
                </a:r>
                <a:r>
                  <a:rPr lang="en-US" sz="1400" b="1" dirty="0">
                    <a:latin typeface="Aptos" panose="020B0004020202020204" pitchFamily="34" charset="0"/>
                  </a:rPr>
                  <a:t>O(log n)</a:t>
                </a:r>
              </a:p>
              <a:p>
                <a:pPr marL="0" indent="0">
                  <a:buNone/>
                </a:pPr>
                <a:r>
                  <a:rPr lang="en-US" sz="1400" dirty="0">
                    <a:latin typeface="Aptos" panose="020B0004020202020204" pitchFamily="34" charset="0"/>
                  </a:rPr>
                  <a:t>   </a:t>
                </a:r>
                <a:r>
                  <a:rPr lang="ru-RU" sz="1400" dirty="0">
                    <a:latin typeface="Aptos" panose="020B0004020202020204" pitchFamily="34" charset="0"/>
                  </a:rPr>
                  <a:t>Если </a:t>
                </a:r>
                <a:r>
                  <a:rPr lang="en-US" sz="1400" dirty="0">
                    <a:latin typeface="Aptos" panose="020B0004020202020204" pitchFamily="34" charset="0"/>
                  </a:rPr>
                  <a:t>BST </a:t>
                </a:r>
                <a:r>
                  <a:rPr lang="ru-RU" sz="1400" dirty="0">
                    <a:latin typeface="Aptos" panose="020B0004020202020204" pitchFamily="34" charset="0"/>
                  </a:rPr>
                  <a:t>имеет структуру близкую к идеальному сбалансированному дереву, то его высота будет примерно равна:</a:t>
                </a:r>
              </a:p>
              <a:p>
                <a14:m>
                  <m:oMath xmlns:m="http://schemas.openxmlformats.org/officeDocument/2006/math">
                    <m:r>
                      <a:rPr lang="ru-RU" sz="1400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ru-RU" sz="1400">
                        <a:latin typeface="Cambria Math" panose="02040503050406030204" pitchFamily="18" charset="0"/>
                      </a:rPr>
                      <m:t>≈</m:t>
                    </m:r>
                    <m:func>
                      <m:funcPr>
                        <m:ctrlPr>
                          <a:rPr lang="ar-AE" sz="140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ar-AE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400" i="1" dirty="0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ar-AE" sz="14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ar-AE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4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func>
                  </m:oMath>
                </a14:m>
                <a:endParaRPr lang="ar-AE" sz="1400" i="1" dirty="0">
                  <a:latin typeface="Aptos" panose="020B0004020202020204" pitchFamily="34" charset="0"/>
                </a:endParaRPr>
              </a:p>
              <a:p>
                <a:pPr marL="0" indent="0">
                  <a:buNone/>
                </a:pPr>
                <a:r>
                  <a:rPr lang="en-US" sz="1400" dirty="0">
                    <a:latin typeface="Aptos" panose="020B0004020202020204" pitchFamily="34" charset="0"/>
                  </a:rPr>
                  <a:t>   </a:t>
                </a:r>
                <a:r>
                  <a:rPr lang="ru-RU" sz="1400" dirty="0">
                    <a:latin typeface="Aptos" panose="020B0004020202020204" pitchFamily="34" charset="0"/>
                  </a:rPr>
                  <a:t>Здесь каждая новая вставка уменьшает пространство поиска вдвое:</a:t>
                </a:r>
                <a:br>
                  <a:rPr lang="ru-RU" sz="1400" dirty="0">
                    <a:latin typeface="Aptos" panose="020B0004020202020204" pitchFamily="34" charset="0"/>
                  </a:rPr>
                </a:br>
                <a:r>
                  <a:rPr lang="ru-RU" sz="1400" dirty="0">
                    <a:latin typeface="Aptos" panose="020B0004020202020204" pitchFamily="34" charset="0"/>
                  </a:rPr>
                  <a:t>полдерева слева и полдерева справа. Это напоминает бинарный поиск, но в динамической структуре.</a:t>
                </a:r>
              </a:p>
              <a:p>
                <a:pPr marL="0" indent="0">
                  <a:buNone/>
                </a:pPr>
                <a:r>
                  <a:rPr lang="en-US" sz="1400" dirty="0">
                    <a:latin typeface="Aptos" panose="020B0004020202020204" pitchFamily="34" charset="0"/>
                  </a:rPr>
                  <a:t>   </a:t>
                </a:r>
                <a:r>
                  <a:rPr lang="ru-RU" sz="1400" dirty="0">
                    <a:latin typeface="Aptos" panose="020B0004020202020204" pitchFamily="34" charset="0"/>
                  </a:rPr>
                  <a:t>В этой ситуации вставка выполняется максимально эффективно: минимальное количество сравнений, короткий путь от корня к месту вставки, высокая производительность при больших данных.</a:t>
                </a:r>
              </a:p>
              <a:p>
                <a:pPr marL="0" indent="0">
                  <a:buNone/>
                </a:pPr>
                <a:r>
                  <a:rPr lang="ru-RU" sz="1400" b="1" dirty="0">
                    <a:latin typeface="Aptos" panose="020B0004020202020204" pitchFamily="34" charset="0"/>
                  </a:rPr>
                  <a:t>Когда это происходит?</a:t>
                </a:r>
              </a:p>
              <a:p>
                <a:r>
                  <a:rPr lang="ru-RU" sz="1400" dirty="0">
                    <a:latin typeface="Aptos" panose="020B0004020202020204" pitchFamily="34" charset="0"/>
                  </a:rPr>
                  <a:t>когда ключи вставляются </a:t>
                </a:r>
                <a:r>
                  <a:rPr lang="ru-RU" sz="1400" b="1" dirty="0">
                    <a:latin typeface="Aptos" panose="020B0004020202020204" pitchFamily="34" charset="0"/>
                  </a:rPr>
                  <a:t>в случайном порядке</a:t>
                </a:r>
                <a:r>
                  <a:rPr lang="ru-RU" sz="1400" dirty="0">
                    <a:latin typeface="Aptos" panose="020B0004020202020204" pitchFamily="34" charset="0"/>
                  </a:rPr>
                  <a:t>,</a:t>
                </a:r>
              </a:p>
              <a:p>
                <a:r>
                  <a:rPr lang="ru-RU" sz="1400" dirty="0">
                    <a:latin typeface="Aptos" panose="020B0004020202020204" pitchFamily="34" charset="0"/>
                  </a:rPr>
                  <a:t>когда дерево регулярно балансируется (например, в </a:t>
                </a:r>
                <a:r>
                  <a:rPr lang="en-US" sz="1400" dirty="0">
                    <a:latin typeface="Aptos" panose="020B0004020202020204" pitchFamily="34" charset="0"/>
                  </a:rPr>
                  <a:t>AVL </a:t>
                </a:r>
                <a:r>
                  <a:rPr lang="ru-RU" sz="1400" dirty="0">
                    <a:latin typeface="Aptos" panose="020B0004020202020204" pitchFamily="34" charset="0"/>
                  </a:rPr>
                  <a:t>или красно-чёрных деревьях),</a:t>
                </a:r>
              </a:p>
              <a:p>
                <a:r>
                  <a:rPr lang="ru-RU" sz="1400" dirty="0">
                    <a:latin typeface="Aptos" panose="020B0004020202020204" pitchFamily="34" charset="0"/>
                  </a:rPr>
                  <a:t>когда данные не имеют выраженной упорядоченной структуры.</a:t>
                </a:r>
              </a:p>
              <a:p>
                <a:pPr marL="0" indent="0">
                  <a:buNone/>
                </a:pPr>
                <a:r>
                  <a:rPr lang="en-US" sz="1400" dirty="0">
                    <a:latin typeface="Aptos" panose="020B0004020202020204" pitchFamily="34" charset="0"/>
                  </a:rPr>
                  <a:t>   </a:t>
                </a:r>
                <a:r>
                  <a:rPr lang="ru-RU" sz="1400" dirty="0">
                    <a:latin typeface="Aptos" panose="020B0004020202020204" pitchFamily="34" charset="0"/>
                  </a:rPr>
                  <a:t>В “хорошем” </a:t>
                </a:r>
                <a:r>
                  <a:rPr lang="en-US" sz="1400" dirty="0">
                    <a:latin typeface="Aptos" panose="020B0004020202020204" pitchFamily="34" charset="0"/>
                  </a:rPr>
                  <a:t>BST </a:t>
                </a:r>
                <a:r>
                  <a:rPr lang="ru-RU" sz="1400" dirty="0">
                    <a:latin typeface="Aptos" panose="020B0004020202020204" pitchFamily="34" charset="0"/>
                  </a:rPr>
                  <a:t>высота практически всегда близка к логарифмической, что делает вставку очень быстрой.</a:t>
                </a:r>
              </a:p>
              <a:p>
                <a:pPr marL="0" indent="0">
                  <a:buNone/>
                </a:pPr>
                <a:endParaRPr lang="ru-RU" sz="1400" dirty="0">
                  <a:latin typeface="Aptos" panose="020B0004020202020204" pitchFamily="34" charset="0"/>
                </a:endParaRPr>
              </a:p>
              <a:p>
                <a:pPr marL="0" indent="0">
                  <a:buNone/>
                </a:pPr>
                <a:endParaRPr lang="ru-RU" sz="1400" dirty="0">
                  <a:latin typeface="Aptos" panose="020B0004020202020204" pitchFamily="34" charset="0"/>
                </a:endParaRPr>
              </a:p>
              <a:p>
                <a:pPr marL="0" indent="0">
                  <a:buNone/>
                </a:pPr>
                <a:endParaRPr lang="ru-RU" sz="14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D1A69E4-1B66-4127-63E6-46CABC9936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44588"/>
                <a:ext cx="10515600" cy="5348287"/>
              </a:xfrm>
              <a:blipFill>
                <a:blip r:embed="rId2"/>
                <a:stretch>
                  <a:fillRect l="-174" t="-57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91716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D4AF9-723B-4040-5655-A14CB5339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176E8C-F519-BA0D-A290-38CF7775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Операция вставки (</a:t>
            </a:r>
            <a:r>
              <a:rPr lang="en-US" dirty="0">
                <a:latin typeface="Aptos" panose="020B0004020202020204" pitchFamily="34" charset="0"/>
              </a:rPr>
              <a:t>Insert)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C324A65-19E8-E458-E2D0-4BEBC08DCD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44588"/>
                <a:ext cx="10515600" cy="5348287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ru-RU" sz="1400" b="1" dirty="0">
                    <a:latin typeface="Aptos" panose="020B0004020202020204" pitchFamily="34" charset="0"/>
                  </a:rPr>
                  <a:t>2. Амортизированная средняя сложность — </a:t>
                </a:r>
                <a:r>
                  <a:rPr lang="en-US" sz="1400" b="1" dirty="0">
                    <a:latin typeface="Aptos" panose="020B0004020202020204" pitchFamily="34" charset="0"/>
                  </a:rPr>
                  <a:t>O(log n)</a:t>
                </a:r>
              </a:p>
              <a:p>
                <a:pPr marL="0" indent="0">
                  <a:buNone/>
                </a:pPr>
                <a:r>
                  <a:rPr lang="ru-RU" sz="1400" dirty="0">
                    <a:latin typeface="Aptos" panose="020B0004020202020204" pitchFamily="34" charset="0"/>
                  </a:rPr>
                  <a:t>Даже если дерево не идеально сбалансировано, но данные вставляются из разных диапазонов равномерно, высота редко становится очень большой. </a:t>
                </a:r>
                <a:r>
                  <a:rPr lang="ru-RU" sz="1400" dirty="0" err="1">
                    <a:latin typeface="Aptos" panose="020B0004020202020204" pitchFamily="34" charset="0"/>
                  </a:rPr>
                  <a:t>Амортизированно</a:t>
                </a:r>
                <a:r>
                  <a:rPr lang="ru-RU" sz="1400" dirty="0">
                    <a:latin typeface="Aptos" panose="020B0004020202020204" pitchFamily="34" charset="0"/>
                  </a:rPr>
                  <a:t>, в средних реальных сценариях, вставка работает </a:t>
                </a:r>
                <a:r>
                  <a:rPr lang="ru-RU" sz="1400" b="1" dirty="0">
                    <a:latin typeface="Aptos" panose="020B0004020202020204" pitchFamily="34" charset="0"/>
                  </a:rPr>
                  <a:t>почти логарифмически</a:t>
                </a:r>
                <a:r>
                  <a:rPr lang="ru-RU" sz="1400" dirty="0">
                    <a:latin typeface="Aptos" panose="020B0004020202020204" pitchFamily="34" charset="0"/>
                  </a:rPr>
                  <a:t>, так как дерево самопроизвольно «размазывается» по структуре, и последовательности, приводящие к вырождению, встречаются редко. Поэтому в среднем случае сложность считается: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 i="1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ar-AE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ar-AE" sz="1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ar-AE" sz="1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ru-RU" sz="1400" dirty="0">
                  <a:latin typeface="Aptos" panose="020B0004020202020204" pitchFamily="34" charset="0"/>
                </a:endParaRPr>
              </a:p>
              <a:p>
                <a:pPr marL="0" indent="0">
                  <a:buNone/>
                </a:pPr>
                <a:r>
                  <a:rPr lang="ru-RU" sz="1400" b="1" dirty="0">
                    <a:latin typeface="Aptos" panose="020B0004020202020204" pitchFamily="34" charset="0"/>
                  </a:rPr>
                  <a:t>3. Худший случай — O(n)</a:t>
                </a:r>
              </a:p>
              <a:p>
                <a:pPr marL="0" indent="0">
                  <a:buNone/>
                </a:pPr>
                <a:r>
                  <a:rPr lang="ru-RU" sz="1400" dirty="0">
                    <a:latin typeface="Aptos" panose="020B0004020202020204" pitchFamily="34" charset="0"/>
                  </a:rPr>
                  <a:t>Худший случай вставки возникает, когда дерево </a:t>
                </a:r>
                <a:r>
                  <a:rPr lang="ru-RU" sz="1400" b="1" dirty="0">
                    <a:latin typeface="Aptos" panose="020B0004020202020204" pitchFamily="34" charset="0"/>
                  </a:rPr>
                  <a:t>вырождается в линейную структуру</a:t>
                </a:r>
                <a:r>
                  <a:rPr lang="ru-RU" sz="1400" dirty="0">
                    <a:latin typeface="Aptos" panose="020B0004020202020204" pitchFamily="34" charset="0"/>
                  </a:rPr>
                  <a:t>. </a:t>
                </a:r>
              </a:p>
              <a:p>
                <a:pPr marL="0" indent="0">
                  <a:buNone/>
                </a:pPr>
                <a:r>
                  <a:rPr lang="ru-RU" sz="1400" dirty="0">
                    <a:latin typeface="Aptos" panose="020B0004020202020204" pitchFamily="34" charset="0"/>
                  </a:rPr>
                  <a:t>Это происходит, когда элементы вставляются в отсортированном или почти отсортированном порядке.</a:t>
                </a:r>
              </a:p>
              <a:p>
                <a:pPr marL="0" indent="0">
                  <a:buNone/>
                </a:pPr>
                <a:r>
                  <a:rPr lang="ru-RU" sz="1400" dirty="0">
                    <a:latin typeface="Aptos" panose="020B0004020202020204" pitchFamily="34" charset="0"/>
                  </a:rPr>
                  <a:t>В таком дереве каждый новый ключ вставляется в конец цепочки.</a:t>
                </a:r>
              </a:p>
              <a:p>
                <a:pPr marL="0" indent="0">
                  <a:buNone/>
                </a:pPr>
                <a:r>
                  <a:rPr lang="ru-RU" sz="1400" b="1" dirty="0">
                    <a:latin typeface="Aptos" panose="020B0004020202020204" pitchFamily="34" charset="0"/>
                  </a:rPr>
                  <a:t>Почему сложность </a:t>
                </a:r>
                <a:r>
                  <a:rPr lang="en-US" sz="1400" b="1" dirty="0">
                    <a:latin typeface="Aptos" panose="020B0004020202020204" pitchFamily="34" charset="0"/>
                  </a:rPr>
                  <a:t>O(n)?</a:t>
                </a:r>
              </a:p>
              <a:p>
                <a:r>
                  <a:rPr lang="ru-RU" sz="1400" dirty="0">
                    <a:latin typeface="Aptos" panose="020B0004020202020204" pitchFamily="34" charset="0"/>
                  </a:rPr>
                  <a:t>Чтобы вставить элемент, нужно пройти все предыдущие </a:t>
                </a:r>
                <a:r>
                  <a:rPr lang="en-US" sz="1400" dirty="0">
                    <a:latin typeface="Aptos" panose="020B0004020202020204" pitchFamily="34" charset="0"/>
                  </a:rPr>
                  <a:t>n </a:t>
                </a:r>
                <a:r>
                  <a:rPr lang="ru-RU" sz="1400" dirty="0">
                    <a:latin typeface="Aptos" panose="020B0004020202020204" pitchFamily="34" charset="0"/>
                  </a:rPr>
                  <a:t>узлов.</a:t>
                </a:r>
              </a:p>
              <a:p>
                <a:r>
                  <a:rPr lang="ru-RU" sz="1400" dirty="0">
                    <a:latin typeface="Aptos" panose="020B0004020202020204" pitchFamily="34" charset="0"/>
                  </a:rPr>
                  <a:t>Высота дерева становится равной количеству элементов.</a:t>
                </a:r>
              </a:p>
              <a:p>
                <a:pPr marL="0" indent="0">
                  <a:buNone/>
                </a:pPr>
                <a:r>
                  <a:rPr lang="ru-RU" sz="1400" dirty="0">
                    <a:latin typeface="Aptos" panose="020B0004020202020204" pitchFamily="34" charset="0"/>
                  </a:rPr>
                  <a:t>Таким образом: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 i="1">
                          <a:latin typeface="Cambria Math" panose="02040503050406030204" pitchFamily="18" charset="0"/>
                        </a:rPr>
                        <m:t>𝑇𝑖𝑚𝑒</m:t>
                      </m:r>
                      <m:d>
                        <m:dPr>
                          <m:ctrlPr>
                            <a:rPr lang="ar-AE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400" i="1">
                              <a:latin typeface="Cambria Math" panose="02040503050406030204" pitchFamily="18" charset="0"/>
                            </a:rPr>
                            <m:t>𝑖𝑛𝑠𝑒𝑟𝑡</m:t>
                          </m:r>
                        </m:e>
                      </m:d>
                      <m:r>
                        <a:rPr lang="ar-AE" sz="1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400" i="1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ar-AE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4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ar-AE" sz="1400" dirty="0">
                  <a:latin typeface="Aptos" panose="020B0004020202020204" pitchFamily="34" charset="0"/>
                </a:endParaRPr>
              </a:p>
              <a:p>
                <a:pPr marL="0" indent="0">
                  <a:buNone/>
                </a:pPr>
                <a:r>
                  <a:rPr lang="ru-RU" sz="1400" dirty="0">
                    <a:latin typeface="Aptos" panose="020B0004020202020204" pitchFamily="34" charset="0"/>
                  </a:rPr>
                  <a:t>В этом случае </a:t>
                </a:r>
                <a:r>
                  <a:rPr lang="en-US" sz="1400" dirty="0">
                    <a:latin typeface="Aptos" panose="020B0004020202020204" pitchFamily="34" charset="0"/>
                  </a:rPr>
                  <a:t>BST </a:t>
                </a:r>
                <a:r>
                  <a:rPr lang="ru-RU" sz="1400" dirty="0">
                    <a:latin typeface="Aptos" panose="020B0004020202020204" pitchFamily="34" charset="0"/>
                  </a:rPr>
                  <a:t>теряет свои преимущества и работает не лучше связного списка.</a:t>
                </a:r>
              </a:p>
              <a:p>
                <a:pPr marL="0" indent="0">
                  <a:buNone/>
                </a:pPr>
                <a:endParaRPr lang="ar-AE" sz="1400" dirty="0">
                  <a:latin typeface="Aptos" panose="020B0004020202020204" pitchFamily="34" charset="0"/>
                </a:endParaRPr>
              </a:p>
              <a:p>
                <a:pPr marL="0" indent="0">
                  <a:buNone/>
                </a:pPr>
                <a:endParaRPr lang="ru-RU" sz="1400" dirty="0">
                  <a:latin typeface="Aptos" panose="020B0004020202020204" pitchFamily="34" charset="0"/>
                </a:endParaRPr>
              </a:p>
              <a:p>
                <a:pPr marL="0" indent="0">
                  <a:buNone/>
                </a:pPr>
                <a:endParaRPr lang="ru-RU" sz="1400" dirty="0">
                  <a:latin typeface="Aptos" panose="020B0004020202020204" pitchFamily="34" charset="0"/>
                </a:endParaRPr>
              </a:p>
              <a:p>
                <a:pPr marL="0" indent="0">
                  <a:buNone/>
                </a:pPr>
                <a:endParaRPr lang="ru-RU" sz="14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C324A65-19E8-E458-E2D0-4BEBC08DCD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44588"/>
                <a:ext cx="10515600" cy="5348287"/>
              </a:xfrm>
              <a:blipFill>
                <a:blip r:embed="rId2"/>
                <a:stretch>
                  <a:fillRect l="-174" t="-57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3007877-6C45-FC86-2CFD-1496E682DE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9792" y="2804593"/>
            <a:ext cx="1814007" cy="2505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1535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001D7-ECB3-110A-59F3-20142B930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366571-1C89-4924-EF6D-FA79017A7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Операция удаления </a:t>
            </a:r>
            <a:r>
              <a:rPr lang="en-US" dirty="0">
                <a:latin typeface="Aptos" panose="020B0004020202020204" pitchFamily="34" charset="0"/>
              </a:rPr>
              <a:t>(Delete)</a:t>
            </a:r>
            <a:endParaRPr lang="ru-RU" dirty="0">
              <a:latin typeface="Aptos" panose="020B00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F4B75F-0028-7849-DAFD-F9B996EA1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4588"/>
            <a:ext cx="10515600" cy="53482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dirty="0">
                <a:latin typeface="Aptos" panose="020B0004020202020204" pitchFamily="34" charset="0"/>
              </a:rPr>
              <a:t>   </a:t>
            </a:r>
            <a:r>
              <a:rPr lang="ru-RU" sz="2000" b="1" dirty="0">
                <a:latin typeface="Aptos" panose="020B0004020202020204" pitchFamily="34" charset="0"/>
              </a:rPr>
              <a:t>Операция удаления </a:t>
            </a:r>
            <a:r>
              <a:rPr lang="en-US" sz="2000" b="1" dirty="0">
                <a:latin typeface="Aptos" panose="020B0004020202020204" pitchFamily="34" charset="0"/>
              </a:rPr>
              <a:t>(Delete)</a:t>
            </a:r>
            <a:r>
              <a:rPr lang="en-US" sz="2000" dirty="0">
                <a:latin typeface="Aptos" panose="020B0004020202020204" pitchFamily="34" charset="0"/>
              </a:rPr>
              <a:t>. </a:t>
            </a:r>
            <a:r>
              <a:rPr lang="ru-RU" sz="2000" dirty="0">
                <a:latin typeface="Aptos" panose="020B0004020202020204" pitchFamily="34" charset="0"/>
              </a:rPr>
              <a:t>Удаление элемента из двоичного дерева поиска является наиболее сложной базовой операцией, поскольку она не только изменяет состав данных, но и может повлиять на структуру всего дерева. В отличие от вставки и поиска, которые всегда выполняются по одному и тому же алгоритму, удаление должно учитывать несколько принципиально разных сценариев.</a:t>
            </a:r>
            <a:endParaRPr lang="en-US" sz="20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2000" b="1" dirty="0">
                <a:latin typeface="Aptos" panose="020B0004020202020204" pitchFamily="34" charset="0"/>
              </a:rPr>
              <a:t>   </a:t>
            </a:r>
            <a:r>
              <a:rPr lang="ru-RU" sz="2000" b="1" dirty="0">
                <a:latin typeface="Aptos" panose="020B0004020202020204" pitchFamily="34" charset="0"/>
              </a:rPr>
              <a:t>Общая идея удаления</a:t>
            </a:r>
          </a:p>
          <a:p>
            <a:pPr marL="0" indent="0">
              <a:buNone/>
            </a:pPr>
            <a:r>
              <a:rPr lang="en-US" sz="2000" dirty="0">
                <a:latin typeface="Aptos" panose="020B0004020202020204" pitchFamily="34" charset="0"/>
              </a:rPr>
              <a:t>   </a:t>
            </a:r>
            <a:r>
              <a:rPr lang="ru-RU" sz="2000" dirty="0">
                <a:latin typeface="Aptos" panose="020B0004020202020204" pitchFamily="34" charset="0"/>
              </a:rPr>
              <a:t>Удаление узла из BST всегда стремится к тому, чтобы дерево сохранило свойство упорядоченности. Поэтому алгоритм не может просто «обрезать» узел — ему необходимо корректно перераспределить связи между потомками и родителями.</a:t>
            </a:r>
            <a:r>
              <a:rPr lang="en-US" sz="2000" dirty="0">
                <a:latin typeface="Aptos" panose="020B0004020202020204" pitchFamily="34" charset="0"/>
              </a:rPr>
              <a:t> </a:t>
            </a:r>
            <a:r>
              <a:rPr lang="ru-RU" sz="2000" dirty="0">
                <a:latin typeface="Aptos" panose="020B0004020202020204" pitchFamily="34" charset="0"/>
              </a:rPr>
              <a:t>Удаляемый узел может иметь:</a:t>
            </a:r>
          </a:p>
          <a:p>
            <a:r>
              <a:rPr lang="ru-RU" sz="2000" b="1" dirty="0">
                <a:latin typeface="Aptos" panose="020B0004020202020204" pitchFamily="34" charset="0"/>
              </a:rPr>
              <a:t>нет детей (лист)</a:t>
            </a:r>
            <a:r>
              <a:rPr lang="ru-RU" sz="2000" dirty="0">
                <a:latin typeface="Aptos" panose="020B0004020202020204" pitchFamily="34" charset="0"/>
              </a:rPr>
              <a:t> — самый простой вариант;</a:t>
            </a:r>
          </a:p>
          <a:p>
            <a:r>
              <a:rPr lang="ru-RU" sz="2000" b="1" dirty="0">
                <a:latin typeface="Aptos" panose="020B0004020202020204" pitchFamily="34" charset="0"/>
              </a:rPr>
              <a:t>одного ребёнка</a:t>
            </a:r>
            <a:r>
              <a:rPr lang="ru-RU" sz="2000" dirty="0">
                <a:latin typeface="Aptos" panose="020B0004020202020204" pitchFamily="34" charset="0"/>
              </a:rPr>
              <a:t> — требует перестройки связей;</a:t>
            </a:r>
          </a:p>
          <a:p>
            <a:r>
              <a:rPr lang="ru-RU" sz="2000" b="1" dirty="0">
                <a:latin typeface="Aptos" panose="020B0004020202020204" pitchFamily="34" charset="0"/>
              </a:rPr>
              <a:t>двух детей</a:t>
            </a:r>
            <a:r>
              <a:rPr lang="ru-RU" sz="2000" dirty="0">
                <a:latin typeface="Aptos" panose="020B0004020202020204" pitchFamily="34" charset="0"/>
              </a:rPr>
              <a:t> — наиболее сложный случай, требующий поиска заменяющего узла.</a:t>
            </a:r>
          </a:p>
          <a:p>
            <a:pPr marL="0" indent="0">
              <a:buNone/>
            </a:pPr>
            <a:r>
              <a:rPr lang="en-US" sz="2000" dirty="0">
                <a:latin typeface="Aptos" panose="020B0004020202020204" pitchFamily="34" charset="0"/>
              </a:rPr>
              <a:t>   </a:t>
            </a:r>
            <a:r>
              <a:rPr lang="ru-RU" sz="2000" dirty="0">
                <a:latin typeface="Aptos" panose="020B0004020202020204" pitchFamily="34" charset="0"/>
              </a:rPr>
              <a:t>Каждая из этих ситуаций обрабатывается по-разному, и именно разнообразие структур делает операцию удаления значительно сложнее других операций BST.</a:t>
            </a:r>
          </a:p>
          <a:p>
            <a:pPr marL="0" indent="0">
              <a:buNone/>
            </a:pPr>
            <a:endParaRPr lang="ru-RU" sz="2000" b="1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46089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349B9-7EC3-3C2A-F82F-C5A74A278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ED40C7-99A9-B622-B8B0-1025BE02D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Операция удаления </a:t>
            </a:r>
            <a:r>
              <a:rPr lang="en-US" dirty="0">
                <a:latin typeface="Aptos" panose="020B0004020202020204" pitchFamily="34" charset="0"/>
              </a:rPr>
              <a:t>(Delete)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723180-49C6-3ED8-F3C1-790DEC16D6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4588"/>
            <a:ext cx="10515600" cy="53482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/>
              <a:t>   1. </a:t>
            </a:r>
            <a:r>
              <a:rPr lang="ru-RU" sz="2000" b="1" dirty="0"/>
              <a:t>Узел является листом (нет детей)</a:t>
            </a:r>
          </a:p>
          <a:p>
            <a:pPr marL="0" indent="0">
              <a:buNone/>
            </a:pPr>
            <a:r>
              <a:rPr lang="en-US" sz="2000" dirty="0"/>
              <a:t>   </a:t>
            </a:r>
            <a:r>
              <a:rPr lang="ru-RU" sz="2000" dirty="0"/>
              <a:t>Это самый простой случай, потому что удаление не влияет на остальные элементы дерева. Узел просто убирается, а родительская ссылка на него заменяется значением NULL.</a:t>
            </a:r>
          </a:p>
          <a:p>
            <a:pPr marL="0" indent="0">
              <a:buNone/>
            </a:pPr>
            <a:r>
              <a:rPr lang="en-US" sz="2000" dirty="0"/>
              <a:t>   </a:t>
            </a:r>
            <a:r>
              <a:rPr lang="ru-RU" sz="2000" dirty="0"/>
              <a:t>Пример: удаление узла </a:t>
            </a:r>
            <a:r>
              <a:rPr lang="en-US" sz="2000" dirty="0"/>
              <a:t>13</a:t>
            </a:r>
            <a:r>
              <a:rPr lang="ru-RU" sz="2000" dirty="0"/>
              <a:t>, у которого нет потомков.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   </a:t>
            </a:r>
            <a:r>
              <a:rPr lang="ru-RU" sz="2000" dirty="0"/>
              <a:t>В этом случае мы фактически выполняем простое отсоединение узла.</a:t>
            </a:r>
            <a:r>
              <a:rPr lang="en-US" sz="2000" dirty="0"/>
              <a:t> </a:t>
            </a:r>
            <a:r>
              <a:rPr lang="ru-RU" sz="2000" dirty="0"/>
              <a:t>Дерево остаётся полностью корректным, структура не нарушается.</a:t>
            </a:r>
          </a:p>
          <a:p>
            <a:pPr marL="0" indent="0">
              <a:buNone/>
            </a:pPr>
            <a:endParaRPr lang="ru-RU" sz="2000" dirty="0"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ru-RU" sz="2000" b="1" dirty="0">
              <a:latin typeface="Aptos" panose="020B00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B5721C5-CFB0-D194-3481-62657D2B19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0567" y="2692946"/>
            <a:ext cx="6930866" cy="2493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11244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E3DBD-8ECF-D41E-9A3E-4C11F91B8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B138C1-232D-FB12-2222-FA0E54F20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Операция удаления </a:t>
            </a:r>
            <a:r>
              <a:rPr lang="en-US" dirty="0">
                <a:latin typeface="Aptos" panose="020B0004020202020204" pitchFamily="34" charset="0"/>
              </a:rPr>
              <a:t>(Delete)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5AA8D1-CAB7-CF11-7E54-B3D359E01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4588"/>
            <a:ext cx="10515600" cy="53482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latin typeface="Aptos" panose="020B0004020202020204" pitchFamily="34" charset="0"/>
              </a:rPr>
              <a:t>2. </a:t>
            </a:r>
            <a:r>
              <a:rPr lang="ru-RU" sz="1800" b="1" dirty="0">
                <a:latin typeface="Aptos" panose="020B0004020202020204" pitchFamily="34" charset="0"/>
              </a:rPr>
              <a:t>Узел имеет одного ребёнка</a:t>
            </a:r>
          </a:p>
          <a:p>
            <a:pPr marL="0" indent="0">
              <a:buNone/>
            </a:pPr>
            <a:r>
              <a:rPr lang="ru-RU" sz="1800" dirty="0">
                <a:latin typeface="Aptos" panose="020B0004020202020204" pitchFamily="34" charset="0"/>
              </a:rPr>
              <a:t>Если у удаляемого узла есть только один потомок — либо левый, либо правый — задача алгоритма сводится к тому, чтобы «переподключить» родителя удаляемого узла к его ребёнку.</a:t>
            </a:r>
            <a:r>
              <a:rPr lang="en-US" sz="1800" dirty="0">
                <a:latin typeface="Aptos" panose="020B0004020202020204" pitchFamily="34" charset="0"/>
              </a:rPr>
              <a:t> </a:t>
            </a:r>
            <a:r>
              <a:rPr lang="ru-RU" sz="1800" dirty="0">
                <a:latin typeface="Aptos" panose="020B0004020202020204" pitchFamily="34" charset="0"/>
              </a:rPr>
              <a:t>Другими словами, мы как бы «вынимаем» узел из дерева, и его ребёнок занимает его место.</a:t>
            </a:r>
            <a:r>
              <a:rPr lang="en-US" sz="1800" dirty="0">
                <a:latin typeface="Aptos" panose="020B0004020202020204" pitchFamily="34" charset="0"/>
              </a:rPr>
              <a:t> </a:t>
            </a:r>
            <a:r>
              <a:rPr lang="ru-RU" sz="1800" dirty="0">
                <a:latin typeface="Aptos" panose="020B0004020202020204" pitchFamily="34" charset="0"/>
              </a:rPr>
              <a:t>Этот процесс часто называют </a:t>
            </a:r>
            <a:r>
              <a:rPr lang="ru-RU" sz="1800" b="1" dirty="0" err="1">
                <a:latin typeface="Aptos" panose="020B0004020202020204" pitchFamily="34" charset="0"/>
              </a:rPr>
              <a:t>promotion</a:t>
            </a:r>
            <a:r>
              <a:rPr lang="ru-RU" sz="1800" dirty="0">
                <a:latin typeface="Aptos" panose="020B0004020202020204" pitchFamily="34" charset="0"/>
              </a:rPr>
              <a:t>, то есть «подъём» потомка на место родителя.</a:t>
            </a:r>
          </a:p>
          <a:p>
            <a:pPr marL="0" indent="0">
              <a:buNone/>
            </a:pPr>
            <a:r>
              <a:rPr lang="ru-RU" sz="1800" dirty="0">
                <a:latin typeface="Aptos" panose="020B0004020202020204" pitchFamily="34" charset="0"/>
              </a:rPr>
              <a:t>Например:</a:t>
            </a:r>
            <a:r>
              <a:rPr lang="en-US" sz="1800" dirty="0">
                <a:latin typeface="Aptos" panose="020B0004020202020204" pitchFamily="34" charset="0"/>
              </a:rPr>
              <a:t> </a:t>
            </a:r>
            <a:r>
              <a:rPr lang="ru-RU" sz="1800" dirty="0">
                <a:latin typeface="Aptos" panose="020B0004020202020204" pitchFamily="34" charset="0"/>
              </a:rPr>
              <a:t>Если удаляется узел </a:t>
            </a:r>
            <a:r>
              <a:rPr lang="en-US" sz="1800" dirty="0">
                <a:latin typeface="Aptos" panose="020B0004020202020204" pitchFamily="34" charset="0"/>
              </a:rPr>
              <a:t>14</a:t>
            </a:r>
            <a:r>
              <a:rPr lang="ru-RU" sz="1800" dirty="0">
                <a:latin typeface="Aptos" panose="020B0004020202020204" pitchFamily="34" charset="0"/>
              </a:rPr>
              <a:t>, у которого есть только левый ребёнок </a:t>
            </a:r>
            <a:r>
              <a:rPr lang="en-US" sz="1800" dirty="0">
                <a:latin typeface="Aptos" panose="020B0004020202020204" pitchFamily="34" charset="0"/>
              </a:rPr>
              <a:t>13</a:t>
            </a:r>
            <a:r>
              <a:rPr lang="ru-RU" sz="1800" dirty="0">
                <a:latin typeface="Aptos" panose="020B0004020202020204" pitchFamily="34" charset="0"/>
              </a:rPr>
              <a:t>, то </a:t>
            </a:r>
            <a:r>
              <a:rPr lang="en-US" sz="1800" dirty="0">
                <a:latin typeface="Aptos" panose="020B0004020202020204" pitchFamily="34" charset="0"/>
              </a:rPr>
              <a:t>13</a:t>
            </a:r>
            <a:r>
              <a:rPr lang="ru-RU" sz="1800" dirty="0">
                <a:latin typeface="Aptos" panose="020B0004020202020204" pitchFamily="34" charset="0"/>
              </a:rPr>
              <a:t> занимает позицию узла </a:t>
            </a:r>
            <a:r>
              <a:rPr lang="en-US" sz="1800" dirty="0">
                <a:latin typeface="Aptos" panose="020B0004020202020204" pitchFamily="34" charset="0"/>
              </a:rPr>
              <a:t>14</a:t>
            </a:r>
            <a:r>
              <a:rPr lang="ru-RU" sz="1800" dirty="0">
                <a:latin typeface="Aptos" panose="020B0004020202020204" pitchFamily="34" charset="0"/>
              </a:rPr>
              <a:t>.</a:t>
            </a:r>
          </a:p>
          <a:p>
            <a:pPr marL="0" indent="0">
              <a:buNone/>
            </a:pPr>
            <a:endParaRPr lang="en-US" sz="1800" dirty="0"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en-US" sz="1800" dirty="0"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en-US" sz="1800" dirty="0"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en-US" sz="1800" dirty="0"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en-US" sz="1800" dirty="0"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en-US" sz="18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latin typeface="Aptos" panose="020B0004020202020204" pitchFamily="34" charset="0"/>
              </a:rPr>
              <a:t>  </a:t>
            </a:r>
          </a:p>
          <a:p>
            <a:pPr marL="0" indent="0">
              <a:buNone/>
            </a:pPr>
            <a:r>
              <a:rPr lang="en-US" sz="1800" dirty="0">
                <a:latin typeface="Aptos" panose="020B0004020202020204" pitchFamily="34" charset="0"/>
              </a:rPr>
              <a:t> </a:t>
            </a:r>
            <a:r>
              <a:rPr lang="ru-RU" sz="1800" dirty="0">
                <a:latin typeface="Aptos" panose="020B0004020202020204" pitchFamily="34" charset="0"/>
              </a:rPr>
              <a:t>Структура дерева слегка изменится, но свойство BST полностью сохранится, так как значения детей продолжают удовлетворять нужным диапазонам.</a:t>
            </a:r>
          </a:p>
          <a:p>
            <a:pPr marL="0" indent="0">
              <a:buNone/>
            </a:pPr>
            <a:endParaRPr lang="ru-RU" sz="1800" b="1" dirty="0">
              <a:latin typeface="Aptos" panose="020B0004020202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0588387-731F-4B68-B9F9-4C8371699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4255" y="3181064"/>
            <a:ext cx="6423489" cy="2382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524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E427D-4986-358B-0E33-0021FF7AE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B0381B-7495-B935-B3E6-1E827E5CB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Операция удаления </a:t>
            </a:r>
            <a:r>
              <a:rPr lang="en-US" dirty="0">
                <a:latin typeface="Aptos" panose="020B0004020202020204" pitchFamily="34" charset="0"/>
              </a:rPr>
              <a:t>(Delete)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47B6DC-1081-E583-E477-9264A6CE5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4588"/>
            <a:ext cx="10515600" cy="53482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latin typeface="Aptos" panose="020B0004020202020204" pitchFamily="34" charset="0"/>
              </a:rPr>
              <a:t>   3. </a:t>
            </a:r>
            <a:r>
              <a:rPr lang="ru-RU" sz="1800" b="1" dirty="0">
                <a:latin typeface="Aptos" panose="020B0004020202020204" pitchFamily="34" charset="0"/>
              </a:rPr>
              <a:t>Узел имеет двух детей — самый сложный случай</a:t>
            </a:r>
          </a:p>
          <a:p>
            <a:pPr marL="0" indent="0">
              <a:buNone/>
            </a:pPr>
            <a:r>
              <a:rPr lang="en-US" sz="1800" dirty="0">
                <a:latin typeface="Aptos" panose="020B0004020202020204" pitchFamily="34" charset="0"/>
              </a:rPr>
              <a:t>   </a:t>
            </a:r>
            <a:r>
              <a:rPr lang="ru-RU" sz="1800" dirty="0">
                <a:latin typeface="Aptos" panose="020B0004020202020204" pitchFamily="34" charset="0"/>
              </a:rPr>
              <a:t>Это ключевая и наиболее непростая часть операции удаления.</a:t>
            </a:r>
            <a:br>
              <a:rPr lang="ru-RU" sz="1800" dirty="0">
                <a:latin typeface="Aptos" panose="020B0004020202020204" pitchFamily="34" charset="0"/>
              </a:rPr>
            </a:br>
            <a:r>
              <a:rPr lang="ru-RU" sz="1800" dirty="0">
                <a:latin typeface="Aptos" panose="020B0004020202020204" pitchFamily="34" charset="0"/>
              </a:rPr>
              <a:t>Если у узла два потомка, мы не можем просто подтянуть одно поддерево вверх, так как нарушим правила BST.</a:t>
            </a:r>
            <a:r>
              <a:rPr lang="en-US" sz="1800" dirty="0">
                <a:latin typeface="Aptos" panose="020B0004020202020204" pitchFamily="34" charset="0"/>
              </a:rPr>
              <a:t> </a:t>
            </a:r>
            <a:r>
              <a:rPr lang="ru-RU" sz="1800" dirty="0">
                <a:latin typeface="Aptos" panose="020B0004020202020204" pitchFamily="34" charset="0"/>
              </a:rPr>
              <a:t>Решение состоит в том, чтобы найти </a:t>
            </a:r>
            <a:r>
              <a:rPr lang="ru-RU" sz="1800" b="1" dirty="0">
                <a:latin typeface="Aptos" panose="020B0004020202020204" pitchFamily="34" charset="0"/>
              </a:rPr>
              <a:t>заменяющий узел</a:t>
            </a:r>
            <a:r>
              <a:rPr lang="ru-RU" sz="1800" dirty="0">
                <a:latin typeface="Aptos" panose="020B0004020202020204" pitchFamily="34" charset="0"/>
              </a:rPr>
              <a:t> — элемент, который должен занять позицию удаляемого узла и при этом сохранить упорядоченность дерева.</a:t>
            </a:r>
            <a:r>
              <a:rPr lang="en-US" sz="1800" dirty="0">
                <a:latin typeface="Aptos" panose="020B0004020202020204" pitchFamily="34" charset="0"/>
              </a:rPr>
              <a:t> </a:t>
            </a:r>
            <a:r>
              <a:rPr lang="ru-RU" sz="1800" dirty="0">
                <a:latin typeface="Aptos" panose="020B0004020202020204" pitchFamily="34" charset="0"/>
              </a:rPr>
              <a:t>Алгоритм использует один из двух стандартных подходов:</a:t>
            </a:r>
            <a:endParaRPr lang="en-US" sz="1800" dirty="0">
              <a:latin typeface="Aptos" panose="020B0004020202020204" pitchFamily="34" charset="0"/>
            </a:endParaRPr>
          </a:p>
          <a:p>
            <a:r>
              <a:rPr lang="ru-RU" sz="1800" b="1" dirty="0">
                <a:latin typeface="Aptos" panose="020B0004020202020204" pitchFamily="34" charset="0"/>
              </a:rPr>
              <a:t>Способ 1: найти минимальный элемент в правом поддереве</a:t>
            </a:r>
            <a:endParaRPr lang="en-US" sz="1800" b="1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latin typeface="Aptos" panose="020B0004020202020204" pitchFamily="34" charset="0"/>
              </a:rPr>
              <a:t>   </a:t>
            </a:r>
            <a:r>
              <a:rPr lang="ru-RU" sz="1800" dirty="0">
                <a:latin typeface="Aptos" panose="020B0004020202020204" pitchFamily="34" charset="0"/>
              </a:rPr>
              <a:t>Этот элемент называется </a:t>
            </a:r>
            <a:r>
              <a:rPr lang="ru-RU" sz="1800" i="1" dirty="0" err="1">
                <a:latin typeface="Aptos" panose="020B0004020202020204" pitchFamily="34" charset="0"/>
              </a:rPr>
              <a:t>inorder</a:t>
            </a:r>
            <a:r>
              <a:rPr lang="ru-RU" sz="1800" i="1" dirty="0">
                <a:latin typeface="Aptos" panose="020B0004020202020204" pitchFamily="34" charset="0"/>
              </a:rPr>
              <a:t> </a:t>
            </a:r>
            <a:r>
              <a:rPr lang="ru-RU" sz="1800" i="1" dirty="0" err="1">
                <a:latin typeface="Aptos" panose="020B0004020202020204" pitchFamily="34" charset="0"/>
              </a:rPr>
              <a:t>successor</a:t>
            </a:r>
            <a:r>
              <a:rPr lang="ru-RU" sz="1800" dirty="0">
                <a:latin typeface="Aptos" panose="020B0004020202020204" pitchFamily="34" charset="0"/>
              </a:rPr>
              <a:t> — «следующий по порядку».</a:t>
            </a:r>
            <a:r>
              <a:rPr lang="en-US" sz="1800" dirty="0">
                <a:latin typeface="Aptos" panose="020B0004020202020204" pitchFamily="34" charset="0"/>
              </a:rPr>
              <a:t> </a:t>
            </a:r>
            <a:r>
              <a:rPr lang="ru-RU" sz="1800" dirty="0">
                <a:latin typeface="Aptos" panose="020B0004020202020204" pitchFamily="34" charset="0"/>
              </a:rPr>
              <a:t>Он гарантированно:</a:t>
            </a:r>
            <a:r>
              <a:rPr lang="en-US" sz="1800" dirty="0">
                <a:latin typeface="Aptos" panose="020B0004020202020204" pitchFamily="34" charset="0"/>
              </a:rPr>
              <a:t> </a:t>
            </a:r>
            <a:r>
              <a:rPr lang="ru-RU" sz="1800" dirty="0">
                <a:latin typeface="Aptos" panose="020B0004020202020204" pitchFamily="34" charset="0"/>
              </a:rPr>
              <a:t>больше всех элементов левого поддерева,</a:t>
            </a:r>
            <a:r>
              <a:rPr lang="en-US" sz="1800" dirty="0">
                <a:latin typeface="Aptos" panose="020B0004020202020204" pitchFamily="34" charset="0"/>
              </a:rPr>
              <a:t> </a:t>
            </a:r>
            <a:r>
              <a:rPr lang="ru-RU" sz="1800" dirty="0">
                <a:latin typeface="Aptos" panose="020B0004020202020204" pitchFamily="34" charset="0"/>
              </a:rPr>
              <a:t>но меньше всех остальных элементов правого поддерева.</a:t>
            </a:r>
            <a:endParaRPr lang="en-US" sz="1800" dirty="0">
              <a:latin typeface="Aptos" panose="020B0004020202020204" pitchFamily="34" charset="0"/>
            </a:endParaRPr>
          </a:p>
          <a:p>
            <a:r>
              <a:rPr lang="ru-RU" sz="1800" b="1" dirty="0">
                <a:latin typeface="Aptos" panose="020B0004020202020204" pitchFamily="34" charset="0"/>
              </a:rPr>
              <a:t>Способ 2: найти максимальный элемент в левом поддереве</a:t>
            </a:r>
            <a:endParaRPr lang="en-US" sz="1800" b="1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latin typeface="Aptos" panose="020B0004020202020204" pitchFamily="34" charset="0"/>
              </a:rPr>
              <a:t>   </a:t>
            </a:r>
            <a:r>
              <a:rPr lang="ru-RU" sz="1800" dirty="0">
                <a:latin typeface="Aptos" panose="020B0004020202020204" pitchFamily="34" charset="0"/>
              </a:rPr>
              <a:t>Этот элемент называют </a:t>
            </a:r>
            <a:r>
              <a:rPr lang="ru-RU" sz="1800" i="1" dirty="0" err="1">
                <a:latin typeface="Aptos" panose="020B0004020202020204" pitchFamily="34" charset="0"/>
              </a:rPr>
              <a:t>inorder</a:t>
            </a:r>
            <a:r>
              <a:rPr lang="ru-RU" sz="1800" i="1" dirty="0">
                <a:latin typeface="Aptos" panose="020B0004020202020204" pitchFamily="34" charset="0"/>
              </a:rPr>
              <a:t> </a:t>
            </a:r>
            <a:r>
              <a:rPr lang="ru-RU" sz="1800" i="1" dirty="0" err="1">
                <a:latin typeface="Aptos" panose="020B0004020202020204" pitchFamily="34" charset="0"/>
              </a:rPr>
              <a:t>predecessor</a:t>
            </a:r>
            <a:r>
              <a:rPr lang="ru-RU" sz="1800" dirty="0">
                <a:latin typeface="Aptos" panose="020B0004020202020204" pitchFamily="34" charset="0"/>
              </a:rPr>
              <a:t> — «предыдущий по порядку».</a:t>
            </a:r>
          </a:p>
          <a:p>
            <a:pPr marL="0" indent="0">
              <a:buNone/>
            </a:pPr>
            <a:r>
              <a:rPr lang="en-US" sz="1800" dirty="0">
                <a:latin typeface="Aptos" panose="020B0004020202020204" pitchFamily="34" charset="0"/>
              </a:rPr>
              <a:t>   </a:t>
            </a:r>
            <a:r>
              <a:rPr lang="ru-RU" sz="1800" dirty="0">
                <a:latin typeface="Aptos" panose="020B0004020202020204" pitchFamily="34" charset="0"/>
              </a:rPr>
              <a:t>Оба подхода корректны, но чаще используется поиск минимального элемента справа, так как он проще реализуется.</a:t>
            </a:r>
            <a:r>
              <a:rPr lang="en-US" sz="1800" dirty="0">
                <a:latin typeface="Aptos" panose="020B0004020202020204" pitchFamily="34" charset="0"/>
              </a:rPr>
              <a:t> </a:t>
            </a:r>
            <a:r>
              <a:rPr lang="ru-RU" sz="1800" dirty="0">
                <a:latin typeface="Aptos" panose="020B0004020202020204" pitchFamily="34" charset="0"/>
              </a:rPr>
              <a:t>После нахождения заменяющего узла происходит следующее:</a:t>
            </a:r>
            <a:endParaRPr lang="en-US" sz="1800" dirty="0">
              <a:latin typeface="Aptos" panose="020B0004020202020204" pitchFamily="34" charset="0"/>
            </a:endParaRPr>
          </a:p>
          <a:p>
            <a:r>
              <a:rPr lang="ru-RU" sz="1800" dirty="0">
                <a:latin typeface="Aptos" panose="020B0004020202020204" pitchFamily="34" charset="0"/>
              </a:rPr>
              <a:t>Значение заменяющего узла копируется в удаляемый узел.</a:t>
            </a:r>
            <a:endParaRPr lang="en-US" sz="1800" dirty="0">
              <a:latin typeface="Aptos" panose="020B0004020202020204" pitchFamily="34" charset="0"/>
            </a:endParaRPr>
          </a:p>
          <a:p>
            <a:r>
              <a:rPr lang="ru-RU" sz="1800" dirty="0">
                <a:latin typeface="Aptos" panose="020B0004020202020204" pitchFamily="34" charset="0"/>
              </a:rPr>
              <a:t>Затем вызывается обычная операция удаления </a:t>
            </a:r>
            <a:r>
              <a:rPr lang="ru-RU" sz="1800" b="1" dirty="0">
                <a:latin typeface="Aptos" panose="020B0004020202020204" pitchFamily="34" charset="0"/>
              </a:rPr>
              <a:t>уже для найденного узла</a:t>
            </a:r>
            <a:r>
              <a:rPr lang="ru-RU" sz="1800" dirty="0">
                <a:latin typeface="Aptos" panose="020B0004020202020204" pitchFamily="34" charset="0"/>
              </a:rPr>
              <a:t>, который теперь точно будет попадать в один из более простых случаев (лист или единственный ребёнок).</a:t>
            </a:r>
          </a:p>
          <a:p>
            <a:pPr marL="0" indent="0">
              <a:buNone/>
            </a:pPr>
            <a:endParaRPr lang="en-US" sz="18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90931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2AD18-1BC4-3C95-0DF2-0D8B74E22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6415B8-CE86-0D7D-1EEB-A3E145EC6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Операция удаления </a:t>
            </a:r>
            <a:r>
              <a:rPr lang="en-US" dirty="0">
                <a:latin typeface="Aptos" panose="020B0004020202020204" pitchFamily="34" charset="0"/>
              </a:rPr>
              <a:t>(Delete)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D029A0-3038-C631-BA62-B4624DE924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4588"/>
            <a:ext cx="10515600" cy="53482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Aptos" panose="020B0004020202020204" pitchFamily="34" charset="0"/>
              </a:rPr>
              <a:t>   </a:t>
            </a:r>
            <a:r>
              <a:rPr lang="ru-RU" sz="2400" dirty="0">
                <a:latin typeface="Aptos" panose="020B0004020202020204" pitchFamily="34" charset="0"/>
              </a:rPr>
              <a:t>Для ясности алгоритм удаления можно представить так:</a:t>
            </a:r>
          </a:p>
          <a:p>
            <a:r>
              <a:rPr lang="ru-RU" sz="2400" dirty="0">
                <a:latin typeface="Aptos" panose="020B0004020202020204" pitchFamily="34" charset="0"/>
              </a:rPr>
              <a:t>Найти узел с ключом </a:t>
            </a:r>
            <a:r>
              <a:rPr lang="ru-RU" sz="2400" i="1" dirty="0">
                <a:latin typeface="Aptos" panose="020B0004020202020204" pitchFamily="34" charset="0"/>
              </a:rPr>
              <a:t>k</a:t>
            </a:r>
            <a:r>
              <a:rPr lang="ru-RU" sz="2400" dirty="0">
                <a:latin typeface="Aptos" panose="020B0004020202020204" pitchFamily="34" charset="0"/>
              </a:rPr>
              <a:t>. Если его нет — завершить операцию.</a:t>
            </a:r>
          </a:p>
          <a:p>
            <a:r>
              <a:rPr lang="ru-RU" sz="2400" dirty="0">
                <a:latin typeface="Aptos" panose="020B0004020202020204" pitchFamily="34" charset="0"/>
              </a:rPr>
              <a:t>Если узел — лист, удалить его напрямую.</a:t>
            </a:r>
          </a:p>
          <a:p>
            <a:r>
              <a:rPr lang="ru-RU" sz="2400" dirty="0">
                <a:latin typeface="Aptos" panose="020B0004020202020204" pitchFamily="34" charset="0"/>
              </a:rPr>
              <a:t>Если у узла один ребёнок, заменить его ребёнком.</a:t>
            </a:r>
          </a:p>
          <a:p>
            <a:r>
              <a:rPr lang="ru-RU" sz="2400" dirty="0">
                <a:latin typeface="Aptos" panose="020B0004020202020204" pitchFamily="34" charset="0"/>
              </a:rPr>
              <a:t>Если у узла два ребёнка:</a:t>
            </a:r>
          </a:p>
          <a:p>
            <a:pPr lvl="1"/>
            <a:r>
              <a:rPr lang="ru-RU" dirty="0">
                <a:latin typeface="Aptos" panose="020B0004020202020204" pitchFamily="34" charset="0"/>
              </a:rPr>
              <a:t>найти минимальный узел в правом поддереве;</a:t>
            </a:r>
          </a:p>
          <a:p>
            <a:pPr lvl="1"/>
            <a:r>
              <a:rPr lang="ru-RU" dirty="0">
                <a:latin typeface="Aptos" panose="020B0004020202020204" pitchFamily="34" charset="0"/>
              </a:rPr>
              <a:t>скопировать его значение в удаляемый узел;</a:t>
            </a:r>
          </a:p>
          <a:p>
            <a:pPr lvl="1"/>
            <a:r>
              <a:rPr lang="ru-RU" dirty="0">
                <a:latin typeface="Aptos" panose="020B0004020202020204" pitchFamily="34" charset="0"/>
              </a:rPr>
              <a:t>удалить найденный минимальный узел по его месту.</a:t>
            </a:r>
          </a:p>
          <a:p>
            <a:pPr marL="0" indent="0">
              <a:buNone/>
            </a:pPr>
            <a:r>
              <a:rPr lang="en-US" sz="2400" dirty="0">
                <a:latin typeface="Aptos" panose="020B0004020202020204" pitchFamily="34" charset="0"/>
              </a:rPr>
              <a:t>   </a:t>
            </a:r>
            <a:r>
              <a:rPr lang="ru-RU" sz="2400" dirty="0">
                <a:latin typeface="Aptos" panose="020B0004020202020204" pitchFamily="34" charset="0"/>
              </a:rPr>
              <a:t>Несмотря на то что это выглядит компактно, на практике каждая из этих операций требует аккуратной перенастройки ссылок и проверки корректности.</a:t>
            </a:r>
          </a:p>
          <a:p>
            <a:pPr marL="0" indent="0">
              <a:buNone/>
            </a:pPr>
            <a:endParaRPr lang="en-US" sz="24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34658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C0780-3E50-73CE-F603-6F5C89C00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BB5714-0E6B-DE11-62F9-F73D64055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Операция удаления </a:t>
            </a:r>
            <a:r>
              <a:rPr lang="en-US" dirty="0">
                <a:latin typeface="Aptos" panose="020B0004020202020204" pitchFamily="34" charset="0"/>
              </a:rPr>
              <a:t>(Delete)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0A47C3-7E1A-819C-5F4E-C1D201A2F5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763069"/>
            <a:ext cx="10515600" cy="172980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800" dirty="0">
                <a:latin typeface="Aptos" panose="020B0004020202020204" pitchFamily="34" charset="0"/>
              </a:rPr>
              <a:t>   В данном примере, мы удаляем 3. Найдём минимальный элемент правого поддерева – это 4, и у него нет детей. Поэтому заменяем, удаляем 3, а вместо него ставим 4. В итоге мы при удалении узла 3, у которого 2 потомка, сохраняем структуру дерева.</a:t>
            </a:r>
            <a:endParaRPr lang="en-US" sz="1800" dirty="0">
              <a:latin typeface="Aptos" panose="020B00040202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84B0E95-5350-082A-6F51-BF609E2966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528" y="1693531"/>
            <a:ext cx="10766944" cy="2738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8285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F261E-67DE-1E27-C75F-1F515EEF3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16F9CF-8D7A-50A6-B535-278E8AC8D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Операция удаления </a:t>
            </a:r>
            <a:r>
              <a:rPr lang="en-US" dirty="0">
                <a:latin typeface="Aptos" panose="020B0004020202020204" pitchFamily="34" charset="0"/>
              </a:rPr>
              <a:t>(Delete)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994CE1D-B0BC-E521-90B6-68C3491001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44588"/>
                <a:ext cx="10515600" cy="5348287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ru-RU" sz="1400" dirty="0">
                    <a:latin typeface="Aptos" panose="020B0004020202020204" pitchFamily="34" charset="0"/>
                  </a:rPr>
                  <a:t>   Временная сложность операции удаления такая же, как и сложности поиска или вставки, так как удаление начинается с поиска нужного узла, а затем требует подъёма или замены узлов. Сложность определяется высотой дерева </a:t>
                </a:r>
                <a:r>
                  <a:rPr lang="en-US" sz="1400" dirty="0">
                    <a:latin typeface="Aptos" panose="020B0004020202020204" pitchFamily="34" charset="0"/>
                  </a:rPr>
                  <a:t>h:</a:t>
                </a:r>
              </a:p>
              <a:p>
                <a:r>
                  <a:rPr lang="ru-RU" sz="1400" b="1" dirty="0">
                    <a:latin typeface="Aptos" panose="020B0004020202020204" pitchFamily="34" charset="0"/>
                  </a:rPr>
                  <a:t>Средний случай</a:t>
                </a:r>
                <a:r>
                  <a:rPr lang="ru-RU" sz="1400" dirty="0">
                    <a:latin typeface="Aptos" panose="020B0004020202020204" pitchFamily="34" charset="0"/>
                  </a:rPr>
                  <a:t> (дерево сбалансировано):</a:t>
                </a:r>
              </a:p>
              <a:p>
                <a:pPr marL="0" indent="0">
                  <a:buNone/>
                </a:pPr>
                <a:r>
                  <a:rPr lang="ru-RU" sz="1400" dirty="0">
                    <a:latin typeface="Aptos" panose="020B0004020202020204" pitchFamily="34" charset="0"/>
                  </a:rPr>
                  <a:t>В типичных сценариях, когда дерево </a:t>
                </a:r>
                <a:r>
                  <a:rPr lang="ru-RU" sz="1400" b="1" dirty="0">
                    <a:latin typeface="Aptos" panose="020B0004020202020204" pitchFamily="34" charset="0"/>
                  </a:rPr>
                  <a:t>не полностью сбалансировано, но и не вырождено</a:t>
                </a:r>
                <a:r>
                  <a:rPr lang="ru-RU" sz="1400" dirty="0">
                    <a:latin typeface="Aptos" panose="020B0004020202020204" pitchFamily="34" charset="0"/>
                  </a:rPr>
                  <a:t>, его высота близка к логарифмической. Это означает:</a:t>
                </a:r>
              </a:p>
              <a:p>
                <a:r>
                  <a:rPr lang="ru-RU" sz="1400" dirty="0">
                    <a:latin typeface="Aptos" panose="020B0004020202020204" pitchFamily="34" charset="0"/>
                  </a:rPr>
                  <a:t>узел, который нужно удалить, находится за ~</a:t>
                </a:r>
                <a:r>
                  <a:rPr lang="en-US" sz="1400" dirty="0">
                    <a:latin typeface="Aptos" panose="020B0004020202020204" pitchFamily="34" charset="0"/>
                  </a:rPr>
                  <a:t>log n </a:t>
                </a:r>
                <a:r>
                  <a:rPr lang="ru-RU" sz="1400" dirty="0">
                    <a:latin typeface="Aptos" panose="020B0004020202020204" pitchFamily="34" charset="0"/>
                  </a:rPr>
                  <a:t>сравнений;</a:t>
                </a:r>
              </a:p>
              <a:p>
                <a:r>
                  <a:rPr lang="en-US" sz="1400" dirty="0">
                    <a:latin typeface="Aptos" panose="020B0004020202020204" pitchFamily="34" charset="0"/>
                  </a:rPr>
                  <a:t>successor (</a:t>
                </a:r>
                <a:r>
                  <a:rPr lang="ru-RU" sz="1400" dirty="0">
                    <a:latin typeface="Aptos" panose="020B0004020202020204" pitchFamily="34" charset="0"/>
                  </a:rPr>
                  <a:t>или </a:t>
                </a:r>
                <a:r>
                  <a:rPr lang="en-US" sz="1400" dirty="0">
                    <a:latin typeface="Aptos" panose="020B0004020202020204" pitchFamily="34" charset="0"/>
                  </a:rPr>
                  <a:t>predecessor), </a:t>
                </a:r>
                <a:r>
                  <a:rPr lang="ru-RU" sz="1400" dirty="0">
                    <a:latin typeface="Aptos" panose="020B0004020202020204" pitchFamily="34" charset="0"/>
                  </a:rPr>
                  <a:t>если он нужен, тоже ищется за ~</a:t>
                </a:r>
                <a:r>
                  <a:rPr lang="en-US" sz="1400" dirty="0">
                    <a:latin typeface="Aptos" panose="020B0004020202020204" pitchFamily="34" charset="0"/>
                  </a:rPr>
                  <a:t>log n;</a:t>
                </a:r>
              </a:p>
              <a:p>
                <a:r>
                  <a:rPr lang="ru-RU" sz="1400" dirty="0">
                    <a:latin typeface="Aptos" panose="020B0004020202020204" pitchFamily="34" charset="0"/>
                  </a:rPr>
                  <a:t>переподключение узлов требует константной работы;</a:t>
                </a:r>
              </a:p>
              <a:p>
                <a:r>
                  <a:rPr lang="ru-RU" sz="1400" dirty="0">
                    <a:latin typeface="Aptos" panose="020B0004020202020204" pitchFamily="34" charset="0"/>
                  </a:rPr>
                  <a:t>весь процесс в сумме выполняется в логарифмическое время.</a:t>
                </a:r>
              </a:p>
              <a:p>
                <a:pPr marL="0" indent="0">
                  <a:buNone/>
                </a:pPr>
                <a:r>
                  <a:rPr lang="ru-RU" sz="1400" dirty="0">
                    <a:latin typeface="Aptos" panose="020B0004020202020204" pitchFamily="34" charset="0"/>
                  </a:rPr>
                  <a:t>Таким образом: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 i="1">
                          <a:latin typeface="Cambria Math" panose="02040503050406030204" pitchFamily="18" charset="0"/>
                        </a:rPr>
                        <m:t>𝐴𝑣𝑒𝑟𝑎𝑔𝑒</m:t>
                      </m:r>
                      <m:r>
                        <a:rPr lang="ru-RU" sz="1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1400" i="1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ar-AE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ar-AE" sz="1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ar-AE" sz="1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ar-AE" sz="1400" dirty="0">
                  <a:latin typeface="Aptos" panose="020B0004020202020204" pitchFamily="34" charset="0"/>
                </a:endParaRPr>
              </a:p>
              <a:p>
                <a:pPr marL="0" indent="0">
                  <a:buNone/>
                </a:pPr>
                <a:r>
                  <a:rPr lang="ru-RU" sz="1400" dirty="0">
                    <a:latin typeface="Aptos" panose="020B0004020202020204" pitchFamily="34" charset="0"/>
                  </a:rPr>
                  <a:t>Это относится ко всем случаям: узел — лист, узел — с одним ребёнком, узел — с двумя детьми. Именно поэтому </a:t>
                </a:r>
                <a:r>
                  <a:rPr lang="en-US" sz="1400" dirty="0">
                    <a:latin typeface="Aptos" panose="020B0004020202020204" pitchFamily="34" charset="0"/>
                  </a:rPr>
                  <a:t>BST </a:t>
                </a:r>
                <a:r>
                  <a:rPr lang="ru-RU" sz="1400" dirty="0">
                    <a:latin typeface="Aptos" panose="020B0004020202020204" pitchFamily="34" charset="0"/>
                  </a:rPr>
                  <a:t>считается эффективной структурой — если дерево имеет нормальную высоту.</a:t>
                </a:r>
                <a:endParaRPr lang="ar-AE" sz="1400" dirty="0">
                  <a:latin typeface="Aptos" panose="020B0004020202020204" pitchFamily="34" charset="0"/>
                </a:endParaRPr>
              </a:p>
              <a:p>
                <a:r>
                  <a:rPr lang="ru-RU" sz="1400" b="1" dirty="0">
                    <a:latin typeface="Aptos" panose="020B0004020202020204" pitchFamily="34" charset="0"/>
                  </a:rPr>
                  <a:t>Худший случай</a:t>
                </a:r>
                <a:r>
                  <a:rPr lang="ru-RU" sz="1400" dirty="0">
                    <a:latin typeface="Aptos" panose="020B0004020202020204" pitchFamily="34" charset="0"/>
                  </a:rPr>
                  <a:t> (дерево вырождено):</a:t>
                </a:r>
              </a:p>
              <a:p>
                <a:pPr marL="0" indent="0">
                  <a:buNone/>
                </a:pPr>
                <a:r>
                  <a:rPr lang="ru-RU" sz="1400" dirty="0">
                    <a:latin typeface="Aptos" panose="020B0004020202020204" pitchFamily="34" charset="0"/>
                  </a:rPr>
                  <a:t>Худший случай возникает, когда BST превращается в </a:t>
                </a:r>
                <a:r>
                  <a:rPr lang="ru-RU" sz="1400" b="1" dirty="0">
                    <a:latin typeface="Aptos" panose="020B0004020202020204" pitchFamily="34" charset="0"/>
                  </a:rPr>
                  <a:t>вырожденное дерево</a:t>
                </a:r>
                <a:r>
                  <a:rPr lang="ru-RU" sz="1400" dirty="0">
                    <a:latin typeface="Aptos" panose="020B0004020202020204" pitchFamily="34" charset="0"/>
                  </a:rPr>
                  <a:t>, то есть фактически в </a:t>
                </a:r>
                <a:r>
                  <a:rPr lang="ru-RU" sz="1400" b="1" dirty="0">
                    <a:latin typeface="Aptos" panose="020B0004020202020204" pitchFamily="34" charset="0"/>
                  </a:rPr>
                  <a:t>односвязный список</a:t>
                </a:r>
                <a:r>
                  <a:rPr lang="ru-RU" sz="1400" dirty="0">
                    <a:latin typeface="Aptos" panose="020B0004020202020204" pitchFamily="34" charset="0"/>
                  </a:rPr>
                  <a:t>. Высота дерева в этом случае равна количеству элементов: </a:t>
                </a:r>
                <a14:m>
                  <m:oMath xmlns:m="http://schemas.openxmlformats.org/officeDocument/2006/math">
                    <m:r>
                      <a:rPr lang="ru-RU" sz="1400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ru-RU" sz="1400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sz="14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sz="1400" dirty="0">
                    <a:latin typeface="Aptos" panose="020B0004020202020204" pitchFamily="34" charset="0"/>
                  </a:rPr>
                  <a:t>. Тогда: поиск узла → </a:t>
                </a:r>
                <a:r>
                  <a:rPr lang="en-US" sz="1400" dirty="0">
                    <a:latin typeface="Aptos" panose="020B0004020202020204" pitchFamily="34" charset="0"/>
                  </a:rPr>
                  <a:t>O(n)</a:t>
                </a:r>
                <a:r>
                  <a:rPr lang="ru-RU" sz="1400" dirty="0">
                    <a:latin typeface="Aptos" panose="020B0004020202020204" pitchFamily="34" charset="0"/>
                  </a:rPr>
                  <a:t>, поиск </a:t>
                </a:r>
                <a:r>
                  <a:rPr lang="en-US" sz="1400" dirty="0">
                    <a:latin typeface="Aptos" panose="020B0004020202020204" pitchFamily="34" charset="0"/>
                  </a:rPr>
                  <a:t>successor (</a:t>
                </a:r>
                <a:r>
                  <a:rPr lang="ru-RU" sz="1400" dirty="0">
                    <a:latin typeface="Aptos" panose="020B0004020202020204" pitchFamily="34" charset="0"/>
                  </a:rPr>
                  <a:t>если нужен) → </a:t>
                </a:r>
                <a:r>
                  <a:rPr lang="en-US" sz="1400" dirty="0">
                    <a:latin typeface="Aptos" panose="020B0004020202020204" pitchFamily="34" charset="0"/>
                  </a:rPr>
                  <a:t>O(n)</a:t>
                </a:r>
                <a:r>
                  <a:rPr lang="ru-RU" sz="1400" dirty="0">
                    <a:latin typeface="Aptos" panose="020B0004020202020204" pitchFamily="34" charset="0"/>
                  </a:rPr>
                  <a:t>, удаление → </a:t>
                </a:r>
                <a:r>
                  <a:rPr lang="en-US" sz="1400" dirty="0">
                    <a:latin typeface="Aptos" panose="020B0004020202020204" pitchFamily="34" charset="0"/>
                  </a:rPr>
                  <a:t>O(1)</a:t>
                </a:r>
              </a:p>
              <a:p>
                <a:pPr marL="0" indent="0">
                  <a:buNone/>
                </a:pPr>
                <a:r>
                  <a:rPr lang="ru-RU" sz="1400" dirty="0">
                    <a:latin typeface="Aptos" panose="020B0004020202020204" pitchFamily="34" charset="0"/>
                  </a:rPr>
                  <a:t>И итоговая сложность: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 i="1">
                          <a:latin typeface="Cambria Math" panose="02040503050406030204" pitchFamily="18" charset="0"/>
                        </a:rPr>
                        <m:t>𝑊𝑜𝑟𝑠𝑡</m:t>
                      </m:r>
                      <m:r>
                        <a:rPr lang="ru-RU" sz="1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1400" i="1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ar-AE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4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ar-AE" sz="1400" dirty="0">
                  <a:latin typeface="Aptos" panose="020B0004020202020204" pitchFamily="34" charset="0"/>
                </a:endParaRPr>
              </a:p>
              <a:p>
                <a:pPr marL="0" indent="0">
                  <a:buNone/>
                </a:pPr>
                <a:endParaRPr lang="ru-RU" sz="1400" dirty="0">
                  <a:latin typeface="Aptos" panose="020B0004020202020204" pitchFamily="34" charset="0"/>
                </a:endParaRPr>
              </a:p>
              <a:p>
                <a:pPr marL="0" indent="0">
                  <a:buNone/>
                </a:pPr>
                <a:endParaRPr lang="en-US" sz="14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994CE1D-B0BC-E521-90B6-68C3491001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44588"/>
                <a:ext cx="10515600" cy="5348287"/>
              </a:xfrm>
              <a:blipFill>
                <a:blip r:embed="rId2"/>
                <a:stretch>
                  <a:fillRect l="-174" t="-57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00729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9809C-F3CC-606A-C8C6-7BC9CC71D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5C8A64-8FA2-3BFF-7DFE-6BF77CB6F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ptos Display" panose="020B0004020202020204" pitchFamily="34" charset="0"/>
              </a:rPr>
              <a:t>Операция поиска</a:t>
            </a:r>
            <a:r>
              <a:rPr lang="en-US" dirty="0">
                <a:latin typeface="Aptos Display" panose="020B0004020202020204" pitchFamily="34" charset="0"/>
              </a:rPr>
              <a:t> (Search)</a:t>
            </a:r>
            <a:endParaRPr lang="ru-RU" dirty="0">
              <a:latin typeface="Aptos Display" panose="020B00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CDFD63-08E2-F8AD-FC1D-A07767C44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4588"/>
            <a:ext cx="10515600" cy="53482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az-Latn-AZ" sz="1400" dirty="0">
                <a:latin typeface="Aptos" panose="020B0004020202020204" pitchFamily="34" charset="0"/>
              </a:rPr>
              <a:t>   </a:t>
            </a:r>
            <a:r>
              <a:rPr lang="ru-RU" sz="1400" b="1" dirty="0">
                <a:latin typeface="Aptos" panose="020B0004020202020204" pitchFamily="34" charset="0"/>
              </a:rPr>
              <a:t>Операция поиска</a:t>
            </a:r>
            <a:r>
              <a:rPr lang="en-US" sz="1400" b="1" dirty="0">
                <a:latin typeface="Aptos" panose="020B0004020202020204" pitchFamily="34" charset="0"/>
              </a:rPr>
              <a:t> (search)</a:t>
            </a:r>
            <a:r>
              <a:rPr lang="ru-RU" sz="1400" b="1" dirty="0">
                <a:latin typeface="Aptos" panose="020B0004020202020204" pitchFamily="34" charset="0"/>
              </a:rPr>
              <a:t> </a:t>
            </a:r>
            <a:r>
              <a:rPr lang="ru-RU" sz="1400" dirty="0">
                <a:latin typeface="Aptos" panose="020B0004020202020204" pitchFamily="34" charset="0"/>
              </a:rPr>
              <a:t>в двоичном дереве поиска является одной из ключевых, поскольку именно она демонстрирует главный смысл структуры BST — </a:t>
            </a:r>
            <a:r>
              <a:rPr lang="ru-RU" sz="1400" i="1" dirty="0">
                <a:latin typeface="Aptos" panose="020B0004020202020204" pitchFamily="34" charset="0"/>
              </a:rPr>
              <a:t>эффективно находить нужный ключ, используя свойство упорядоченности дерева</a:t>
            </a:r>
            <a:r>
              <a:rPr lang="ru-RU" sz="1400" dirty="0">
                <a:latin typeface="Aptos" panose="020B0004020202020204" pitchFamily="34" charset="0"/>
              </a:rPr>
              <a:t>. В отличие от линейных структур, где поиск элемента требует полного перебора всех значений, бинарное дерево поиска позволяет значительно сокращать область поиска благодаря своей иерархической структуре.</a:t>
            </a:r>
          </a:p>
          <a:p>
            <a:pPr marL="0" indent="0">
              <a:buNone/>
            </a:pPr>
            <a:r>
              <a:rPr lang="az-Latn-AZ" sz="1400" b="1" dirty="0">
                <a:latin typeface="Aptos" panose="020B0004020202020204" pitchFamily="34" charset="0"/>
              </a:rPr>
              <a:t>   </a:t>
            </a:r>
            <a:r>
              <a:rPr lang="ru-RU" sz="1400" b="1" dirty="0">
                <a:latin typeface="Aptos" panose="020B0004020202020204" pitchFamily="34" charset="0"/>
              </a:rPr>
              <a:t>Общая идея поиска в BST</a:t>
            </a:r>
          </a:p>
          <a:p>
            <a:pPr marL="0" indent="0">
              <a:buNone/>
            </a:pPr>
            <a:r>
              <a:rPr lang="az-Latn-AZ" sz="1400" dirty="0">
                <a:latin typeface="Aptos" panose="020B0004020202020204" pitchFamily="34" charset="0"/>
              </a:rPr>
              <a:t>   </a:t>
            </a:r>
            <a:r>
              <a:rPr lang="ru-RU" sz="1400" dirty="0">
                <a:latin typeface="Aptos" panose="020B0004020202020204" pitchFamily="34" charset="0"/>
              </a:rPr>
              <a:t>Поиск основывается на фундаментальном свойстве дерева: все ключи, расположенные в левом поддереве узла, строго меньше его собственного ключа, а все ключи в правом — строго больше. Это позволяет на каждом шаге однозначно выбирать нужное направление и исключать половину оставшегося дерева из рассмотрения.</a:t>
            </a:r>
          </a:p>
          <a:p>
            <a:pPr marL="0" indent="0">
              <a:buNone/>
            </a:pPr>
            <a:r>
              <a:rPr lang="az-Latn-AZ" sz="1400" dirty="0">
                <a:latin typeface="Aptos" panose="020B0004020202020204" pitchFamily="34" charset="0"/>
              </a:rPr>
              <a:t>   </a:t>
            </a:r>
            <a:r>
              <a:rPr lang="ru-RU" sz="1400" dirty="0">
                <a:latin typeface="Aptos" panose="020B0004020202020204" pitchFamily="34" charset="0"/>
              </a:rPr>
              <a:t>Если сравнить процесс поиска с бинарным поиском в массиве, можно заметить много общего: и там, и там алгоритм последовательно сужает диапазон поиска. Однако в BST эта логика реализована через структуру узлов, а не через индексы.</a:t>
            </a:r>
            <a:endParaRPr lang="az-Latn-AZ" sz="14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ru-RU" sz="1400" b="1" dirty="0">
                <a:latin typeface="Aptos" panose="020B0004020202020204" pitchFamily="34" charset="0"/>
              </a:rPr>
              <a:t>Как работает поиск — концептуально</a:t>
            </a:r>
          </a:p>
          <a:p>
            <a:pPr marL="0" indent="0">
              <a:buNone/>
            </a:pPr>
            <a:r>
              <a:rPr lang="ru-RU" sz="1400" dirty="0">
                <a:latin typeface="Aptos" panose="020B0004020202020204" pitchFamily="34" charset="0"/>
              </a:rPr>
              <a:t>Когда алгоритм пытается найти некоторый ключ, он начинает с корневого узла и последовательно спускается вниз:</a:t>
            </a:r>
          </a:p>
          <a:p>
            <a:r>
              <a:rPr lang="ru-RU" sz="1400" dirty="0">
                <a:latin typeface="Aptos" panose="020B0004020202020204" pitchFamily="34" charset="0"/>
              </a:rPr>
              <a:t>если искомый ключ </a:t>
            </a:r>
            <a:r>
              <a:rPr lang="ru-RU" sz="1400" b="1" dirty="0">
                <a:latin typeface="Aptos" panose="020B0004020202020204" pitchFamily="34" charset="0"/>
              </a:rPr>
              <a:t>меньше</a:t>
            </a:r>
            <a:r>
              <a:rPr lang="ru-RU" sz="1400" dirty="0">
                <a:latin typeface="Aptos" panose="020B0004020202020204" pitchFamily="34" charset="0"/>
              </a:rPr>
              <a:t> ключа текущего узла, алгоритм идёт в </a:t>
            </a:r>
            <a:r>
              <a:rPr lang="ru-RU" sz="1400" b="1" dirty="0">
                <a:latin typeface="Aptos" panose="020B0004020202020204" pitchFamily="34" charset="0"/>
              </a:rPr>
              <a:t>левое</a:t>
            </a:r>
            <a:r>
              <a:rPr lang="ru-RU" sz="1400" dirty="0">
                <a:latin typeface="Aptos" panose="020B0004020202020204" pitchFamily="34" charset="0"/>
              </a:rPr>
              <a:t> поддерево;</a:t>
            </a:r>
          </a:p>
          <a:p>
            <a:r>
              <a:rPr lang="ru-RU" sz="1400" dirty="0">
                <a:latin typeface="Aptos" panose="020B0004020202020204" pitchFamily="34" charset="0"/>
              </a:rPr>
              <a:t>если искомый ключ </a:t>
            </a:r>
            <a:r>
              <a:rPr lang="ru-RU" sz="1400" b="1" dirty="0">
                <a:latin typeface="Aptos" panose="020B0004020202020204" pitchFamily="34" charset="0"/>
              </a:rPr>
              <a:t>больше</a:t>
            </a:r>
            <a:r>
              <a:rPr lang="ru-RU" sz="1400" dirty="0">
                <a:latin typeface="Aptos" panose="020B0004020202020204" pitchFamily="34" charset="0"/>
              </a:rPr>
              <a:t>, движение происходит в </a:t>
            </a:r>
            <a:r>
              <a:rPr lang="ru-RU" sz="1400" b="1" dirty="0">
                <a:latin typeface="Aptos" panose="020B0004020202020204" pitchFamily="34" charset="0"/>
              </a:rPr>
              <a:t>правое</a:t>
            </a:r>
            <a:r>
              <a:rPr lang="ru-RU" sz="1400" dirty="0">
                <a:latin typeface="Aptos" panose="020B0004020202020204" pitchFamily="34" charset="0"/>
              </a:rPr>
              <a:t> поддерево;</a:t>
            </a:r>
          </a:p>
          <a:p>
            <a:r>
              <a:rPr lang="ru-RU" sz="1400" dirty="0">
                <a:latin typeface="Aptos" panose="020B0004020202020204" pitchFamily="34" charset="0"/>
              </a:rPr>
              <a:t>если ключ равен ключу текущего узла, поиск завершается успешно.</a:t>
            </a:r>
          </a:p>
          <a:p>
            <a:r>
              <a:rPr lang="ru-RU" sz="1400" dirty="0">
                <a:latin typeface="Aptos" panose="020B0004020202020204" pitchFamily="34" charset="0"/>
              </a:rPr>
              <a:t>Если алгоритм доходит до пустой ссылки </a:t>
            </a:r>
            <a:r>
              <a:rPr lang="ru-RU" sz="1400" i="1" dirty="0">
                <a:latin typeface="Aptos" panose="020B0004020202020204" pitchFamily="34" charset="0"/>
              </a:rPr>
              <a:t>(</a:t>
            </a:r>
            <a:r>
              <a:rPr lang="ru-RU" sz="1400" i="1" dirty="0" err="1">
                <a:latin typeface="Aptos" panose="020B0004020202020204" pitchFamily="34" charset="0"/>
              </a:rPr>
              <a:t>null</a:t>
            </a:r>
            <a:r>
              <a:rPr lang="ru-RU" sz="1400" i="1" dirty="0">
                <a:latin typeface="Aptos" panose="020B0004020202020204" pitchFamily="34" charset="0"/>
              </a:rPr>
              <a:t>), </a:t>
            </a:r>
            <a:r>
              <a:rPr lang="ru-RU" sz="1400" dirty="0">
                <a:latin typeface="Aptos" panose="020B0004020202020204" pitchFamily="34" charset="0"/>
              </a:rPr>
              <a:t>это означает, что элемент отсутствует в дереве.</a:t>
            </a:r>
          </a:p>
          <a:p>
            <a:pPr marL="0" indent="0">
              <a:buNone/>
            </a:pPr>
            <a:r>
              <a:rPr lang="ru-RU" sz="1400" dirty="0">
                <a:latin typeface="Aptos" panose="020B0004020202020204" pitchFamily="34" charset="0"/>
              </a:rPr>
              <a:t>Таким образом, поиск в BST — это последовательность сравнений и выбор направлений, которые определяются только отношением между ключами.</a:t>
            </a:r>
          </a:p>
          <a:p>
            <a:pPr marL="0" indent="0">
              <a:buNone/>
            </a:pPr>
            <a:endParaRPr lang="ru-RU" sz="1400" dirty="0"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en-US" sz="14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5349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63858-A40E-9143-9634-77C4FC48B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5F8A87-DB31-4A53-7340-F6C436AE3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ptos Display" panose="020B0004020202020204" pitchFamily="34" charset="0"/>
              </a:rPr>
              <a:t>Операция поиска</a:t>
            </a:r>
            <a:r>
              <a:rPr lang="en-US" dirty="0">
                <a:latin typeface="Aptos Display" panose="020B0004020202020204" pitchFamily="34" charset="0"/>
              </a:rPr>
              <a:t> (Search)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25509E-74B9-03F5-4C0C-674C206E65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4588"/>
            <a:ext cx="10515600" cy="53482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b="1" dirty="0">
                <a:latin typeface="Aptos" panose="020B0004020202020204" pitchFamily="34" charset="0"/>
              </a:rPr>
              <a:t>Алгоритм поиска</a:t>
            </a:r>
          </a:p>
          <a:p>
            <a:pPr marL="0" indent="0">
              <a:buNone/>
            </a:pPr>
            <a:r>
              <a:rPr lang="ru-RU" sz="2400" dirty="0">
                <a:latin typeface="Aptos" panose="020B0004020202020204" pitchFamily="34" charset="0"/>
              </a:rPr>
              <a:t>Чтобы компактно выразить логику операции, можно свести её к нескольким шагам:</a:t>
            </a:r>
          </a:p>
          <a:p>
            <a:pPr marL="0" indent="0">
              <a:buNone/>
            </a:pPr>
            <a:r>
              <a:rPr lang="ru-RU" sz="2400" b="1" dirty="0">
                <a:latin typeface="Aptos" panose="020B0004020202020204" pitchFamily="34" charset="0"/>
              </a:rPr>
              <a:t>Начать с корневого узла.</a:t>
            </a:r>
            <a:endParaRPr lang="ru-RU" sz="2400" dirty="0">
              <a:latin typeface="Aptos" panose="020B0004020202020204" pitchFamily="34" charset="0"/>
            </a:endParaRPr>
          </a:p>
          <a:p>
            <a:r>
              <a:rPr lang="ru-RU" sz="2400" dirty="0">
                <a:latin typeface="Aptos" panose="020B0004020202020204" pitchFamily="34" charset="0"/>
              </a:rPr>
              <a:t>Если текущий узел отсутствует — ключ не найден.</a:t>
            </a:r>
          </a:p>
          <a:p>
            <a:r>
              <a:rPr lang="ru-RU" sz="2400" dirty="0">
                <a:latin typeface="Aptos" panose="020B0004020202020204" pitchFamily="34" charset="0"/>
              </a:rPr>
              <a:t>Если </a:t>
            </a:r>
            <a:r>
              <a:rPr lang="ru-RU" sz="2400" i="1" dirty="0" err="1">
                <a:latin typeface="Aptos" panose="020B0004020202020204" pitchFamily="34" charset="0"/>
              </a:rPr>
              <a:t>key</a:t>
            </a:r>
            <a:r>
              <a:rPr lang="ru-RU" sz="2400" i="1" dirty="0">
                <a:latin typeface="Aptos" panose="020B0004020202020204" pitchFamily="34" charset="0"/>
              </a:rPr>
              <a:t> == </a:t>
            </a:r>
            <a:r>
              <a:rPr lang="ru-RU" sz="2400" i="1" dirty="0" err="1">
                <a:latin typeface="Aptos" panose="020B0004020202020204" pitchFamily="34" charset="0"/>
              </a:rPr>
              <a:t>current.key</a:t>
            </a:r>
            <a:r>
              <a:rPr lang="ru-RU" sz="2400" i="1" dirty="0">
                <a:latin typeface="Aptos" panose="020B0004020202020204" pitchFamily="34" charset="0"/>
              </a:rPr>
              <a:t> </a:t>
            </a:r>
            <a:r>
              <a:rPr lang="ru-RU" sz="2400" dirty="0">
                <a:latin typeface="Aptos" panose="020B0004020202020204" pitchFamily="34" charset="0"/>
              </a:rPr>
              <a:t>— элемент найден.</a:t>
            </a:r>
          </a:p>
          <a:p>
            <a:r>
              <a:rPr lang="ru-RU" sz="2400" dirty="0">
                <a:latin typeface="Aptos" panose="020B0004020202020204" pitchFamily="34" charset="0"/>
              </a:rPr>
              <a:t>Если </a:t>
            </a:r>
            <a:r>
              <a:rPr lang="ru-RU" sz="2400" i="1" dirty="0" err="1">
                <a:latin typeface="Aptos" panose="020B0004020202020204" pitchFamily="34" charset="0"/>
              </a:rPr>
              <a:t>key</a:t>
            </a:r>
            <a:r>
              <a:rPr lang="ru-RU" sz="2400" i="1" dirty="0">
                <a:latin typeface="Aptos" panose="020B0004020202020204" pitchFamily="34" charset="0"/>
              </a:rPr>
              <a:t> &lt; </a:t>
            </a:r>
            <a:r>
              <a:rPr lang="ru-RU" sz="2400" i="1" dirty="0" err="1">
                <a:latin typeface="Aptos" panose="020B0004020202020204" pitchFamily="34" charset="0"/>
              </a:rPr>
              <a:t>current.key</a:t>
            </a:r>
            <a:r>
              <a:rPr lang="ru-RU" sz="2400" i="1" dirty="0">
                <a:latin typeface="Aptos" panose="020B0004020202020204" pitchFamily="34" charset="0"/>
              </a:rPr>
              <a:t> </a:t>
            </a:r>
            <a:r>
              <a:rPr lang="ru-RU" sz="2400" dirty="0">
                <a:latin typeface="Aptos" panose="020B0004020202020204" pitchFamily="34" charset="0"/>
              </a:rPr>
              <a:t>— перейти в левое поддерево.</a:t>
            </a:r>
          </a:p>
          <a:p>
            <a:r>
              <a:rPr lang="ru-RU" sz="2400" dirty="0">
                <a:latin typeface="Aptos" panose="020B0004020202020204" pitchFamily="34" charset="0"/>
              </a:rPr>
              <a:t>Если </a:t>
            </a:r>
            <a:r>
              <a:rPr lang="ru-RU" sz="2400" i="1" dirty="0" err="1">
                <a:latin typeface="Aptos" panose="020B0004020202020204" pitchFamily="34" charset="0"/>
              </a:rPr>
              <a:t>key</a:t>
            </a:r>
            <a:r>
              <a:rPr lang="ru-RU" sz="2400" i="1" dirty="0">
                <a:latin typeface="Aptos" panose="020B0004020202020204" pitchFamily="34" charset="0"/>
              </a:rPr>
              <a:t> &gt; </a:t>
            </a:r>
            <a:r>
              <a:rPr lang="ru-RU" sz="2400" i="1" dirty="0" err="1">
                <a:latin typeface="Aptos" panose="020B0004020202020204" pitchFamily="34" charset="0"/>
              </a:rPr>
              <a:t>current.key</a:t>
            </a:r>
            <a:r>
              <a:rPr lang="ru-RU" sz="2400" i="1" dirty="0">
                <a:latin typeface="Aptos" panose="020B0004020202020204" pitchFamily="34" charset="0"/>
              </a:rPr>
              <a:t> </a:t>
            </a:r>
            <a:r>
              <a:rPr lang="ru-RU" sz="2400" dirty="0">
                <a:latin typeface="Aptos" panose="020B0004020202020204" pitchFamily="34" charset="0"/>
              </a:rPr>
              <a:t>— перейти в правое поддерево.</a:t>
            </a:r>
          </a:p>
          <a:p>
            <a:r>
              <a:rPr lang="ru-RU" sz="2400" dirty="0">
                <a:latin typeface="Aptos" panose="020B0004020202020204" pitchFamily="34" charset="0"/>
              </a:rPr>
              <a:t>Повторять процесс до успеха или до достижения пустой ссылки.</a:t>
            </a:r>
          </a:p>
          <a:p>
            <a:pPr marL="0" indent="0">
              <a:buNone/>
            </a:pPr>
            <a:r>
              <a:rPr lang="ru-RU" sz="2400" dirty="0">
                <a:latin typeface="Aptos" panose="020B0004020202020204" pitchFamily="34" charset="0"/>
              </a:rPr>
              <a:t>Этот алгоритм одинаков и для рекурсивной, и для итеративной реализаций.</a:t>
            </a:r>
          </a:p>
          <a:p>
            <a:pPr marL="0" indent="0">
              <a:buNone/>
            </a:pPr>
            <a:endParaRPr lang="ru-RU" sz="2400" dirty="0"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25248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F28C1-F120-6F2A-279C-547997D64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0C8B56-0A6F-4DE8-5128-2DF8EA4F3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ptos Display" panose="020B0004020202020204" pitchFamily="34" charset="0"/>
              </a:rPr>
              <a:t>Операция поиска</a:t>
            </a:r>
            <a:r>
              <a:rPr lang="en-US" dirty="0">
                <a:latin typeface="Aptos Display" panose="020B0004020202020204" pitchFamily="34" charset="0"/>
              </a:rPr>
              <a:t> (Search)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75FF6F-D21A-DF01-53AA-E7969BFC31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4588"/>
            <a:ext cx="5257800" cy="53482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b="1" dirty="0">
                <a:latin typeface="Aptos" panose="020B0004020202020204" pitchFamily="34" charset="0"/>
              </a:rPr>
              <a:t>Пример поиска</a:t>
            </a:r>
            <a:endParaRPr lang="en-US" b="1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ru-RU" dirty="0">
                <a:latin typeface="Aptos" panose="020B0004020202020204" pitchFamily="34" charset="0"/>
              </a:rPr>
              <a:t>Ищем ключ </a:t>
            </a:r>
            <a:r>
              <a:rPr lang="en-US" b="1" dirty="0">
                <a:latin typeface="Aptos" panose="020B0004020202020204" pitchFamily="34" charset="0"/>
              </a:rPr>
              <a:t>4</a:t>
            </a:r>
            <a:r>
              <a:rPr lang="ru-RU" dirty="0">
                <a:latin typeface="Aptos" panose="020B0004020202020204" pitchFamily="34" charset="0"/>
              </a:rPr>
              <a:t>:</a:t>
            </a:r>
          </a:p>
          <a:p>
            <a:r>
              <a:rPr lang="en-US" dirty="0">
                <a:latin typeface="Aptos" panose="020B0004020202020204" pitchFamily="34" charset="0"/>
              </a:rPr>
              <a:t>4</a:t>
            </a:r>
            <a:r>
              <a:rPr lang="ru-RU" dirty="0">
                <a:latin typeface="Aptos" panose="020B0004020202020204" pitchFamily="34" charset="0"/>
              </a:rPr>
              <a:t> сравнивается с 8 → меньше → идём влево.</a:t>
            </a:r>
          </a:p>
          <a:p>
            <a:r>
              <a:rPr lang="en-US" dirty="0">
                <a:latin typeface="Aptos" panose="020B0004020202020204" pitchFamily="34" charset="0"/>
              </a:rPr>
              <a:t>4</a:t>
            </a:r>
            <a:r>
              <a:rPr lang="ru-RU" dirty="0">
                <a:latin typeface="Aptos" panose="020B0004020202020204" pitchFamily="34" charset="0"/>
              </a:rPr>
              <a:t> сравнивается с 3 → больше → идём вправо.</a:t>
            </a:r>
          </a:p>
          <a:p>
            <a:r>
              <a:rPr lang="en-US" dirty="0">
                <a:latin typeface="Aptos" panose="020B0004020202020204" pitchFamily="34" charset="0"/>
              </a:rPr>
              <a:t>4</a:t>
            </a:r>
            <a:r>
              <a:rPr lang="ru-RU" dirty="0">
                <a:latin typeface="Aptos" panose="020B0004020202020204" pitchFamily="34" charset="0"/>
              </a:rPr>
              <a:t> сравнивается с 6 → меньше → идём влево.</a:t>
            </a:r>
          </a:p>
          <a:p>
            <a:r>
              <a:rPr lang="ru-RU" dirty="0">
                <a:latin typeface="Aptos" panose="020B0004020202020204" pitchFamily="34" charset="0"/>
              </a:rPr>
              <a:t>4 сравнивается с 4 → ключ найден.</a:t>
            </a:r>
          </a:p>
          <a:p>
            <a:pPr marL="0" indent="0">
              <a:buNone/>
            </a:pPr>
            <a:endParaRPr lang="ru-RU" b="1" dirty="0">
              <a:latin typeface="Aptos" panose="020B00040202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A83DE61-578D-22C8-AF94-0FCF2EB7C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782841"/>
            <a:ext cx="4698953" cy="3930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2527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A186E-7287-981B-89C7-DD6099FA0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0C7272-4B1E-08B3-618E-BE19965F0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ptos Display" panose="020B0004020202020204" pitchFamily="34" charset="0"/>
              </a:rPr>
              <a:t>Операция поиска</a:t>
            </a:r>
            <a:r>
              <a:rPr lang="en-US" dirty="0">
                <a:latin typeface="Aptos Display" panose="020B0004020202020204" pitchFamily="34" charset="0"/>
              </a:rPr>
              <a:t> (Search)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C5F2E656-D8A8-B50F-D2C8-B4FEEA7F01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44588"/>
                <a:ext cx="10515600" cy="5348287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ru-RU" sz="1600" dirty="0">
                    <a:latin typeface="Aptos" panose="020B0004020202020204" pitchFamily="34" charset="0"/>
                  </a:rPr>
                  <a:t>   Сложность операции поиска в </a:t>
                </a:r>
                <a:r>
                  <a:rPr lang="en-US" sz="1600" dirty="0">
                    <a:latin typeface="Aptos" panose="020B0004020202020204" pitchFamily="34" charset="0"/>
                  </a:rPr>
                  <a:t>BST </a:t>
                </a:r>
                <a:r>
                  <a:rPr lang="ru-RU" sz="1600" dirty="0">
                    <a:latin typeface="Aptos" panose="020B0004020202020204" pitchFamily="34" charset="0"/>
                  </a:rPr>
                  <a:t>полностью определяется высотой дерева: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>
                          <a:latin typeface="Cambria Math" panose="02040503050406030204" pitchFamily="18" charset="0"/>
                        </a:rPr>
                        <m:t>𝑇𝑖𝑚𝑒</m:t>
                      </m:r>
                      <m:r>
                        <m:rPr>
                          <m:lit/>
                        </m:rPr>
                        <a:rPr lang="ru-RU" sz="160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ru-RU" sz="1600" i="1">
                          <a:latin typeface="Cambria Math" panose="02040503050406030204" pitchFamily="18" charset="0"/>
                        </a:rPr>
                        <m:t>𝑠𝑒𝑎𝑟𝑐</m:t>
                      </m:r>
                      <m:r>
                        <a:rPr lang="ru-RU" sz="1600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ru-RU" sz="16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1600" i="1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</m:oMath>
                  </m:oMathPara>
                </a14:m>
                <a:endParaRPr lang="ar-AE" sz="1600" dirty="0">
                  <a:latin typeface="Aptos" panose="020B0004020202020204" pitchFamily="34" charset="0"/>
                </a:endParaRPr>
              </a:p>
              <a:p>
                <a:pPr marL="0" indent="0">
                  <a:buNone/>
                </a:pPr>
                <a:r>
                  <a:rPr lang="ru-RU" sz="1600" dirty="0">
                    <a:latin typeface="Aptos" panose="020B0004020202020204" pitchFamily="34" charset="0"/>
                  </a:rPr>
                  <a:t>   где </a:t>
                </a:r>
                <a:r>
                  <a:rPr lang="en-US" sz="1600" dirty="0">
                    <a:latin typeface="Aptos" panose="020B0004020202020204" pitchFamily="34" charset="0"/>
                  </a:rPr>
                  <a:t>h — </a:t>
                </a:r>
                <a:r>
                  <a:rPr lang="ru-RU" sz="1600" dirty="0">
                    <a:latin typeface="Aptos" panose="020B0004020202020204" pitchFamily="34" charset="0"/>
                  </a:rPr>
                  <a:t>высота дерева.</a:t>
                </a:r>
              </a:p>
              <a:p>
                <a:pPr marL="0" indent="0">
                  <a:buNone/>
                </a:pPr>
                <a:r>
                  <a:rPr lang="ru-RU" sz="1600" b="1" dirty="0">
                    <a:latin typeface="Aptos" panose="020B0004020202020204" pitchFamily="34" charset="0"/>
                  </a:rPr>
                  <a:t>1. Лучший случай — O(1)</a:t>
                </a:r>
              </a:p>
              <a:p>
                <a:pPr marL="0" indent="0">
                  <a:buNone/>
                </a:pPr>
                <a:r>
                  <a:rPr lang="ru-RU" sz="1600" dirty="0">
                    <a:latin typeface="Aptos" panose="020B0004020202020204" pitchFamily="34" charset="0"/>
                  </a:rPr>
                  <a:t>Лучший случай наступает, когда искомый элемент находится в корневом узле. Тогда поиск завершается сразу после первого сравнения. Пример таких ситуаций:</a:t>
                </a:r>
              </a:p>
              <a:p>
                <a:r>
                  <a:rPr lang="ru-RU" sz="1600" dirty="0">
                    <a:latin typeface="Aptos" panose="020B0004020202020204" pitchFamily="34" charset="0"/>
                  </a:rPr>
                  <a:t>поиск начинается именно с элемента, который является корнем;</a:t>
                </a:r>
              </a:p>
              <a:p>
                <a:r>
                  <a:rPr lang="ru-RU" sz="1600" dirty="0">
                    <a:latin typeface="Aptos" panose="020B0004020202020204" pitchFamily="34" charset="0"/>
                  </a:rPr>
                  <a:t>дерево перестроено так, что самые часто используемые элементы можно находить ближе к корню (например, в </a:t>
                </a:r>
                <a:r>
                  <a:rPr lang="ru-RU" sz="1600" dirty="0" err="1">
                    <a:latin typeface="Aptos" panose="020B0004020202020204" pitchFamily="34" charset="0"/>
                  </a:rPr>
                  <a:t>Splay</a:t>
                </a:r>
                <a:r>
                  <a:rPr lang="ru-RU" sz="1600" dirty="0">
                    <a:latin typeface="Aptos" panose="020B0004020202020204" pitchFamily="34" charset="0"/>
                  </a:rPr>
                  <a:t> </a:t>
                </a:r>
                <a:r>
                  <a:rPr lang="ru-RU" sz="1600" dirty="0" err="1">
                    <a:latin typeface="Aptos" panose="020B0004020202020204" pitchFamily="34" charset="0"/>
                  </a:rPr>
                  <a:t>Tree</a:t>
                </a:r>
                <a:r>
                  <a:rPr lang="ru-RU" sz="1600" dirty="0">
                    <a:latin typeface="Aptos" panose="020B0004020202020204" pitchFamily="34" charset="0"/>
                  </a:rPr>
                  <a:t>).</a:t>
                </a:r>
              </a:p>
              <a:p>
                <a:pPr marL="0" indent="0">
                  <a:buNone/>
                </a:pPr>
                <a:r>
                  <a:rPr lang="ru-RU" sz="1600" dirty="0">
                    <a:latin typeface="Aptos" panose="020B0004020202020204" pitchFamily="34" charset="0"/>
                  </a:rPr>
                  <a:t>Но в общем случае такая ситуация скорее исключение, чем правило.</a:t>
                </a:r>
              </a:p>
              <a:p>
                <a:pPr marL="0" indent="0">
                  <a:buNone/>
                </a:pPr>
                <a:r>
                  <a:rPr lang="ru-RU" sz="1600" b="1" dirty="0">
                    <a:latin typeface="Aptos" panose="020B0004020202020204" pitchFamily="34" charset="0"/>
                  </a:rPr>
                  <a:t>2. Средний случай — </a:t>
                </a:r>
                <a:r>
                  <a:rPr lang="en-US" sz="1600" b="1" dirty="0">
                    <a:latin typeface="Aptos" panose="020B0004020202020204" pitchFamily="34" charset="0"/>
                  </a:rPr>
                  <a:t>O(log n)</a:t>
                </a:r>
                <a:r>
                  <a:rPr lang="ru-RU" sz="1600" b="1" dirty="0">
                    <a:latin typeface="Aptos" panose="020B0004020202020204" pitchFamily="34" charset="0"/>
                  </a:rPr>
                  <a:t> </a:t>
                </a:r>
                <a:r>
                  <a:rPr lang="en-US" sz="1600" dirty="0">
                    <a:latin typeface="Aptos" panose="020B0004020202020204" pitchFamily="34" charset="0"/>
                  </a:rPr>
                  <a:t>(</a:t>
                </a:r>
                <a:r>
                  <a:rPr lang="ru-RU" sz="1600" dirty="0">
                    <a:latin typeface="Aptos" panose="020B0004020202020204" pitchFamily="34" charset="0"/>
                  </a:rPr>
                  <a:t>когда дерево имеет статистически сбалансированную форму)</a:t>
                </a:r>
              </a:p>
              <a:p>
                <a:pPr marL="0" indent="0">
                  <a:buNone/>
                </a:pPr>
                <a:r>
                  <a:rPr lang="ru-RU" sz="1600" dirty="0">
                    <a:latin typeface="Aptos" panose="020B0004020202020204" pitchFamily="34" charset="0"/>
                  </a:rPr>
                  <a:t>Средняя сложность поиска в </a:t>
                </a:r>
                <a:r>
                  <a:rPr lang="en-US" sz="1600" dirty="0">
                    <a:latin typeface="Aptos" panose="020B0004020202020204" pitchFamily="34" charset="0"/>
                  </a:rPr>
                  <a:t>BST — </a:t>
                </a:r>
                <a:r>
                  <a:rPr lang="ru-RU" sz="1600" dirty="0">
                    <a:latin typeface="Aptos" panose="020B0004020202020204" pitchFamily="34" charset="0"/>
                  </a:rPr>
                  <a:t>логарифмическая. Это связано с тем, что при случайном порядке вставки элементов дерево со временем приобретает форму, близкую к сбалансированной: корень содержит ключ примерно около середины диапазона, поддеревья делят элементы на более мелкие группы, глубина поддеревьев равномерно распределена. В этом случае: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ru-RU" sz="1600">
                          <a:latin typeface="Cambria Math" panose="02040503050406030204" pitchFamily="18" charset="0"/>
                        </a:rPr>
                        <m:t>≈</m:t>
                      </m:r>
                      <m:func>
                        <m:funcPr>
                          <m:ctrlPr>
                            <a:rPr lang="ar-AE" sz="160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ar-AE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ar-AE" sz="1600" dirty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ar-AE" sz="1600" i="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ar-AE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6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ar-AE" sz="1600" dirty="0">
                  <a:latin typeface="Aptos" panose="020B0004020202020204" pitchFamily="34" charset="0"/>
                </a:endParaRPr>
              </a:p>
              <a:p>
                <a:pPr marL="0" indent="0">
                  <a:buNone/>
                </a:pPr>
                <a:r>
                  <a:rPr lang="ru-RU" sz="1600" dirty="0">
                    <a:latin typeface="Aptos" panose="020B0004020202020204" pitchFamily="34" charset="0"/>
                  </a:rPr>
                  <a:t>То есть на каждом шаге алгоритм исключает приблизительно половину возможных значений, как в бинарном поиске.</a:t>
                </a:r>
              </a:p>
              <a:p>
                <a:pPr marL="0" indent="0">
                  <a:buNone/>
                </a:pPr>
                <a:endParaRPr lang="ru-RU" sz="1600" dirty="0">
                  <a:latin typeface="Aptos" panose="020B0004020202020204" pitchFamily="34" charset="0"/>
                </a:endParaRPr>
              </a:p>
              <a:p>
                <a:pPr marL="0" indent="0">
                  <a:buNone/>
                </a:pPr>
                <a:endParaRPr lang="ru-RU" sz="1600" dirty="0">
                  <a:latin typeface="Aptos" panose="020B0004020202020204" pitchFamily="34" charset="0"/>
                </a:endParaRPr>
              </a:p>
              <a:p>
                <a:pPr marL="0" indent="0">
                  <a:buNone/>
                </a:pPr>
                <a:endParaRPr lang="en-US" sz="16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C5F2E656-D8A8-B50F-D2C8-B4FEEA7F01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44588"/>
                <a:ext cx="10515600" cy="5348287"/>
              </a:xfrm>
              <a:blipFill>
                <a:blip r:embed="rId2"/>
                <a:stretch>
                  <a:fillRect l="-348" t="-79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58141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5A337-6993-C395-DFAC-D562CF18F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A7CB9D-6151-0144-5849-EA1DFCA8B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ptos Display" panose="020B0004020202020204" pitchFamily="34" charset="0"/>
              </a:rPr>
              <a:t>Операция поиска</a:t>
            </a:r>
            <a:r>
              <a:rPr lang="en-US" dirty="0">
                <a:latin typeface="Aptos Display" panose="020B0004020202020204" pitchFamily="34" charset="0"/>
              </a:rPr>
              <a:t> (Search)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4903507-022E-03B2-7586-F47A71AA0E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44588"/>
                <a:ext cx="10515600" cy="5348287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ru-RU" sz="1600" b="1" dirty="0">
                    <a:latin typeface="Aptos" panose="020B0004020202020204" pitchFamily="34" charset="0"/>
                  </a:rPr>
                  <a:t>   3. Худший случай — O(n) </a:t>
                </a:r>
                <a:r>
                  <a:rPr lang="ru-RU" sz="1600" dirty="0">
                    <a:latin typeface="Aptos" panose="020B0004020202020204" pitchFamily="34" charset="0"/>
                  </a:rPr>
                  <a:t>(когда дерево вырождено в цепочку)</a:t>
                </a:r>
              </a:p>
              <a:p>
                <a:pPr marL="0" indent="0">
                  <a:buNone/>
                </a:pPr>
                <a:r>
                  <a:rPr lang="ru-RU" sz="1600" dirty="0">
                    <a:latin typeface="Aptos" panose="020B0004020202020204" pitchFamily="34" charset="0"/>
                  </a:rPr>
                  <a:t>   Худшая ситуация наступает, когда BST превращается в линейную структуру, напоминающую односвязный список. Это происходит, если элементы вставляются:</a:t>
                </a:r>
              </a:p>
              <a:p>
                <a:r>
                  <a:rPr lang="ru-RU" sz="1600" dirty="0">
                    <a:latin typeface="Aptos" panose="020B0004020202020204" pitchFamily="34" charset="0"/>
                  </a:rPr>
                  <a:t>строго по возрастанию,</a:t>
                </a:r>
              </a:p>
              <a:p>
                <a:r>
                  <a:rPr lang="ru-RU" sz="1600" dirty="0">
                    <a:latin typeface="Aptos" panose="020B0004020202020204" pitchFamily="34" charset="0"/>
                  </a:rPr>
                  <a:t>строго по убыванию,</a:t>
                </a:r>
              </a:p>
              <a:p>
                <a:r>
                  <a:rPr lang="ru-RU" sz="1600" dirty="0">
                    <a:latin typeface="Aptos" panose="020B0004020202020204" pitchFamily="34" charset="0"/>
                  </a:rPr>
                  <a:t>или в любом другом порядке, приводящем к перекосам дерева.</a:t>
                </a:r>
              </a:p>
              <a:p>
                <a:pPr marL="0" indent="0">
                  <a:buNone/>
                </a:pPr>
                <a:r>
                  <a:rPr lang="ru-RU" sz="1600" dirty="0">
                    <a:latin typeface="Aptos" panose="020B0004020202020204" pitchFamily="34" charset="0"/>
                  </a:rPr>
                  <a:t>   И поэтому сложность поиска: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ar-AE" sz="16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600" i="1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ar-AE" sz="1600" dirty="0">
                  <a:latin typeface="Aptos" panose="020B0004020202020204" pitchFamily="34" charset="0"/>
                </a:endParaRPr>
              </a:p>
              <a:p>
                <a:pPr marL="0" indent="0">
                  <a:buNone/>
                </a:pPr>
                <a:r>
                  <a:rPr lang="ru-RU" sz="1600" dirty="0">
                    <a:latin typeface="Aptos" panose="020B0004020202020204" pitchFamily="34" charset="0"/>
                  </a:rPr>
                  <a:t>   В худшем случае поиск проходит через каждый узел, пока не достигнет листа.</a:t>
                </a:r>
              </a:p>
              <a:p>
                <a:pPr marL="0" indent="0">
                  <a:buNone/>
                </a:pPr>
                <a:r>
                  <a:rPr lang="ru-RU" sz="1600" b="1" dirty="0">
                    <a:latin typeface="Aptos" panose="020B0004020202020204" pitchFamily="34" charset="0"/>
                  </a:rPr>
                  <a:t>Почему поиск всегда ≤ вставка и удаление по сложности</a:t>
                </a:r>
              </a:p>
              <a:p>
                <a:pPr marL="0" indent="0">
                  <a:buNone/>
                </a:pPr>
                <a:r>
                  <a:rPr lang="ru-RU" sz="1600" dirty="0">
                    <a:latin typeface="Aptos" panose="020B0004020202020204" pitchFamily="34" charset="0"/>
                  </a:rPr>
                  <a:t>Все операции BST (вставка, удаление и поиск) используют алгоритм поиска как основу:</a:t>
                </a:r>
              </a:p>
              <a:p>
                <a:r>
                  <a:rPr lang="ru-RU" sz="1600" i="1" dirty="0">
                    <a:latin typeface="Aptos" panose="020B0004020202020204" pitchFamily="34" charset="0"/>
                  </a:rPr>
                  <a:t>вставка</a:t>
                </a:r>
                <a:r>
                  <a:rPr lang="ru-RU" sz="1600" dirty="0">
                    <a:latin typeface="Aptos" panose="020B0004020202020204" pitchFamily="34" charset="0"/>
                  </a:rPr>
                  <a:t> ищет место для нового узла,</a:t>
                </a:r>
              </a:p>
              <a:p>
                <a:r>
                  <a:rPr lang="ru-RU" sz="1600" i="1" dirty="0">
                    <a:latin typeface="Aptos" panose="020B0004020202020204" pitchFamily="34" charset="0"/>
                  </a:rPr>
                  <a:t>удаление</a:t>
                </a:r>
                <a:r>
                  <a:rPr lang="ru-RU" sz="1600" dirty="0">
                    <a:latin typeface="Aptos" panose="020B0004020202020204" pitchFamily="34" charset="0"/>
                  </a:rPr>
                  <a:t> ищет узел, который надо удалить,</a:t>
                </a:r>
              </a:p>
              <a:p>
                <a:r>
                  <a:rPr lang="ru-RU" sz="1600" i="1" dirty="0">
                    <a:latin typeface="Aptos" panose="020B0004020202020204" pitchFamily="34" charset="0"/>
                  </a:rPr>
                  <a:t>поиск</a:t>
                </a:r>
                <a:r>
                  <a:rPr lang="ru-RU" sz="1600" dirty="0">
                    <a:latin typeface="Aptos" panose="020B0004020202020204" pitchFamily="34" charset="0"/>
                  </a:rPr>
                  <a:t> — ищет сам элемент.</a:t>
                </a:r>
              </a:p>
              <a:p>
                <a:pPr marL="0" indent="0">
                  <a:buNone/>
                </a:pPr>
                <a:r>
                  <a:rPr lang="ru-RU" sz="1600" dirty="0">
                    <a:latin typeface="Aptos" panose="020B0004020202020204" pitchFamily="34" charset="0"/>
                  </a:rPr>
                  <a:t>Поэтому сложность поиска всегда является </a:t>
                </a:r>
                <a:r>
                  <a:rPr lang="ru-RU" sz="1600" b="1" dirty="0">
                    <a:latin typeface="Aptos" panose="020B0004020202020204" pitchFamily="34" charset="0"/>
                  </a:rPr>
                  <a:t>нижней границей</a:t>
                </a:r>
                <a:r>
                  <a:rPr lang="ru-RU" sz="1600" dirty="0">
                    <a:latin typeface="Aptos" panose="020B0004020202020204" pitchFamily="34" charset="0"/>
                  </a:rPr>
                  <a:t> сложности остальных операций. Если поиск работает медленно, все операции с деревом работают медленно.</a:t>
                </a:r>
              </a:p>
              <a:p>
                <a:pPr marL="0" indent="0">
                  <a:buNone/>
                </a:pPr>
                <a:endParaRPr lang="ru-RU" sz="1600" dirty="0">
                  <a:latin typeface="Aptos" panose="020B0004020202020204" pitchFamily="34" charset="0"/>
                </a:endParaRPr>
              </a:p>
              <a:p>
                <a:pPr marL="0" indent="0">
                  <a:buNone/>
                </a:pPr>
                <a:endParaRPr lang="ru-RU" sz="1600" dirty="0">
                  <a:latin typeface="Aptos" panose="020B0004020202020204" pitchFamily="34" charset="0"/>
                </a:endParaRPr>
              </a:p>
              <a:p>
                <a:pPr marL="0" indent="0">
                  <a:buNone/>
                </a:pPr>
                <a:endParaRPr lang="ru-RU" sz="1600" dirty="0">
                  <a:latin typeface="Aptos" panose="020B0004020202020204" pitchFamily="34" charset="0"/>
                </a:endParaRPr>
              </a:p>
              <a:p>
                <a:pPr marL="0" indent="0">
                  <a:buNone/>
                </a:pPr>
                <a:endParaRPr lang="en-US" sz="16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4903507-022E-03B2-7586-F47A71AA0E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44588"/>
                <a:ext cx="10515600" cy="5348287"/>
              </a:xfrm>
              <a:blipFill>
                <a:blip r:embed="rId2"/>
                <a:stretch>
                  <a:fillRect l="-348" t="-79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35928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BA082-555B-B8AF-831E-89F2F00B7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B6E0D8-BD4E-D0B6-D6E5-CA0F5EDD4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ptos Display" panose="020B0004020202020204" pitchFamily="34" charset="0"/>
              </a:rPr>
              <a:t>Обходы дерева (</a:t>
            </a:r>
            <a:r>
              <a:rPr lang="en-US" dirty="0">
                <a:latin typeface="Aptos Display" panose="020B0004020202020204" pitchFamily="34" charset="0"/>
              </a:rPr>
              <a:t>Traversals)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D9668F-97DC-B24C-68AD-1E8628938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1128"/>
            <a:ext cx="10515600" cy="514174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dirty="0">
                <a:latin typeface="Aptos" panose="020B0004020202020204" pitchFamily="34" charset="0"/>
              </a:rPr>
              <a:t>   </a:t>
            </a:r>
            <a:r>
              <a:rPr lang="ru-RU" sz="2000" b="1" dirty="0">
                <a:latin typeface="Aptos" panose="020B0004020202020204" pitchFamily="34" charset="0"/>
              </a:rPr>
              <a:t>Обходы дерева</a:t>
            </a:r>
            <a:r>
              <a:rPr lang="en-US" sz="2000" b="1" dirty="0">
                <a:latin typeface="Aptos" panose="020B0004020202020204" pitchFamily="34" charset="0"/>
              </a:rPr>
              <a:t> (Traversals)</a:t>
            </a:r>
            <a:r>
              <a:rPr lang="ru-RU" sz="2000" dirty="0">
                <a:latin typeface="Aptos" panose="020B0004020202020204" pitchFamily="34" charset="0"/>
              </a:rPr>
              <a:t> представляют собой последовательные способы посещения всех узлов дерева в определённом порядке. В отличие от линейных структур данных, где порядок обхода фиксирован самой структурой, бинарное дерево имеет иерархическую форму, что позволяет осуществлять обход различными методами в зависимости от целей и задач исследования данных.</a:t>
            </a:r>
          </a:p>
          <a:p>
            <a:pPr marL="0" indent="0">
              <a:buNone/>
            </a:pPr>
            <a:r>
              <a:rPr lang="ru-RU" sz="2000" dirty="0">
                <a:latin typeface="Aptos" panose="020B0004020202020204" pitchFamily="34" charset="0"/>
              </a:rPr>
              <a:t>   Каждый вид обхода отражает особый взгляд на структуру дерева: где-то акцент делается на посещении корня раньше поддеревьев, где-то — наоборот. Поэтому обходы дерева широко используются при разработке внутренних алгоритмов, анализе данных, сериализации деревьев, выполнении вычислений, построении выражений и, конечно, в обучении.</a:t>
            </a:r>
          </a:p>
          <a:p>
            <a:pPr marL="0" indent="0">
              <a:buNone/>
            </a:pPr>
            <a:r>
              <a:rPr lang="ru-RU" sz="2000" dirty="0">
                <a:latin typeface="Aptos" panose="020B0004020202020204" pitchFamily="34" charset="0"/>
              </a:rPr>
              <a:t>   В бинарном дереве поиска особенно важными являются три классических обхода: </a:t>
            </a:r>
            <a:r>
              <a:rPr lang="ru-RU" sz="2000" b="1" dirty="0">
                <a:latin typeface="Aptos" panose="020B0004020202020204" pitchFamily="34" charset="0"/>
              </a:rPr>
              <a:t>прямой (</a:t>
            </a:r>
            <a:r>
              <a:rPr lang="ru-RU" sz="2000" b="1" dirty="0" err="1">
                <a:latin typeface="Aptos" panose="020B0004020202020204" pitchFamily="34" charset="0"/>
              </a:rPr>
              <a:t>preorder</a:t>
            </a:r>
            <a:r>
              <a:rPr lang="ru-RU" sz="2000" b="1" dirty="0">
                <a:latin typeface="Aptos" panose="020B0004020202020204" pitchFamily="34" charset="0"/>
              </a:rPr>
              <a:t>)</a:t>
            </a:r>
            <a:r>
              <a:rPr lang="ru-RU" sz="2000" dirty="0">
                <a:latin typeface="Aptos" panose="020B0004020202020204" pitchFamily="34" charset="0"/>
              </a:rPr>
              <a:t>, </a:t>
            </a:r>
            <a:r>
              <a:rPr lang="ru-RU" sz="2000" b="1" dirty="0">
                <a:latin typeface="Aptos" panose="020B0004020202020204" pitchFamily="34" charset="0"/>
              </a:rPr>
              <a:t>симметричный (</a:t>
            </a:r>
            <a:r>
              <a:rPr lang="ru-RU" sz="2000" b="1" dirty="0" err="1">
                <a:latin typeface="Aptos" panose="020B0004020202020204" pitchFamily="34" charset="0"/>
              </a:rPr>
              <a:t>inorder</a:t>
            </a:r>
            <a:r>
              <a:rPr lang="ru-RU" sz="2000" b="1" dirty="0">
                <a:latin typeface="Aptos" panose="020B0004020202020204" pitchFamily="34" charset="0"/>
              </a:rPr>
              <a:t>)</a:t>
            </a:r>
            <a:r>
              <a:rPr lang="ru-RU" sz="2000" dirty="0">
                <a:latin typeface="Aptos" panose="020B0004020202020204" pitchFamily="34" charset="0"/>
              </a:rPr>
              <a:t> и </a:t>
            </a:r>
            <a:r>
              <a:rPr lang="ru-RU" sz="2000" b="1" dirty="0">
                <a:latin typeface="Aptos" panose="020B0004020202020204" pitchFamily="34" charset="0"/>
              </a:rPr>
              <a:t>обратный (</a:t>
            </a:r>
            <a:r>
              <a:rPr lang="ru-RU" sz="2000" b="1" dirty="0" err="1">
                <a:latin typeface="Aptos" panose="020B0004020202020204" pitchFamily="34" charset="0"/>
              </a:rPr>
              <a:t>postorder</a:t>
            </a:r>
            <a:r>
              <a:rPr lang="ru-RU" sz="2000" b="1" dirty="0">
                <a:latin typeface="Aptos" panose="020B0004020202020204" pitchFamily="34" charset="0"/>
              </a:rPr>
              <a:t>)</a:t>
            </a:r>
            <a:r>
              <a:rPr lang="ru-RU" sz="2000" dirty="0">
                <a:latin typeface="Aptos" panose="020B0004020202020204" pitchFamily="34" charset="0"/>
              </a:rPr>
              <a:t>. Они задают три различных способа логического «путешествия» по дереву и позволяют по-разному интерпретировать его структуру.</a:t>
            </a:r>
            <a:endParaRPr lang="en-US" sz="20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28409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4F2AA-1E4D-D770-A3B7-36949ED70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926FCE-573C-D9D8-5037-3CB7C16EA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ptos Display" panose="020B0004020202020204" pitchFamily="34" charset="0"/>
              </a:rPr>
              <a:t>Обходы дерева (</a:t>
            </a:r>
            <a:r>
              <a:rPr lang="en-US" dirty="0">
                <a:latin typeface="Aptos Display" panose="020B0004020202020204" pitchFamily="34" charset="0"/>
              </a:rPr>
              <a:t>Traversals)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01B6E1-32E1-34B7-75EF-3EEA81EAC3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4588"/>
            <a:ext cx="5671782" cy="53482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600" dirty="0">
                <a:latin typeface="Aptos" panose="020B0004020202020204" pitchFamily="34" charset="0"/>
              </a:rPr>
              <a:t>   </a:t>
            </a:r>
            <a:r>
              <a:rPr lang="ru-RU" sz="1600" b="1" dirty="0">
                <a:latin typeface="Aptos" panose="020B0004020202020204" pitchFamily="34" charset="0"/>
              </a:rPr>
              <a:t>Прямой обход (</a:t>
            </a:r>
            <a:r>
              <a:rPr lang="ru-RU" sz="1600" b="1" dirty="0" err="1">
                <a:latin typeface="Aptos" panose="020B0004020202020204" pitchFamily="34" charset="0"/>
              </a:rPr>
              <a:t>Preorder</a:t>
            </a:r>
            <a:r>
              <a:rPr lang="ru-RU" sz="1600" b="1" dirty="0">
                <a:latin typeface="Aptos" panose="020B0004020202020204" pitchFamily="34" charset="0"/>
              </a:rPr>
              <a:t>)</a:t>
            </a:r>
          </a:p>
          <a:p>
            <a:pPr marL="0" indent="0">
              <a:buNone/>
            </a:pPr>
            <a:r>
              <a:rPr lang="ru-RU" sz="1600" dirty="0">
                <a:latin typeface="Aptos" panose="020B0004020202020204" pitchFamily="34" charset="0"/>
              </a:rPr>
              <a:t>   Прямой обход — это метод, при котором посещение узлов дерева начинается с корня, а затем продолжается в левом и правом поддеревьях. Последовательность действий выглядит следующим образом:</a:t>
            </a:r>
          </a:p>
          <a:p>
            <a:r>
              <a:rPr lang="ru-RU" sz="1600" dirty="0">
                <a:latin typeface="Aptos" panose="020B0004020202020204" pitchFamily="34" charset="0"/>
              </a:rPr>
              <a:t>посетить текущий узел (корень),</a:t>
            </a:r>
          </a:p>
          <a:p>
            <a:r>
              <a:rPr lang="ru-RU" sz="1600" dirty="0">
                <a:latin typeface="Aptos" panose="020B0004020202020204" pitchFamily="34" charset="0"/>
              </a:rPr>
              <a:t>обойти левое поддерево,</a:t>
            </a:r>
          </a:p>
          <a:p>
            <a:r>
              <a:rPr lang="ru-RU" sz="1600" dirty="0">
                <a:latin typeface="Aptos" panose="020B0004020202020204" pitchFamily="34" charset="0"/>
              </a:rPr>
              <a:t>обойти правое поддерево.</a:t>
            </a:r>
          </a:p>
          <a:p>
            <a:pPr marL="0" indent="0">
              <a:buNone/>
            </a:pPr>
            <a:r>
              <a:rPr lang="ru-RU" sz="1600" dirty="0">
                <a:latin typeface="Aptos" panose="020B0004020202020204" pitchFamily="34" charset="0"/>
              </a:rPr>
              <a:t>Эта схема делает прямой обход удобным для задач, где важно сначала обработать структуру дерева, а затем перейти к его частям. Например, прямой обход используется при копировании дерева, построении префиксных выражений или сериализации структуры для последующего восстановления.</a:t>
            </a:r>
          </a:p>
          <a:p>
            <a:pPr marL="0" indent="0">
              <a:buNone/>
            </a:pPr>
            <a:r>
              <a:rPr lang="ru-RU" sz="1600" dirty="0">
                <a:latin typeface="Aptos" panose="020B0004020202020204" pitchFamily="34" charset="0"/>
              </a:rPr>
              <a:t>Если применить прямой обход к примеру дерева, Результат будет:</a:t>
            </a:r>
          </a:p>
          <a:p>
            <a:pPr marL="0" indent="0" algn="ctr">
              <a:buNone/>
            </a:pPr>
            <a:r>
              <a:rPr lang="ru-RU" sz="1600" b="1" dirty="0">
                <a:latin typeface="Aptos" panose="020B0004020202020204" pitchFamily="34" charset="0"/>
              </a:rPr>
              <a:t>8, 3, 1, 6, 4, 7, 10, 14, 13</a:t>
            </a:r>
            <a:endParaRPr lang="ru-RU" sz="16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ru-RU" sz="1600" dirty="0">
                <a:latin typeface="Aptos" panose="020B0004020202020204" pitchFamily="34" charset="0"/>
              </a:rPr>
              <a:t>Здесь корень всегда встречается раньше поддеревьев, что отражает иерархическую природу структуры.</a:t>
            </a:r>
          </a:p>
          <a:p>
            <a:pPr marL="0" indent="0">
              <a:buNone/>
            </a:pPr>
            <a:endParaRPr lang="ru-RU" sz="1600" dirty="0"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en-US" sz="1600" dirty="0">
              <a:latin typeface="Aptos" panose="020B00040202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9DA4F00-D4F6-9E14-6A8C-430DEBD54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9982" y="1661757"/>
            <a:ext cx="4505325" cy="375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9262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FBA4E-031E-F645-38E1-B088D07F3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87DB0B-EDFC-F091-04AF-70A393796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ptos Display" panose="020B0004020202020204" pitchFamily="34" charset="0"/>
              </a:rPr>
              <a:t>Обходы дерева (</a:t>
            </a:r>
            <a:r>
              <a:rPr lang="en-US" dirty="0">
                <a:latin typeface="Aptos Display" panose="020B0004020202020204" pitchFamily="34" charset="0"/>
              </a:rPr>
              <a:t>Traversals)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74C8E5-D417-AEFD-BB86-1CB7A03F5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1946"/>
            <a:ext cx="10515600" cy="525092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600" b="1" dirty="0">
                <a:latin typeface="Aptos" panose="020B0004020202020204" pitchFamily="34" charset="0"/>
              </a:rPr>
              <a:t>   Симметричный обход (</a:t>
            </a:r>
            <a:r>
              <a:rPr lang="ru-RU" sz="1600" b="1" dirty="0" err="1">
                <a:latin typeface="Aptos" panose="020B0004020202020204" pitchFamily="34" charset="0"/>
              </a:rPr>
              <a:t>Inorder</a:t>
            </a:r>
            <a:r>
              <a:rPr lang="ru-RU" sz="1600" b="1" dirty="0">
                <a:latin typeface="Aptos" panose="020B0004020202020204" pitchFamily="34" charset="0"/>
              </a:rPr>
              <a:t>)</a:t>
            </a:r>
          </a:p>
          <a:p>
            <a:pPr marL="0" indent="0">
              <a:buNone/>
            </a:pPr>
            <a:r>
              <a:rPr lang="ru-RU" sz="1600" dirty="0">
                <a:latin typeface="Aptos" panose="020B0004020202020204" pitchFamily="34" charset="0"/>
              </a:rPr>
              <a:t>   Симметричный обход является ключевым методом для бинарных деревьев поиска, поскольку именно он выводит ключи дерева в отсортированном порядке. Этот результат связан с основным свойством BST: левое поддерево содержит элементы, меньшие корня, а правое — большие. Последовательность действий при симметричном обходе следующая:</a:t>
            </a:r>
          </a:p>
          <a:p>
            <a:r>
              <a:rPr lang="ru-RU" sz="1600" dirty="0">
                <a:latin typeface="Aptos" panose="020B0004020202020204" pitchFamily="34" charset="0"/>
              </a:rPr>
              <a:t>обойти левое поддерево,</a:t>
            </a:r>
          </a:p>
          <a:p>
            <a:r>
              <a:rPr lang="ru-RU" sz="1600" dirty="0">
                <a:latin typeface="Aptos" panose="020B0004020202020204" pitchFamily="34" charset="0"/>
              </a:rPr>
              <a:t>посетить корень,</a:t>
            </a:r>
          </a:p>
          <a:p>
            <a:r>
              <a:rPr lang="ru-RU" sz="1600" dirty="0">
                <a:latin typeface="Aptos" panose="020B0004020202020204" pitchFamily="34" charset="0"/>
              </a:rPr>
              <a:t>обойти правое поддерево.</a:t>
            </a:r>
          </a:p>
          <a:p>
            <a:pPr marL="0" indent="0">
              <a:buNone/>
            </a:pPr>
            <a:r>
              <a:rPr lang="ru-RU" sz="1600" dirty="0">
                <a:latin typeface="Aptos" panose="020B0004020202020204" pitchFamily="34" charset="0"/>
              </a:rPr>
              <a:t>Такой подход естественным образом формирует упорядоченную последовательность ключей. Применяя его к тому же дереву:</a:t>
            </a:r>
          </a:p>
          <a:p>
            <a:pPr marL="0" indent="0" algn="ctr">
              <a:buNone/>
            </a:pPr>
            <a:r>
              <a:rPr lang="ru-RU" sz="1600" b="1" dirty="0">
                <a:latin typeface="Aptos" panose="020B0004020202020204" pitchFamily="34" charset="0"/>
              </a:rPr>
              <a:t>1, 3, 4, 6, 7, 8, 10, 13, 14</a:t>
            </a:r>
            <a:endParaRPr lang="ru-RU" sz="16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ru-RU" sz="1600" dirty="0">
                <a:latin typeface="Aptos" panose="020B0004020202020204" pitchFamily="34" charset="0"/>
              </a:rPr>
              <a:t>   Можно заметить, что результат представляет собой сортировку по возрастанию. По этой причине симметричный обход широко используется:</a:t>
            </a:r>
          </a:p>
          <a:p>
            <a:r>
              <a:rPr lang="ru-RU" sz="1600" dirty="0">
                <a:latin typeface="Aptos" panose="020B0004020202020204" pitchFamily="34" charset="0"/>
              </a:rPr>
              <a:t>для проверки корректности BST,</a:t>
            </a:r>
          </a:p>
          <a:p>
            <a:r>
              <a:rPr lang="ru-RU" sz="1600" dirty="0">
                <a:latin typeface="Aptos" panose="020B0004020202020204" pitchFamily="34" charset="0"/>
              </a:rPr>
              <a:t>для восстановления данных в отсортированном виде,</a:t>
            </a:r>
          </a:p>
          <a:p>
            <a:r>
              <a:rPr lang="ru-RU" sz="1600" dirty="0">
                <a:latin typeface="Aptos" panose="020B0004020202020204" pitchFamily="34" charset="0"/>
              </a:rPr>
              <a:t>для алгоритмов </a:t>
            </a:r>
            <a:r>
              <a:rPr lang="ru-RU" sz="1600" dirty="0" err="1">
                <a:latin typeface="Aptos" panose="020B0004020202020204" pitchFamily="34" charset="0"/>
              </a:rPr>
              <a:t>Tree</a:t>
            </a:r>
            <a:r>
              <a:rPr lang="ru-RU" sz="1600" dirty="0">
                <a:latin typeface="Aptos" panose="020B0004020202020204" pitchFamily="34" charset="0"/>
              </a:rPr>
              <a:t> </a:t>
            </a:r>
            <a:r>
              <a:rPr lang="ru-RU" sz="1600" dirty="0" err="1">
                <a:latin typeface="Aptos" panose="020B0004020202020204" pitchFamily="34" charset="0"/>
              </a:rPr>
              <a:t>Sort</a:t>
            </a:r>
            <a:r>
              <a:rPr lang="ru-RU" sz="1600" dirty="0">
                <a:latin typeface="Aptos" panose="020B0004020202020204" pitchFamily="34" charset="0"/>
              </a:rPr>
              <a:t>,</a:t>
            </a:r>
          </a:p>
          <a:p>
            <a:r>
              <a:rPr lang="ru-RU" sz="1600" dirty="0">
                <a:latin typeface="Aptos" panose="020B0004020202020204" pitchFamily="34" charset="0"/>
              </a:rPr>
              <a:t>в компиляторах и интерпретаторах при работе с выражениями.</a:t>
            </a:r>
          </a:p>
          <a:p>
            <a:pPr marL="0" indent="0">
              <a:buNone/>
            </a:pPr>
            <a:endParaRPr lang="en-US" sz="16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84154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E5E43-0629-45E0-3990-B836064A4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980227-6E77-D452-3D16-EE632F018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ptos Display" panose="020B0004020202020204" pitchFamily="34" charset="0"/>
              </a:rPr>
              <a:t>Обходы дерева (</a:t>
            </a:r>
            <a:r>
              <a:rPr lang="en-US" dirty="0">
                <a:latin typeface="Aptos Display" panose="020B0004020202020204" pitchFamily="34" charset="0"/>
              </a:rPr>
              <a:t>Traversals)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82946E2-F437-C4C8-B479-BC6FF5A08F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1946"/>
            <a:ext cx="10515600" cy="525092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800" b="1" dirty="0">
                <a:latin typeface="Aptos" panose="020B0004020202020204" pitchFamily="34" charset="0"/>
              </a:rPr>
              <a:t>  Обратный обход (</a:t>
            </a:r>
            <a:r>
              <a:rPr lang="ru-RU" sz="1800" b="1" dirty="0" err="1">
                <a:latin typeface="Aptos" panose="020B0004020202020204" pitchFamily="34" charset="0"/>
              </a:rPr>
              <a:t>Postorder</a:t>
            </a:r>
            <a:r>
              <a:rPr lang="ru-RU" sz="1800" b="1" dirty="0">
                <a:latin typeface="Aptos" panose="020B0004020202020204" pitchFamily="34" charset="0"/>
              </a:rPr>
              <a:t>)</a:t>
            </a:r>
          </a:p>
          <a:p>
            <a:pPr marL="0" indent="0">
              <a:buNone/>
            </a:pPr>
            <a:r>
              <a:rPr lang="ru-RU" sz="1800" dirty="0">
                <a:latin typeface="Aptos" panose="020B0004020202020204" pitchFamily="34" charset="0"/>
              </a:rPr>
              <a:t>   Обратный обход отличается тем, что посещение корня происходит </a:t>
            </a:r>
            <a:r>
              <a:rPr lang="ru-RU" sz="1800" b="1" dirty="0">
                <a:latin typeface="Aptos" panose="020B0004020202020204" pitchFamily="34" charset="0"/>
              </a:rPr>
              <a:t>после</a:t>
            </a:r>
            <a:r>
              <a:rPr lang="ru-RU" sz="1800" dirty="0">
                <a:latin typeface="Aptos" panose="020B0004020202020204" pitchFamily="34" charset="0"/>
              </a:rPr>
              <a:t> обхода поддеревьев. То есть дерево обрабатывается «снизу вверх». Порядок действий:</a:t>
            </a:r>
          </a:p>
          <a:p>
            <a:r>
              <a:rPr lang="ru-RU" sz="1800" dirty="0">
                <a:latin typeface="Aptos" panose="020B0004020202020204" pitchFamily="34" charset="0"/>
              </a:rPr>
              <a:t>обойти левое поддерево,</a:t>
            </a:r>
          </a:p>
          <a:p>
            <a:r>
              <a:rPr lang="ru-RU" sz="1800" dirty="0">
                <a:latin typeface="Aptos" panose="020B0004020202020204" pitchFamily="34" charset="0"/>
              </a:rPr>
              <a:t>обойти правое поддерево,</a:t>
            </a:r>
          </a:p>
          <a:p>
            <a:r>
              <a:rPr lang="ru-RU" sz="1800" dirty="0">
                <a:latin typeface="Aptos" panose="020B0004020202020204" pitchFamily="34" charset="0"/>
              </a:rPr>
              <a:t>посетить текущий узел.</a:t>
            </a:r>
          </a:p>
          <a:p>
            <a:pPr marL="0" indent="0">
              <a:buNone/>
            </a:pPr>
            <a:r>
              <a:rPr lang="ru-RU" sz="1800" dirty="0">
                <a:latin typeface="Aptos" panose="020B0004020202020204" pitchFamily="34" charset="0"/>
              </a:rPr>
              <a:t>   Этот метод полезен в ситуациях, когда поддеревья должны быть обработаны раньше корневого узла. Например:</a:t>
            </a:r>
          </a:p>
          <a:p>
            <a:r>
              <a:rPr lang="ru-RU" sz="1800" dirty="0">
                <a:latin typeface="Aptos" panose="020B0004020202020204" pitchFamily="34" charset="0"/>
              </a:rPr>
              <a:t>при удалении дерева из памяти,</a:t>
            </a:r>
          </a:p>
          <a:p>
            <a:r>
              <a:rPr lang="ru-RU" sz="1800" dirty="0">
                <a:latin typeface="Aptos" panose="020B0004020202020204" pitchFamily="34" charset="0"/>
              </a:rPr>
              <a:t>при вычислении выражений в арифметическом дереве,</a:t>
            </a:r>
          </a:p>
          <a:p>
            <a:r>
              <a:rPr lang="ru-RU" sz="1800" dirty="0">
                <a:latin typeface="Aptos" panose="020B0004020202020204" pitchFamily="34" charset="0"/>
              </a:rPr>
              <a:t>при выполнении постфиксных (обратных польских) выражений.</a:t>
            </a:r>
          </a:p>
          <a:p>
            <a:pPr marL="0" indent="0">
              <a:buNone/>
            </a:pPr>
            <a:r>
              <a:rPr lang="ru-RU" sz="1800" dirty="0">
                <a:latin typeface="Aptos" panose="020B0004020202020204" pitchFamily="34" charset="0"/>
              </a:rPr>
              <a:t>  Для нашего дерева результат будет:</a:t>
            </a:r>
          </a:p>
          <a:p>
            <a:pPr marL="0" indent="0" algn="ctr">
              <a:buNone/>
            </a:pPr>
            <a:r>
              <a:rPr lang="ru-RU" sz="1800" b="1" dirty="0">
                <a:latin typeface="Aptos" panose="020B0004020202020204" pitchFamily="34" charset="0"/>
              </a:rPr>
              <a:t>1, 4, 7, 6, 3, 13, 14, 10, 8</a:t>
            </a:r>
            <a:endParaRPr lang="ru-RU" sz="18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ru-RU" sz="1800" dirty="0">
                <a:latin typeface="Aptos" panose="020B0004020202020204" pitchFamily="34" charset="0"/>
              </a:rPr>
              <a:t>   Такой порядок показывает, что оба поддерева всегда обходятся полностью, прежде чем обрабатывается корень.</a:t>
            </a:r>
          </a:p>
          <a:p>
            <a:pPr marL="0" indent="0">
              <a:buNone/>
            </a:pPr>
            <a:endParaRPr lang="en-US" sz="18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04227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27880-6046-2C9D-1388-423A93D86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D0553C-477D-3189-D053-249969BB8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ptos Display" panose="020B0004020202020204" pitchFamily="34" charset="0"/>
              </a:rPr>
              <a:t>Обходы дерева (</a:t>
            </a:r>
            <a:r>
              <a:rPr lang="en-US" dirty="0">
                <a:latin typeface="Aptos Display" panose="020B0004020202020204" pitchFamily="34" charset="0"/>
              </a:rPr>
              <a:t>Traversals)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49488A-C1BC-CBF4-37D8-AA9DDDDF32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1946"/>
            <a:ext cx="10515600" cy="525092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400" b="1" dirty="0">
                <a:latin typeface="Aptos" panose="020B0004020202020204" pitchFamily="34" charset="0"/>
              </a:rPr>
              <a:t>   Значение обходов для понимания структуры дерева</a:t>
            </a:r>
          </a:p>
          <a:p>
            <a:pPr marL="0" indent="0">
              <a:buNone/>
            </a:pPr>
            <a:r>
              <a:rPr lang="ru-RU" sz="1400" dirty="0">
                <a:latin typeface="Aptos" panose="020B0004020202020204" pitchFamily="34" charset="0"/>
              </a:rPr>
              <a:t>   Обходы дерева — это не просто различные способы пройти по всем узлам. Они раскрывают важные концепции:</a:t>
            </a:r>
          </a:p>
          <a:p>
            <a:pPr marL="0" indent="0">
              <a:buNone/>
            </a:pPr>
            <a:r>
              <a:rPr lang="ru-RU" sz="1400" b="1" dirty="0">
                <a:latin typeface="Aptos" panose="020B0004020202020204" pitchFamily="34" charset="0"/>
              </a:rPr>
              <a:t>   1. Отношение между структурой и порядком данных</a:t>
            </a:r>
          </a:p>
          <a:p>
            <a:pPr marL="0" indent="0">
              <a:buNone/>
            </a:pPr>
            <a:r>
              <a:rPr lang="ru-RU" sz="1400" dirty="0">
                <a:latin typeface="Aptos" panose="020B0004020202020204" pitchFamily="34" charset="0"/>
              </a:rPr>
              <a:t>   Каждый обход показывает дерево с разной точки зрения:</a:t>
            </a:r>
          </a:p>
          <a:p>
            <a:r>
              <a:rPr lang="ru-RU" sz="1400" dirty="0" err="1">
                <a:latin typeface="Aptos" panose="020B0004020202020204" pitchFamily="34" charset="0"/>
              </a:rPr>
              <a:t>Preorder</a:t>
            </a:r>
            <a:r>
              <a:rPr lang="ru-RU" sz="1400" dirty="0">
                <a:latin typeface="Aptos" panose="020B0004020202020204" pitchFamily="34" charset="0"/>
              </a:rPr>
              <a:t> подчёркивает иерархию,</a:t>
            </a:r>
          </a:p>
          <a:p>
            <a:r>
              <a:rPr lang="ru-RU" sz="1400" dirty="0" err="1">
                <a:latin typeface="Aptos" panose="020B0004020202020204" pitchFamily="34" charset="0"/>
              </a:rPr>
              <a:t>Inorder</a:t>
            </a:r>
            <a:r>
              <a:rPr lang="ru-RU" sz="1400" dirty="0">
                <a:latin typeface="Aptos" panose="020B0004020202020204" pitchFamily="34" charset="0"/>
              </a:rPr>
              <a:t> показывает порядок значений,</a:t>
            </a:r>
          </a:p>
          <a:p>
            <a:r>
              <a:rPr lang="ru-RU" sz="1400" dirty="0" err="1">
                <a:latin typeface="Aptos" panose="020B0004020202020204" pitchFamily="34" charset="0"/>
              </a:rPr>
              <a:t>Postorder</a:t>
            </a:r>
            <a:r>
              <a:rPr lang="ru-RU" sz="1400" dirty="0">
                <a:latin typeface="Aptos" panose="020B0004020202020204" pitchFamily="34" charset="0"/>
              </a:rPr>
              <a:t> иллюстрирует зависимость компонентов.</a:t>
            </a:r>
          </a:p>
          <a:p>
            <a:pPr marL="0" indent="0">
              <a:buNone/>
            </a:pPr>
            <a:r>
              <a:rPr lang="ru-RU" sz="1400" b="1" dirty="0">
                <a:latin typeface="Aptos" panose="020B0004020202020204" pitchFamily="34" charset="0"/>
              </a:rPr>
              <a:t>   2. Проверка корректности BST</a:t>
            </a:r>
          </a:p>
          <a:p>
            <a:pPr marL="0" indent="0">
              <a:buNone/>
            </a:pPr>
            <a:r>
              <a:rPr lang="ru-RU" sz="1400" dirty="0">
                <a:latin typeface="Aptos" panose="020B0004020202020204" pitchFamily="34" charset="0"/>
              </a:rPr>
              <a:t>   Если симметричный обход даёт отсортированную последовательность — BST корректно.</a:t>
            </a:r>
          </a:p>
          <a:p>
            <a:pPr marL="0" indent="0">
              <a:buNone/>
            </a:pPr>
            <a:r>
              <a:rPr lang="ru-RU" sz="1400" b="1" dirty="0">
                <a:latin typeface="Aptos" panose="020B0004020202020204" pitchFamily="34" charset="0"/>
              </a:rPr>
              <a:t>   3. Визуальное построение выражений</a:t>
            </a:r>
          </a:p>
          <a:p>
            <a:pPr marL="0" indent="0">
              <a:buNone/>
            </a:pPr>
            <a:r>
              <a:rPr lang="ru-RU" sz="1400" dirty="0">
                <a:latin typeface="Aptos" panose="020B0004020202020204" pitchFamily="34" charset="0"/>
              </a:rPr>
              <a:t>   Три порядка соответствуют трём разновидностям записи выражений:</a:t>
            </a:r>
          </a:p>
          <a:p>
            <a:r>
              <a:rPr lang="ru-RU" sz="1400" dirty="0">
                <a:latin typeface="Aptos" panose="020B0004020202020204" pitchFamily="34" charset="0"/>
              </a:rPr>
              <a:t>префиксная,</a:t>
            </a:r>
          </a:p>
          <a:p>
            <a:r>
              <a:rPr lang="ru-RU" sz="1400" dirty="0">
                <a:latin typeface="Aptos" panose="020B0004020202020204" pitchFamily="34" charset="0"/>
              </a:rPr>
              <a:t>инфиксная (обычный вид),</a:t>
            </a:r>
          </a:p>
          <a:p>
            <a:r>
              <a:rPr lang="ru-RU" sz="1400" dirty="0">
                <a:latin typeface="Aptos" panose="020B0004020202020204" pitchFamily="34" charset="0"/>
              </a:rPr>
              <a:t>постфиксная.</a:t>
            </a:r>
          </a:p>
          <a:p>
            <a:pPr marL="0" indent="0">
              <a:buNone/>
            </a:pPr>
            <a:r>
              <a:rPr lang="ru-RU" sz="1400" b="1" dirty="0">
                <a:latin typeface="Aptos" panose="020B0004020202020204" pitchFamily="34" charset="0"/>
              </a:rPr>
              <a:t>   4. Основа для сериализации</a:t>
            </a:r>
          </a:p>
          <a:p>
            <a:pPr marL="0" indent="0">
              <a:buNone/>
            </a:pPr>
            <a:r>
              <a:rPr lang="ru-RU" sz="1400" dirty="0">
                <a:latin typeface="Aptos" panose="020B0004020202020204" pitchFamily="34" charset="0"/>
              </a:rPr>
              <a:t>   Последовательности обходов позволяют полностью закодировать структуру дерева.</a:t>
            </a:r>
          </a:p>
          <a:p>
            <a:pPr marL="0" indent="0">
              <a:buNone/>
            </a:pPr>
            <a:endParaRPr lang="en-US" sz="14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99441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0CD38-B483-1E5E-56FB-30CC49551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FEC034-9928-1ADB-ECC6-6E3A9F497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ptos Display" panose="020B0004020202020204" pitchFamily="34" charset="0"/>
              </a:rPr>
              <a:t>Обходы дерева (</a:t>
            </a:r>
            <a:r>
              <a:rPr lang="en-US" dirty="0">
                <a:latin typeface="Aptos Display" panose="020B0004020202020204" pitchFamily="34" charset="0"/>
              </a:rPr>
              <a:t>Traversals)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2363C86-EB35-63D0-0A34-270D19B084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41946"/>
                <a:ext cx="10515600" cy="5250929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ru-RU" sz="2000" b="1" dirty="0">
                    <a:latin typeface="Aptos" panose="020B0004020202020204" pitchFamily="34" charset="0"/>
                  </a:rPr>
                  <a:t>   Комплексность обходов</a:t>
                </a:r>
              </a:p>
              <a:p>
                <a:pPr marL="0" indent="0">
                  <a:buNone/>
                </a:pPr>
                <a:r>
                  <a:rPr lang="ru-RU" sz="2000" dirty="0">
                    <a:latin typeface="Aptos" panose="020B0004020202020204" pitchFamily="34" charset="0"/>
                  </a:rPr>
                  <a:t>   Обход любого вида всегда требует посещения всех узлов дерева ровно один раз.</a:t>
                </a:r>
                <a:br>
                  <a:rPr lang="ru-RU" sz="2000" dirty="0">
                    <a:latin typeface="Aptos" panose="020B0004020202020204" pitchFamily="34" charset="0"/>
                  </a:rPr>
                </a:br>
                <a:r>
                  <a:rPr lang="ru-RU" sz="2000" dirty="0">
                    <a:latin typeface="Aptos" panose="020B0004020202020204" pitchFamily="34" charset="0"/>
                  </a:rPr>
                  <a:t>Поэтому его временная сложность: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ar-AE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000" i="1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ar-AE" sz="2000" dirty="0">
                  <a:latin typeface="Aptos" panose="020B0004020202020204" pitchFamily="34" charset="0"/>
                </a:endParaRPr>
              </a:p>
              <a:p>
                <a:pPr marL="0" indent="0">
                  <a:buNone/>
                </a:pPr>
                <a:r>
                  <a:rPr lang="ru-RU" sz="2000" dirty="0">
                    <a:latin typeface="Aptos" panose="020B0004020202020204" pitchFamily="34" charset="0"/>
                  </a:rPr>
                  <a:t>где </a:t>
                </a:r>
                <a:r>
                  <a:rPr lang="en-US" sz="2000" dirty="0">
                    <a:latin typeface="Aptos" panose="020B0004020202020204" pitchFamily="34" charset="0"/>
                  </a:rPr>
                  <a:t>n — </a:t>
                </a:r>
                <a:r>
                  <a:rPr lang="ru-RU" sz="2000" dirty="0">
                    <a:latin typeface="Aptos" panose="020B0004020202020204" pitchFamily="34" charset="0"/>
                  </a:rPr>
                  <a:t>количество узлов в дереве.</a:t>
                </a:r>
              </a:p>
              <a:p>
                <a:pPr marL="0" indent="0">
                  <a:buNone/>
                </a:pPr>
                <a:r>
                  <a:rPr lang="ru-RU" sz="2000" dirty="0">
                    <a:latin typeface="Aptos" panose="020B0004020202020204" pitchFamily="34" charset="0"/>
                  </a:rPr>
                  <a:t>   Это фундаментальный факт:</a:t>
                </a:r>
              </a:p>
              <a:p>
                <a:r>
                  <a:rPr lang="ru-RU" sz="2000" dirty="0">
                    <a:latin typeface="Aptos" panose="020B0004020202020204" pitchFamily="34" charset="0"/>
                  </a:rPr>
                  <a:t>поиск требует пройти путь от корня до листа → зависит от высоты;</a:t>
                </a:r>
              </a:p>
              <a:p>
                <a:r>
                  <a:rPr lang="ru-RU" sz="2000" dirty="0">
                    <a:latin typeface="Aptos" panose="020B0004020202020204" pitchFamily="34" charset="0"/>
                  </a:rPr>
                  <a:t>вставка аналогично;</a:t>
                </a:r>
              </a:p>
              <a:p>
                <a:r>
                  <a:rPr lang="ru-RU" sz="2000" dirty="0">
                    <a:latin typeface="Aptos" panose="020B0004020202020204" pitchFamily="34" charset="0"/>
                  </a:rPr>
                  <a:t>удаление зависит от структуры;</a:t>
                </a:r>
              </a:p>
              <a:p>
                <a:r>
                  <a:rPr lang="ru-RU" sz="2000" b="1" dirty="0">
                    <a:latin typeface="Aptos" panose="020B0004020202020204" pitchFamily="34" charset="0"/>
                  </a:rPr>
                  <a:t>но обход всегда проходит через каждый узел.</a:t>
                </a:r>
                <a:endParaRPr lang="ru-RU" sz="2000" dirty="0">
                  <a:latin typeface="Aptos" panose="020B0004020202020204" pitchFamily="34" charset="0"/>
                </a:endParaRPr>
              </a:p>
              <a:p>
                <a:pPr marL="0" indent="0">
                  <a:buNone/>
                </a:pPr>
                <a:r>
                  <a:rPr lang="ru-RU" sz="2000" dirty="0">
                    <a:latin typeface="Aptos" panose="020B0004020202020204" pitchFamily="34" charset="0"/>
                  </a:rPr>
                  <a:t>   Поэтому сложность линейная — независимо от того, сбалансировано дерево или нет.</a:t>
                </a:r>
              </a:p>
              <a:p>
                <a:pPr marL="0" indent="0">
                  <a:buNone/>
                </a:pPr>
                <a:endParaRPr lang="en-US" sz="20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2363C86-EB35-63D0-0A34-270D19B084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41946"/>
                <a:ext cx="10515600" cy="5250929"/>
              </a:xfrm>
              <a:blipFill>
                <a:blip r:embed="rId2"/>
                <a:stretch>
                  <a:fillRect l="-638" t="-11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6490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D0B13-AC40-A358-D605-2AF45A900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8DE44B-9C51-2978-F8C1-66B8C73D2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 Display" panose="020B0004020202020204" pitchFamily="34" charset="0"/>
              </a:rPr>
              <a:t>AVL </a:t>
            </a:r>
            <a:r>
              <a:rPr lang="ru-RU" dirty="0">
                <a:latin typeface="Aptos Display" panose="020B0004020202020204" pitchFamily="34" charset="0"/>
              </a:rPr>
              <a:t>и </a:t>
            </a:r>
            <a:r>
              <a:rPr lang="en-US" dirty="0">
                <a:latin typeface="Aptos Display" panose="020B0004020202020204" pitchFamily="34" charset="0"/>
              </a:rPr>
              <a:t>Red-Black </a:t>
            </a:r>
            <a:r>
              <a:rPr lang="ru-RU" dirty="0">
                <a:latin typeface="Aptos Display" panose="020B0004020202020204" pitchFamily="34" charset="0"/>
              </a:rPr>
              <a:t>деревья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C123FB-7831-2305-431B-427F7E5E37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1946"/>
            <a:ext cx="10515600" cy="525092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>
                <a:latin typeface="Aptos" panose="020B0004020202020204" pitchFamily="34" charset="0"/>
              </a:rPr>
              <a:t>   Хотя обычное двоичное дерево поиска является гибкой и полезной структурой данных, оно имеет фундаментальный недостаток: его форма целиком зависит от порядка вставки элементов. В худшем случае BST может превратиться в линейный список, что приводит к резкому ухудшению производительности всех ключевых операций — поиска, вставки и удаления. Именно поэтому в реальных программных системах, где важны стабильность и предсказуемость алгоритмов, широко применяются </a:t>
            </a:r>
            <a:r>
              <a:rPr lang="ru-RU" sz="2400" b="1" dirty="0">
                <a:latin typeface="Aptos" panose="020B0004020202020204" pitchFamily="34" charset="0"/>
              </a:rPr>
              <a:t>самобалансирующиеся деревья</a:t>
            </a:r>
            <a:r>
              <a:rPr lang="ru-RU" sz="2400" dirty="0">
                <a:latin typeface="Aptos" panose="020B0004020202020204" pitchFamily="34" charset="0"/>
              </a:rPr>
              <a:t> — структуры, которые автоматически поддерживают свою высоту близкой к логарифмической.</a:t>
            </a:r>
          </a:p>
          <a:p>
            <a:pPr marL="0" indent="0">
              <a:buNone/>
            </a:pPr>
            <a:r>
              <a:rPr lang="ru-RU" sz="2400" dirty="0">
                <a:latin typeface="Aptos" panose="020B0004020202020204" pitchFamily="34" charset="0"/>
              </a:rPr>
              <a:t>   Два наиболее известных и часто используемых вида таких структур — </a:t>
            </a:r>
            <a:r>
              <a:rPr lang="ru-RU" sz="2400" b="1" dirty="0">
                <a:latin typeface="Aptos" panose="020B0004020202020204" pitchFamily="34" charset="0"/>
              </a:rPr>
              <a:t>AVL-деревья</a:t>
            </a:r>
            <a:r>
              <a:rPr lang="ru-RU" sz="2400" dirty="0">
                <a:latin typeface="Aptos" panose="020B0004020202020204" pitchFamily="34" charset="0"/>
              </a:rPr>
              <a:t> и </a:t>
            </a:r>
            <a:r>
              <a:rPr lang="ru-RU" sz="2400" b="1" dirty="0">
                <a:latin typeface="Aptos" panose="020B0004020202020204" pitchFamily="34" charset="0"/>
              </a:rPr>
              <a:t>красно-чёрные деревья (Red-Black </a:t>
            </a:r>
            <a:r>
              <a:rPr lang="ru-RU" sz="2400" b="1" dirty="0" err="1">
                <a:latin typeface="Aptos" panose="020B0004020202020204" pitchFamily="34" charset="0"/>
              </a:rPr>
              <a:t>Trees</a:t>
            </a:r>
            <a:r>
              <a:rPr lang="ru-RU" sz="2400" b="1" dirty="0">
                <a:latin typeface="Aptos" panose="020B0004020202020204" pitchFamily="34" charset="0"/>
              </a:rPr>
              <a:t>)</a:t>
            </a:r>
            <a:r>
              <a:rPr lang="ru-RU" sz="2400" dirty="0">
                <a:latin typeface="Aptos" panose="020B0004020202020204" pitchFamily="34" charset="0"/>
              </a:rPr>
              <a:t>. Оба они являются разновидностями BST, но содержат дополнительные механизмы контроля высоты, что обеспечивает гарантированную эффективность операций.</a:t>
            </a:r>
          </a:p>
          <a:p>
            <a:endParaRPr lang="ru-RU" sz="2400" dirty="0">
              <a:latin typeface="Aptos" panose="020B0004020202020204" pitchFamily="34" charset="0"/>
            </a:endParaRPr>
          </a:p>
          <a:p>
            <a:endParaRPr lang="en-US" sz="24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78224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154C9-5269-97C8-97BF-6B74BB91F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1BF57D-3A4C-DBA8-A66A-925281F2D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 Display" panose="020B0004020202020204" pitchFamily="34" charset="0"/>
              </a:rPr>
              <a:t>AVL </a:t>
            </a:r>
            <a:r>
              <a:rPr lang="ru-RU" dirty="0">
                <a:latin typeface="Aptos Display" panose="020B0004020202020204" pitchFamily="34" charset="0"/>
              </a:rPr>
              <a:t>и </a:t>
            </a:r>
            <a:r>
              <a:rPr lang="en-US" dirty="0">
                <a:latin typeface="Aptos Display" panose="020B0004020202020204" pitchFamily="34" charset="0"/>
              </a:rPr>
              <a:t>Red-Black </a:t>
            </a:r>
            <a:r>
              <a:rPr lang="ru-RU" dirty="0">
                <a:latin typeface="Aptos Display" panose="020B0004020202020204" pitchFamily="34" charset="0"/>
              </a:rPr>
              <a:t>деревья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554BF27-0246-36BC-E948-BFCAFCFDEC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37230"/>
                <a:ext cx="6381466" cy="5568286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ru-RU" sz="1400" dirty="0">
                    <a:latin typeface="Aptos" panose="020B0004020202020204" pitchFamily="34" charset="0"/>
                  </a:rPr>
                  <a:t>   </a:t>
                </a:r>
                <a:r>
                  <a:rPr lang="en-US" sz="1400" dirty="0">
                    <a:latin typeface="Aptos" panose="020B0004020202020204" pitchFamily="34" charset="0"/>
                  </a:rPr>
                  <a:t>AVL-</a:t>
                </a:r>
                <a:r>
                  <a:rPr lang="ru-RU" sz="1400" dirty="0">
                    <a:latin typeface="Aptos" panose="020B0004020202020204" pitchFamily="34" charset="0"/>
                  </a:rPr>
                  <a:t>деревья — это первые в истории самобалансирующиеся двоичные деревья, предложенные в 1962 году Георгием Адельсоном-Вельским и Евгением Ландисом. Их ключевая идея заключается в строгом контроле высоты поддеревьев каждого узла.</a:t>
                </a:r>
              </a:p>
              <a:p>
                <a:pPr marL="0" indent="0">
                  <a:buNone/>
                </a:pPr>
                <a:r>
                  <a:rPr lang="ru-RU" sz="1400" b="1" dirty="0">
                    <a:latin typeface="Aptos" panose="020B0004020202020204" pitchFamily="34" charset="0"/>
                  </a:rPr>
                  <a:t>   Основная идея</a:t>
                </a:r>
              </a:p>
              <a:p>
                <a:pPr marL="0" indent="0">
                  <a:buNone/>
                </a:pPr>
                <a:r>
                  <a:rPr lang="ru-RU" sz="1400" dirty="0">
                    <a:latin typeface="Aptos" panose="020B0004020202020204" pitchFamily="34" charset="0"/>
                  </a:rPr>
                  <a:t>   </a:t>
                </a:r>
                <a:r>
                  <a:rPr lang="en-US" sz="1400" dirty="0">
                    <a:latin typeface="Aptos" panose="020B0004020202020204" pitchFamily="34" charset="0"/>
                  </a:rPr>
                  <a:t>AVL-</a:t>
                </a:r>
                <a:r>
                  <a:rPr lang="ru-RU" sz="1400" dirty="0">
                    <a:latin typeface="Aptos" panose="020B0004020202020204" pitchFamily="34" charset="0"/>
                  </a:rPr>
                  <a:t>дерево поддерживает так называемый </a:t>
                </a:r>
                <a:r>
                  <a:rPr lang="ru-RU" sz="1400" b="1" dirty="0">
                    <a:latin typeface="Aptos" panose="020B0004020202020204" pitchFamily="34" charset="0"/>
                  </a:rPr>
                  <a:t>баланс-фактор</a:t>
                </a:r>
                <a:r>
                  <a:rPr lang="ru-RU" sz="1400" dirty="0">
                    <a:latin typeface="Aptos" panose="020B0004020202020204" pitchFamily="34" charset="0"/>
                  </a:rPr>
                  <a:t>, равный разнице высот левого и правого поддеревьев узла: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 i="1">
                          <a:latin typeface="Cambria Math" panose="02040503050406030204" pitchFamily="18" charset="0"/>
                        </a:rPr>
                        <m:t>𝑏𝑎𝑙𝑎𝑛𝑐𝑒</m:t>
                      </m:r>
                      <m:r>
                        <a:rPr lang="ru-RU" sz="1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1400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ru-RU" sz="1400" i="1">
                          <a:latin typeface="Cambria Math" panose="02040503050406030204" pitchFamily="18" charset="0"/>
                        </a:rPr>
                        <m:t>𝑒𝑖𝑔</m:t>
                      </m:r>
                      <m:r>
                        <a:rPr lang="ru-RU" sz="1400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ru-RU" sz="1400" i="1"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ctrlPr>
                            <a:rPr lang="ar-AE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400" i="1">
                              <a:latin typeface="Cambria Math" panose="02040503050406030204" pitchFamily="18" charset="0"/>
                            </a:rPr>
                            <m:t>𝑙𝑒𝑓𝑡</m:t>
                          </m:r>
                        </m:e>
                      </m:d>
                      <m:r>
                        <a:rPr lang="ar-AE" sz="140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 sz="1400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ar-AE" sz="1400" i="1">
                          <a:latin typeface="Cambria Math" panose="02040503050406030204" pitchFamily="18" charset="0"/>
                        </a:rPr>
                        <m:t>𝑒𝑖𝑔</m:t>
                      </m:r>
                      <m:r>
                        <a:rPr lang="ar-AE" sz="1400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ar-AE" sz="1400" i="1"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ctrlPr>
                            <a:rPr lang="ar-AE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400" i="1">
                              <a:latin typeface="Cambria Math" panose="02040503050406030204" pitchFamily="18" charset="0"/>
                            </a:rPr>
                            <m:t>𝑟𝑖𝑔</m:t>
                          </m:r>
                          <m:r>
                            <a:rPr lang="ar-AE" sz="14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ar-AE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ar-AE" sz="1400" dirty="0">
                  <a:latin typeface="Aptos" panose="020B0004020202020204" pitchFamily="34" charset="0"/>
                </a:endParaRPr>
              </a:p>
              <a:p>
                <a:pPr marL="0" indent="0">
                  <a:buNone/>
                </a:pPr>
                <a:r>
                  <a:rPr lang="ru-RU" sz="1400" dirty="0">
                    <a:latin typeface="Aptos" panose="020B0004020202020204" pitchFamily="34" charset="0"/>
                  </a:rPr>
                  <a:t>   Для каждого узла выполняется правило: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ru-RU" sz="1400" i="1">
                          <a:latin typeface="Cambria Math" panose="02040503050406030204" pitchFamily="18" charset="0"/>
                        </a:rPr>
                        <m:t>𝑏𝑎𝑙𝑎𝑛𝑐𝑒</m:t>
                      </m:r>
                      <m:r>
                        <a:rPr lang="ru-RU" sz="1400">
                          <a:latin typeface="Cambria Math" panose="02040503050406030204" pitchFamily="18" charset="0"/>
                        </a:rPr>
                        <m:t>∣≤</m:t>
                      </m:r>
                      <m:r>
                        <a:rPr lang="ru-RU" sz="140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ru-RU" sz="1400" dirty="0">
                  <a:latin typeface="Aptos" panose="020B0004020202020204" pitchFamily="34" charset="0"/>
                </a:endParaRPr>
              </a:p>
              <a:p>
                <a:pPr marL="0" indent="0">
                  <a:buNone/>
                </a:pPr>
                <a:r>
                  <a:rPr lang="ru-RU" sz="1400" dirty="0">
                    <a:latin typeface="Aptos" panose="020B0004020202020204" pitchFamily="34" charset="0"/>
                  </a:rPr>
                  <a:t>   Если после вставки или удаления нарушается это условие, дерево выполняет </a:t>
                </a:r>
                <a:r>
                  <a:rPr lang="ru-RU" sz="1400" b="1" dirty="0">
                    <a:latin typeface="Aptos" panose="020B0004020202020204" pitchFamily="34" charset="0"/>
                  </a:rPr>
                  <a:t>повороты</a:t>
                </a:r>
                <a:r>
                  <a:rPr lang="ru-RU" sz="1400" dirty="0">
                    <a:latin typeface="Aptos" panose="020B0004020202020204" pitchFamily="34" charset="0"/>
                  </a:rPr>
                  <a:t> — специальные операции перестройки узлов, возвращающие дерево к сбалансированному виду.</a:t>
                </a:r>
              </a:p>
              <a:p>
                <a:pPr marL="0" indent="0">
                  <a:buNone/>
                </a:pPr>
                <a:r>
                  <a:rPr lang="ru-RU" sz="1400" b="1" dirty="0">
                    <a:latin typeface="Aptos" panose="020B0004020202020204" pitchFamily="34" charset="0"/>
                  </a:rPr>
                  <a:t>   Роль балансировки в </a:t>
                </a:r>
                <a:r>
                  <a:rPr lang="en-US" sz="1400" b="1" dirty="0">
                    <a:latin typeface="Aptos" panose="020B0004020202020204" pitchFamily="34" charset="0"/>
                  </a:rPr>
                  <a:t>AVL</a:t>
                </a:r>
              </a:p>
              <a:p>
                <a:pPr marL="0" indent="0">
                  <a:buNone/>
                </a:pPr>
                <a:r>
                  <a:rPr lang="ru-RU" sz="1400" dirty="0">
                    <a:latin typeface="Aptos" panose="020B0004020202020204" pitchFamily="34" charset="0"/>
                  </a:rPr>
                  <a:t>   Поддержание баланса гарантирует:</a:t>
                </a:r>
              </a:p>
              <a:p>
                <a:r>
                  <a:rPr lang="ru-RU" sz="1400" dirty="0">
                    <a:latin typeface="Aptos" panose="020B0004020202020204" pitchFamily="34" charset="0"/>
                  </a:rPr>
                  <a:t>минимальную возможную высоту дерева;</a:t>
                </a:r>
              </a:p>
              <a:p>
                <a:r>
                  <a:rPr lang="ru-RU" sz="1400" dirty="0">
                    <a:latin typeface="Aptos" panose="020B0004020202020204" pitchFamily="34" charset="0"/>
                  </a:rPr>
                  <a:t>стабильную производительность;</a:t>
                </a:r>
              </a:p>
              <a:p>
                <a:r>
                  <a:rPr lang="ru-RU" sz="1400" dirty="0">
                    <a:latin typeface="Aptos" panose="020B0004020202020204" pitchFamily="34" charset="0"/>
                  </a:rPr>
                  <a:t>логарифмическую сложность операций в худшем случае: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 i="1">
                          <a:latin typeface="Cambria Math" panose="02040503050406030204" pitchFamily="18" charset="0"/>
                        </a:rPr>
                        <m:t>𝑆𝑒𝑎𝑟𝑐</m:t>
                      </m:r>
                      <m:r>
                        <a:rPr lang="ru-RU" sz="1400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ru-RU" sz="1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1400" i="1">
                          <a:latin typeface="Cambria Math" panose="02040503050406030204" pitchFamily="18" charset="0"/>
                        </a:rPr>
                        <m:t>𝐼𝑛𝑠𝑒𝑟𝑡</m:t>
                      </m:r>
                      <m:r>
                        <a:rPr lang="ru-RU" sz="1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1400" i="1">
                          <a:latin typeface="Cambria Math" panose="02040503050406030204" pitchFamily="18" charset="0"/>
                        </a:rPr>
                        <m:t>𝐷𝑒𝑙𝑒𝑡𝑒</m:t>
                      </m:r>
                      <m:r>
                        <a:rPr lang="ru-RU" sz="1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1400" i="1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ar-AE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ar-AE" sz="1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ar-AE" sz="1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ar-AE" sz="1400" dirty="0">
                  <a:latin typeface="Aptos" panose="020B0004020202020204" pitchFamily="34" charset="0"/>
                </a:endParaRPr>
              </a:p>
              <a:p>
                <a:pPr marL="0" indent="0">
                  <a:buNone/>
                </a:pPr>
                <a:r>
                  <a:rPr lang="ru-RU" sz="1400" dirty="0">
                    <a:latin typeface="Aptos" panose="020B0004020202020204" pitchFamily="34" charset="0"/>
                  </a:rPr>
                  <a:t>Однако строгая балансировка имеет цену — операции вставки и удаления требуют дополнительных вычислений (расчёт высот, выполнение поворотов).</a:t>
                </a:r>
              </a:p>
              <a:p>
                <a:pPr marL="0" indent="0">
                  <a:buNone/>
                </a:pPr>
                <a:endParaRPr lang="ru-RU" sz="1400" dirty="0">
                  <a:latin typeface="Aptos" panose="020B0004020202020204" pitchFamily="34" charset="0"/>
                </a:endParaRPr>
              </a:p>
              <a:p>
                <a:endParaRPr lang="ru-RU" sz="1400" dirty="0">
                  <a:latin typeface="Aptos" panose="020B0004020202020204" pitchFamily="34" charset="0"/>
                </a:endParaRPr>
              </a:p>
              <a:p>
                <a:endParaRPr lang="en-US" sz="14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554BF27-0246-36BC-E948-BFCAFCFDEC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37230"/>
                <a:ext cx="6381466" cy="5568286"/>
              </a:xfrm>
              <a:blipFill>
                <a:blip r:embed="rId2"/>
                <a:stretch>
                  <a:fillRect l="-287" t="-547" b="-14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632415B-ECB0-2DA1-6EFF-C250DF91C3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7962" y="1816693"/>
            <a:ext cx="428625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6906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81D90-03CE-446E-7662-781ED80C4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DEAE29-63A3-6A90-5DD6-42B5B4279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 Display" panose="020B0004020202020204" pitchFamily="34" charset="0"/>
              </a:rPr>
              <a:t>AVL </a:t>
            </a:r>
            <a:r>
              <a:rPr lang="ru-RU" dirty="0">
                <a:latin typeface="Aptos Display" panose="020B0004020202020204" pitchFamily="34" charset="0"/>
              </a:rPr>
              <a:t>и </a:t>
            </a:r>
            <a:r>
              <a:rPr lang="en-US" dirty="0">
                <a:latin typeface="Aptos Display" panose="020B0004020202020204" pitchFamily="34" charset="0"/>
              </a:rPr>
              <a:t>Red-Black </a:t>
            </a:r>
            <a:r>
              <a:rPr lang="ru-RU" dirty="0">
                <a:latin typeface="Aptos Display" panose="020B0004020202020204" pitchFamily="34" charset="0"/>
              </a:rPr>
              <a:t>деревья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51B821-28D0-C982-2340-FB59C9CDE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1946"/>
            <a:ext cx="10515600" cy="534992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400" b="1" dirty="0">
                <a:latin typeface="Aptos" panose="020B0004020202020204" pitchFamily="34" charset="0"/>
              </a:rPr>
              <a:t>   Повороты</a:t>
            </a:r>
          </a:p>
          <a:p>
            <a:pPr marL="0" indent="0">
              <a:buNone/>
            </a:pPr>
            <a:r>
              <a:rPr lang="ru-RU" sz="1400" dirty="0">
                <a:latin typeface="Aptos" panose="020B0004020202020204" pitchFamily="34" charset="0"/>
              </a:rPr>
              <a:t>   Чтобы исправить нарушение баланса, AVL-дерево использует одинарные и двойные повороты:</a:t>
            </a:r>
          </a:p>
          <a:p>
            <a:r>
              <a:rPr lang="ru-RU" sz="1400" dirty="0">
                <a:latin typeface="Aptos" panose="020B0004020202020204" pitchFamily="34" charset="0"/>
              </a:rPr>
              <a:t>правый поворот,</a:t>
            </a:r>
          </a:p>
          <a:p>
            <a:r>
              <a:rPr lang="ru-RU" sz="1400" dirty="0">
                <a:latin typeface="Aptos" panose="020B0004020202020204" pitchFamily="34" charset="0"/>
              </a:rPr>
              <a:t>левый поворот,</a:t>
            </a:r>
          </a:p>
          <a:p>
            <a:r>
              <a:rPr lang="ru-RU" sz="1400" dirty="0">
                <a:latin typeface="Aptos" panose="020B0004020202020204" pitchFamily="34" charset="0"/>
              </a:rPr>
              <a:t>левый-правый,</a:t>
            </a:r>
          </a:p>
          <a:p>
            <a:r>
              <a:rPr lang="ru-RU" sz="1400" dirty="0">
                <a:latin typeface="Aptos" panose="020B0004020202020204" pitchFamily="34" charset="0"/>
              </a:rPr>
              <a:t>правый-левый.</a:t>
            </a:r>
          </a:p>
          <a:p>
            <a:pPr marL="0" indent="0">
              <a:buNone/>
            </a:pPr>
            <a:r>
              <a:rPr lang="ru-RU" sz="1400" dirty="0">
                <a:latin typeface="Aptos" panose="020B0004020202020204" pitchFamily="34" charset="0"/>
              </a:rPr>
              <a:t>   Повороты — это локальные операции над поддеревьями, которые меняют их структуру без нарушения свойств BST, но восстанавливают баланс-фактор.</a:t>
            </a:r>
          </a:p>
          <a:p>
            <a:pPr marL="0" indent="0">
              <a:buNone/>
            </a:pPr>
            <a:r>
              <a:rPr lang="ru-RU" sz="1400" b="1" dirty="0">
                <a:latin typeface="Aptos" panose="020B0004020202020204" pitchFamily="34" charset="0"/>
              </a:rPr>
              <a:t>   Преимущества и недостатки AVL</a:t>
            </a:r>
          </a:p>
          <a:p>
            <a:pPr marL="0" indent="0">
              <a:buNone/>
            </a:pPr>
            <a:r>
              <a:rPr lang="ru-RU" sz="1400" b="1" dirty="0">
                <a:latin typeface="Aptos" panose="020B0004020202020204" pitchFamily="34" charset="0"/>
              </a:rPr>
              <a:t>   Преимущества</a:t>
            </a:r>
          </a:p>
          <a:p>
            <a:r>
              <a:rPr lang="ru-RU" sz="1400" dirty="0">
                <a:latin typeface="Aptos" panose="020B0004020202020204" pitchFamily="34" charset="0"/>
              </a:rPr>
              <a:t>самое строго сбалансированное из всех BST;</a:t>
            </a:r>
          </a:p>
          <a:p>
            <a:r>
              <a:rPr lang="ru-RU" sz="1400" dirty="0">
                <a:latin typeface="Aptos" panose="020B0004020202020204" pitchFamily="34" charset="0"/>
              </a:rPr>
              <a:t>минимальная высота → быстрый поиск;</a:t>
            </a:r>
          </a:p>
          <a:p>
            <a:r>
              <a:rPr lang="ru-RU" sz="1400" dirty="0">
                <a:latin typeface="Aptos" panose="020B0004020202020204" pitchFamily="34" charset="0"/>
              </a:rPr>
              <a:t>идеальны для сценариев, где поиск важнее вставки.</a:t>
            </a:r>
          </a:p>
          <a:p>
            <a:pPr marL="0" indent="0">
              <a:buNone/>
            </a:pPr>
            <a:r>
              <a:rPr lang="ru-RU" sz="1400" b="1" dirty="0">
                <a:latin typeface="Aptos" panose="020B0004020202020204" pitchFamily="34" charset="0"/>
              </a:rPr>
              <a:t>   Недостатки</a:t>
            </a:r>
          </a:p>
          <a:p>
            <a:r>
              <a:rPr lang="ru-RU" sz="1400" dirty="0">
                <a:latin typeface="Aptos" panose="020B0004020202020204" pitchFamily="34" charset="0"/>
              </a:rPr>
              <a:t>вставка и удаление требуют больше усилий;</a:t>
            </a:r>
          </a:p>
          <a:p>
            <a:r>
              <a:rPr lang="ru-RU" sz="1400" dirty="0">
                <a:latin typeface="Aptos" panose="020B0004020202020204" pitchFamily="34" charset="0"/>
              </a:rPr>
              <a:t>сложнее реализовать;</a:t>
            </a:r>
          </a:p>
          <a:p>
            <a:r>
              <a:rPr lang="ru-RU" sz="1400" dirty="0">
                <a:latin typeface="Aptos" panose="020B0004020202020204" pitchFamily="34" charset="0"/>
              </a:rPr>
              <a:t>большое количество поворотов при активном изменении структуры.</a:t>
            </a:r>
          </a:p>
          <a:p>
            <a:pPr marL="0" indent="0">
              <a:buNone/>
            </a:pPr>
            <a:endParaRPr lang="ru-RU" sz="1400" dirty="0">
              <a:latin typeface="Aptos" panose="020B0004020202020204" pitchFamily="34" charset="0"/>
            </a:endParaRPr>
          </a:p>
          <a:p>
            <a:endParaRPr lang="ru-RU" sz="1400" dirty="0">
              <a:latin typeface="Aptos" panose="020B0004020202020204" pitchFamily="34" charset="0"/>
            </a:endParaRPr>
          </a:p>
          <a:p>
            <a:endParaRPr lang="en-US" sz="14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83297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240CE-8B9F-7742-F569-E2F114DB7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D9C644-82AD-4FF4-DFB3-D0FCD6409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 Display" panose="020B0004020202020204" pitchFamily="34" charset="0"/>
              </a:rPr>
              <a:t>AVL </a:t>
            </a:r>
            <a:r>
              <a:rPr lang="ru-RU" dirty="0">
                <a:latin typeface="Aptos Display" panose="020B0004020202020204" pitchFamily="34" charset="0"/>
              </a:rPr>
              <a:t>и </a:t>
            </a:r>
            <a:r>
              <a:rPr lang="en-US" dirty="0">
                <a:latin typeface="Aptos Display" panose="020B0004020202020204" pitchFamily="34" charset="0"/>
              </a:rPr>
              <a:t>Red-Black </a:t>
            </a:r>
            <a:r>
              <a:rPr lang="ru-RU" dirty="0">
                <a:latin typeface="Aptos Display" panose="020B0004020202020204" pitchFamily="34" charset="0"/>
              </a:rPr>
              <a:t>деревья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E9081A-C577-4149-CE58-F2B181900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1946"/>
            <a:ext cx="4866564" cy="534992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400" b="1" dirty="0">
                <a:latin typeface="Aptos" panose="020B0004020202020204" pitchFamily="34" charset="0"/>
              </a:rPr>
              <a:t>   Красно-чёрные деревья (Red-Black </a:t>
            </a:r>
            <a:r>
              <a:rPr lang="ru-RU" sz="1400" b="1" dirty="0" err="1">
                <a:latin typeface="Aptos" panose="020B0004020202020204" pitchFamily="34" charset="0"/>
              </a:rPr>
              <a:t>Trees</a:t>
            </a:r>
            <a:r>
              <a:rPr lang="ru-RU" sz="1400" b="1" dirty="0">
                <a:latin typeface="Aptos" panose="020B0004020202020204" pitchFamily="34" charset="0"/>
              </a:rPr>
              <a:t>)</a:t>
            </a:r>
          </a:p>
          <a:p>
            <a:pPr marL="0" indent="0">
              <a:buNone/>
            </a:pPr>
            <a:r>
              <a:rPr lang="ru-RU" sz="1400" dirty="0">
                <a:latin typeface="Aptos" panose="020B0004020202020204" pitchFamily="34" charset="0"/>
              </a:rPr>
              <a:t>   Красно-чёрные деревья — более «мягкий» вид самобалансирующихся деревьев, который был предложен в 1978 году Байером. В отличие от AVL-деревьев, красно-чёрные деревья допускают небольшие перекосы, но обеспечивают ограничение высоты и балансировку с минимальными затратами ресурсов. Именно поэтому они стали стандартом во многих языках программирования. Например:</a:t>
            </a:r>
          </a:p>
          <a:p>
            <a:r>
              <a:rPr lang="ru-RU" sz="1400" dirty="0" err="1">
                <a:latin typeface="Aptos" panose="020B0004020202020204" pitchFamily="34" charset="0"/>
              </a:rPr>
              <a:t>std</a:t>
            </a:r>
            <a:r>
              <a:rPr lang="ru-RU" sz="1400" dirty="0">
                <a:latin typeface="Aptos" panose="020B0004020202020204" pitchFamily="34" charset="0"/>
              </a:rPr>
              <a:t>::</a:t>
            </a:r>
            <a:r>
              <a:rPr lang="ru-RU" sz="1400" dirty="0" err="1">
                <a:latin typeface="Aptos" panose="020B0004020202020204" pitchFamily="34" charset="0"/>
              </a:rPr>
              <a:t>map</a:t>
            </a:r>
            <a:r>
              <a:rPr lang="ru-RU" sz="1400" dirty="0">
                <a:latin typeface="Aptos" panose="020B0004020202020204" pitchFamily="34" charset="0"/>
              </a:rPr>
              <a:t> и </a:t>
            </a:r>
            <a:r>
              <a:rPr lang="ru-RU" sz="1400" dirty="0" err="1">
                <a:latin typeface="Aptos" panose="020B0004020202020204" pitchFamily="34" charset="0"/>
              </a:rPr>
              <a:t>std</a:t>
            </a:r>
            <a:r>
              <a:rPr lang="ru-RU" sz="1400" dirty="0">
                <a:latin typeface="Aptos" panose="020B0004020202020204" pitchFamily="34" charset="0"/>
              </a:rPr>
              <a:t>::</a:t>
            </a:r>
            <a:r>
              <a:rPr lang="ru-RU" sz="1400" dirty="0" err="1">
                <a:latin typeface="Aptos" panose="020B0004020202020204" pitchFamily="34" charset="0"/>
              </a:rPr>
              <a:t>set</a:t>
            </a:r>
            <a:r>
              <a:rPr lang="ru-RU" sz="1400" dirty="0">
                <a:latin typeface="Aptos" panose="020B0004020202020204" pitchFamily="34" charset="0"/>
              </a:rPr>
              <a:t> в C++,</a:t>
            </a:r>
          </a:p>
          <a:p>
            <a:r>
              <a:rPr lang="ru-RU" sz="1400" dirty="0" err="1">
                <a:latin typeface="Aptos" panose="020B0004020202020204" pitchFamily="34" charset="0"/>
              </a:rPr>
              <a:t>TreeMap</a:t>
            </a:r>
            <a:r>
              <a:rPr lang="ru-RU" sz="1400" dirty="0">
                <a:latin typeface="Aptos" panose="020B0004020202020204" pitchFamily="34" charset="0"/>
              </a:rPr>
              <a:t> в Java,</a:t>
            </a:r>
          </a:p>
          <a:p>
            <a:r>
              <a:rPr lang="ru-RU" sz="1400" dirty="0">
                <a:latin typeface="Aptos" panose="020B0004020202020204" pitchFamily="34" charset="0"/>
              </a:rPr>
              <a:t>внутренние структуры компиляторов,</a:t>
            </a:r>
          </a:p>
          <a:p>
            <a:r>
              <a:rPr lang="ru-RU" sz="1400" dirty="0">
                <a:latin typeface="Aptos" panose="020B0004020202020204" pitchFamily="34" charset="0"/>
              </a:rPr>
              <a:t>балансированные индексы в базах данных.</a:t>
            </a:r>
          </a:p>
          <a:p>
            <a:pPr marL="0" indent="0">
              <a:buNone/>
            </a:pPr>
            <a:r>
              <a:rPr lang="ru-RU" sz="1400" b="1" dirty="0">
                <a:latin typeface="Aptos" panose="020B0004020202020204" pitchFamily="34" charset="0"/>
              </a:rPr>
              <a:t>   Основная идея Red-Black </a:t>
            </a:r>
            <a:r>
              <a:rPr lang="ru-RU" sz="1400" b="1" dirty="0" err="1">
                <a:latin typeface="Aptos" panose="020B0004020202020204" pitchFamily="34" charset="0"/>
              </a:rPr>
              <a:t>Trees</a:t>
            </a:r>
            <a:endParaRPr lang="ru-RU" sz="1400" b="1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ru-RU" sz="1400" dirty="0">
                <a:latin typeface="Aptos" panose="020B0004020202020204" pitchFamily="34" charset="0"/>
              </a:rPr>
              <a:t>   Каждый узел имеет дополнительный атрибут — цвет:</a:t>
            </a:r>
          </a:p>
          <a:p>
            <a:r>
              <a:rPr lang="ru-RU" sz="1400" dirty="0">
                <a:latin typeface="Aptos" panose="020B0004020202020204" pitchFamily="34" charset="0"/>
              </a:rPr>
              <a:t>красный (</a:t>
            </a:r>
            <a:r>
              <a:rPr lang="ru-RU" sz="1400" dirty="0" err="1">
                <a:latin typeface="Aptos" panose="020B0004020202020204" pitchFamily="34" charset="0"/>
              </a:rPr>
              <a:t>red</a:t>
            </a:r>
            <a:r>
              <a:rPr lang="ru-RU" sz="1400" dirty="0">
                <a:latin typeface="Aptos" panose="020B0004020202020204" pitchFamily="34" charset="0"/>
              </a:rPr>
              <a:t>)</a:t>
            </a:r>
          </a:p>
          <a:p>
            <a:r>
              <a:rPr lang="ru-RU" sz="1400" dirty="0">
                <a:latin typeface="Aptos" panose="020B0004020202020204" pitchFamily="34" charset="0"/>
              </a:rPr>
              <a:t>чёрный (</a:t>
            </a:r>
            <a:r>
              <a:rPr lang="ru-RU" sz="1400" dirty="0" err="1">
                <a:latin typeface="Aptos" panose="020B0004020202020204" pitchFamily="34" charset="0"/>
              </a:rPr>
              <a:t>black</a:t>
            </a:r>
            <a:r>
              <a:rPr lang="ru-RU" sz="1400" dirty="0">
                <a:latin typeface="Aptos" panose="020B0004020202020204" pitchFamily="34" charset="0"/>
              </a:rPr>
              <a:t>)</a:t>
            </a:r>
          </a:p>
          <a:p>
            <a:pPr marL="0" indent="0">
              <a:buNone/>
            </a:pPr>
            <a:endParaRPr lang="ru-RU" sz="1400" dirty="0"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ru-RU" sz="1400" dirty="0">
              <a:latin typeface="Aptos" panose="020B0004020202020204" pitchFamily="34" charset="0"/>
            </a:endParaRPr>
          </a:p>
          <a:p>
            <a:endParaRPr lang="ru-RU" sz="1400" dirty="0">
              <a:latin typeface="Aptos" panose="020B0004020202020204" pitchFamily="34" charset="0"/>
            </a:endParaRPr>
          </a:p>
          <a:p>
            <a:endParaRPr lang="en-US" sz="1400" dirty="0">
              <a:latin typeface="Aptos" panose="020B0004020202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86638DD-106F-9599-A979-E19E086F2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8756" y="1718980"/>
            <a:ext cx="6980413" cy="3420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2995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1480C-1B59-6651-EFFE-CC9FF3D70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688799-4DAF-F324-AD29-086A0BC66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 Display" panose="020B0004020202020204" pitchFamily="34" charset="0"/>
              </a:rPr>
              <a:t>AVL </a:t>
            </a:r>
            <a:r>
              <a:rPr lang="ru-RU" dirty="0">
                <a:latin typeface="Aptos Display" panose="020B0004020202020204" pitchFamily="34" charset="0"/>
              </a:rPr>
              <a:t>и </a:t>
            </a:r>
            <a:r>
              <a:rPr lang="en-US" dirty="0">
                <a:latin typeface="Aptos Display" panose="020B0004020202020204" pitchFamily="34" charset="0"/>
              </a:rPr>
              <a:t>Red-Black </a:t>
            </a:r>
            <a:r>
              <a:rPr lang="ru-RU" dirty="0">
                <a:latin typeface="Aptos Display" panose="020B0004020202020204" pitchFamily="34" charset="0"/>
              </a:rPr>
              <a:t>деревья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D23F497-C190-D7A1-6FEA-EF7A16F731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41946"/>
                <a:ext cx="10515600" cy="5349923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1400" b="1" dirty="0">
                    <a:latin typeface="Aptos" panose="020B0004020202020204" pitchFamily="34" charset="0"/>
                  </a:rPr>
                  <a:t>   </a:t>
                </a:r>
                <a:r>
                  <a:rPr lang="ru-RU" sz="1400" b="1" dirty="0">
                    <a:latin typeface="Aptos" panose="020B0004020202020204" pitchFamily="34" charset="0"/>
                  </a:rPr>
                  <a:t>Правила красно-чёрного дерева</a:t>
                </a:r>
              </a:p>
              <a:p>
                <a:r>
                  <a:rPr lang="ru-RU" sz="1400" dirty="0">
                    <a:latin typeface="Aptos" panose="020B0004020202020204" pitchFamily="34" charset="0"/>
                  </a:rPr>
                  <a:t>Каждый узел либо красный, либо чёрный.</a:t>
                </a:r>
              </a:p>
              <a:p>
                <a:r>
                  <a:rPr lang="ru-RU" sz="1400" dirty="0">
                    <a:latin typeface="Aptos" panose="020B0004020202020204" pitchFamily="34" charset="0"/>
                  </a:rPr>
                  <a:t>Корень дерева всегда чёрный.</a:t>
                </a:r>
              </a:p>
              <a:p>
                <a:r>
                  <a:rPr lang="ru-RU" sz="1400" dirty="0">
                    <a:latin typeface="Aptos" panose="020B0004020202020204" pitchFamily="34" charset="0"/>
                  </a:rPr>
                  <a:t>Листья (</a:t>
                </a:r>
                <a:r>
                  <a:rPr lang="en-US" sz="1400" dirty="0">
                    <a:latin typeface="Aptos" panose="020B0004020202020204" pitchFamily="34" charset="0"/>
                  </a:rPr>
                  <a:t>NULL-</a:t>
                </a:r>
                <a:r>
                  <a:rPr lang="ru-RU" sz="1400" dirty="0">
                    <a:latin typeface="Aptos" panose="020B0004020202020204" pitchFamily="34" charset="0"/>
                  </a:rPr>
                  <a:t>узлы) считаются чёрными.</a:t>
                </a:r>
              </a:p>
              <a:p>
                <a:r>
                  <a:rPr lang="ru-RU" sz="1400" dirty="0">
                    <a:latin typeface="Aptos" panose="020B0004020202020204" pitchFamily="34" charset="0"/>
                  </a:rPr>
                  <a:t>У красного узла не может быть красных детей</a:t>
                </a:r>
                <a:br>
                  <a:rPr lang="ru-RU" sz="1400" dirty="0">
                    <a:latin typeface="Aptos" panose="020B0004020202020204" pitchFamily="34" charset="0"/>
                  </a:rPr>
                </a:br>
                <a:r>
                  <a:rPr lang="ru-RU" sz="1400" i="1" dirty="0">
                    <a:latin typeface="Aptos" panose="020B0004020202020204" pitchFamily="34" charset="0"/>
                  </a:rPr>
                  <a:t>(то есть не допускаются две подряд красные вершины)</a:t>
                </a:r>
                <a:r>
                  <a:rPr lang="ru-RU" sz="1400" dirty="0">
                    <a:latin typeface="Aptos" panose="020B0004020202020204" pitchFamily="34" charset="0"/>
                  </a:rPr>
                  <a:t>.</a:t>
                </a:r>
              </a:p>
              <a:p>
                <a:r>
                  <a:rPr lang="ru-RU" sz="1400" dirty="0">
                    <a:latin typeface="Aptos" panose="020B0004020202020204" pitchFamily="34" charset="0"/>
                  </a:rPr>
                  <a:t>Пути от узла до каждого листа должны содержать одинаковое количество чёрных узлов</a:t>
                </a:r>
                <a:br>
                  <a:rPr lang="ru-RU" sz="1400" dirty="0">
                    <a:latin typeface="Aptos" panose="020B0004020202020204" pitchFamily="34" charset="0"/>
                  </a:rPr>
                </a:br>
                <a:r>
                  <a:rPr lang="ru-RU" sz="1400" i="1" dirty="0">
                    <a:latin typeface="Aptos" panose="020B0004020202020204" pitchFamily="34" charset="0"/>
                  </a:rPr>
                  <a:t>(чёрная высота — </a:t>
                </a:r>
                <a:r>
                  <a:rPr lang="en-US" sz="1400" i="1" dirty="0">
                    <a:latin typeface="Aptos" panose="020B0004020202020204" pitchFamily="34" charset="0"/>
                  </a:rPr>
                  <a:t>black height)</a:t>
                </a:r>
                <a:r>
                  <a:rPr lang="en-US" sz="1400" dirty="0">
                    <a:latin typeface="Aptos" panose="020B0004020202020204" pitchFamily="34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sz="1400" dirty="0">
                    <a:latin typeface="Aptos" panose="020B0004020202020204" pitchFamily="34" charset="0"/>
                  </a:rPr>
                  <a:t>   </a:t>
                </a:r>
                <a:r>
                  <a:rPr lang="ru-RU" sz="1400" dirty="0">
                    <a:latin typeface="Aptos" panose="020B0004020202020204" pitchFamily="34" charset="0"/>
                  </a:rPr>
                  <a:t>Эти правила ограничивают высоту дерева, гарантируя: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ru-RU" sz="1400" i="1">
                          <a:latin typeface="Cambria Math" panose="02040503050406030204" pitchFamily="18" charset="0"/>
                        </a:rPr>
                        <m:t>𝑒𝑖𝑔</m:t>
                      </m:r>
                      <m:r>
                        <a:rPr lang="ru-RU" sz="1400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ru-RU" sz="1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ru-RU" sz="140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ru-RU" sz="1400">
                          <a:latin typeface="Cambria Math" panose="02040503050406030204" pitchFamily="18" charset="0"/>
                        </a:rPr>
                        <m:t>2</m:t>
                      </m:r>
                      <m:func>
                        <m:funcPr>
                          <m:ctrlPr>
                            <a:rPr lang="ar-AE" sz="140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ar-AE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ar-AE" sz="1400" dirty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ar-AE" sz="1400" i="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ar-AE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4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ar-AE" sz="1400" i="0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ar-AE" sz="1400" i="0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ar-AE" sz="1400" dirty="0">
                  <a:latin typeface="Aptos" panose="020B0004020202020204" pitchFamily="34" charset="0"/>
                </a:endParaRPr>
              </a:p>
              <a:p>
                <a:pPr marL="0" indent="0">
                  <a:buNone/>
                </a:pPr>
                <a:r>
                  <a:rPr lang="en-US" sz="1400" dirty="0">
                    <a:latin typeface="Aptos" panose="020B0004020202020204" pitchFamily="34" charset="0"/>
                  </a:rPr>
                  <a:t>   </a:t>
                </a:r>
                <a:r>
                  <a:rPr lang="ru-RU" sz="1400" dirty="0">
                    <a:latin typeface="Aptos" panose="020B0004020202020204" pitchFamily="34" charset="0"/>
                  </a:rPr>
                  <a:t>То есть дерево не может сильно вырождаться.</a:t>
                </a:r>
              </a:p>
              <a:p>
                <a:pPr marL="0" indent="0">
                  <a:buNone/>
                </a:pPr>
                <a:r>
                  <a:rPr lang="ru-RU" sz="1400" b="1" dirty="0">
                    <a:latin typeface="Aptos" panose="020B0004020202020204" pitchFamily="34" charset="0"/>
                  </a:rPr>
                  <a:t>Балансировка в красно-чёрном дереве</a:t>
                </a:r>
              </a:p>
              <a:p>
                <a:pPr marL="0" indent="0">
                  <a:buNone/>
                </a:pPr>
                <a:r>
                  <a:rPr lang="en-US" sz="1400" dirty="0">
                    <a:latin typeface="Aptos" panose="020B0004020202020204" pitchFamily="34" charset="0"/>
                  </a:rPr>
                  <a:t>   </a:t>
                </a:r>
                <a:r>
                  <a:rPr lang="ru-RU" sz="1400" dirty="0">
                    <a:latin typeface="Aptos" panose="020B0004020202020204" pitchFamily="34" charset="0"/>
                  </a:rPr>
                  <a:t>При вставке или удалении выполняются:</a:t>
                </a:r>
              </a:p>
              <a:p>
                <a:r>
                  <a:rPr lang="ru-RU" sz="1400" dirty="0">
                    <a:latin typeface="Aptos" panose="020B0004020202020204" pitchFamily="34" charset="0"/>
                  </a:rPr>
                  <a:t>перекрашивания узлов,</a:t>
                </a:r>
              </a:p>
              <a:p>
                <a:r>
                  <a:rPr lang="ru-RU" sz="1400" dirty="0">
                    <a:latin typeface="Aptos" panose="020B0004020202020204" pitchFamily="34" charset="0"/>
                  </a:rPr>
                  <a:t>локальные повороты (как в AVL, но реже).</a:t>
                </a:r>
              </a:p>
              <a:p>
                <a:pPr marL="0" indent="0">
                  <a:buNone/>
                </a:pPr>
                <a:r>
                  <a:rPr lang="en-US" sz="1400" dirty="0">
                    <a:latin typeface="Aptos" panose="020B0004020202020204" pitchFamily="34" charset="0"/>
                  </a:rPr>
                  <a:t>   </a:t>
                </a:r>
                <a:r>
                  <a:rPr lang="ru-RU" sz="1400" dirty="0">
                    <a:latin typeface="Aptos" panose="020B0004020202020204" pitchFamily="34" charset="0"/>
                  </a:rPr>
                  <a:t>Красно-чёрные деревья меньше «боятся» перекосов: они допускают различия высоты поддеревьев, но контролируют их через чёрную высоту.</a:t>
                </a:r>
              </a:p>
              <a:p>
                <a:pPr marL="0" indent="0">
                  <a:buNone/>
                </a:pPr>
                <a:endParaRPr lang="ru-RU" sz="1400" dirty="0">
                  <a:latin typeface="Aptos" panose="020B0004020202020204" pitchFamily="34" charset="0"/>
                </a:endParaRPr>
              </a:p>
              <a:p>
                <a:endParaRPr lang="ru-RU" sz="1400" dirty="0">
                  <a:latin typeface="Aptos" panose="020B0004020202020204" pitchFamily="34" charset="0"/>
                </a:endParaRPr>
              </a:p>
              <a:p>
                <a:endParaRPr lang="en-US" sz="14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D23F497-C190-D7A1-6FEA-EF7A16F731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41946"/>
                <a:ext cx="10515600" cy="5349923"/>
              </a:xfrm>
              <a:blipFill>
                <a:blip r:embed="rId2"/>
                <a:stretch>
                  <a:fillRect l="-174" t="-57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31443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C7E64-7213-A540-8CEE-7F094FCCC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AB81C6-2E00-CC1A-626E-A24BEADEB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 Display" panose="020B0004020202020204" pitchFamily="34" charset="0"/>
              </a:rPr>
              <a:t>AVL </a:t>
            </a:r>
            <a:r>
              <a:rPr lang="ru-RU" dirty="0">
                <a:latin typeface="Aptos Display" panose="020B0004020202020204" pitchFamily="34" charset="0"/>
              </a:rPr>
              <a:t>и </a:t>
            </a:r>
            <a:r>
              <a:rPr lang="en-US" dirty="0">
                <a:latin typeface="Aptos Display" panose="020B0004020202020204" pitchFamily="34" charset="0"/>
              </a:rPr>
              <a:t>Red-Black </a:t>
            </a:r>
            <a:r>
              <a:rPr lang="ru-RU" dirty="0">
                <a:latin typeface="Aptos Display" panose="020B0004020202020204" pitchFamily="34" charset="0"/>
              </a:rPr>
              <a:t>деревья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A18BC6-A523-A1A6-94C8-4DFF242C46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1946"/>
            <a:ext cx="10515600" cy="534992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>
                <a:latin typeface="Aptos" panose="020B0004020202020204" pitchFamily="34" charset="0"/>
              </a:rPr>
              <a:t>   </a:t>
            </a:r>
            <a:r>
              <a:rPr lang="ru-RU" sz="1400" b="1" dirty="0">
                <a:latin typeface="Aptos" panose="020B0004020202020204" pitchFamily="34" charset="0"/>
              </a:rPr>
              <a:t>Преимущества и недостатки Red-Black </a:t>
            </a:r>
            <a:r>
              <a:rPr lang="ru-RU" sz="1400" b="1" dirty="0" err="1">
                <a:latin typeface="Aptos" panose="020B0004020202020204" pitchFamily="34" charset="0"/>
              </a:rPr>
              <a:t>Trees</a:t>
            </a:r>
            <a:endParaRPr lang="en-US" sz="1400" b="1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1400" b="1" dirty="0">
                <a:latin typeface="Aptos" panose="020B0004020202020204" pitchFamily="34" charset="0"/>
              </a:rPr>
              <a:t>   </a:t>
            </a:r>
            <a:r>
              <a:rPr lang="ru-RU" sz="1400" b="1" dirty="0">
                <a:latin typeface="Aptos" panose="020B0004020202020204" pitchFamily="34" charset="0"/>
              </a:rPr>
              <a:t>Преимущества</a:t>
            </a:r>
          </a:p>
          <a:p>
            <a:r>
              <a:rPr lang="ru-RU" sz="1400" dirty="0">
                <a:latin typeface="Aptos" panose="020B0004020202020204" pitchFamily="34" charset="0"/>
              </a:rPr>
              <a:t>более быстрая средняя вставка и удаление, чем в AVL;</a:t>
            </a:r>
          </a:p>
          <a:p>
            <a:r>
              <a:rPr lang="ru-RU" sz="1400" dirty="0">
                <a:latin typeface="Aptos" panose="020B0004020202020204" pitchFamily="34" charset="0"/>
              </a:rPr>
              <a:t>меньше поворотов при модификациях;</a:t>
            </a:r>
          </a:p>
          <a:p>
            <a:r>
              <a:rPr lang="ru-RU" sz="1400" dirty="0">
                <a:latin typeface="Aptos" panose="020B0004020202020204" pitchFamily="34" charset="0"/>
              </a:rPr>
              <a:t>используются в большинстве стандартных библиотек;</a:t>
            </a:r>
          </a:p>
          <a:p>
            <a:r>
              <a:rPr lang="ru-RU" sz="1400" dirty="0">
                <a:latin typeface="Aptos" panose="020B0004020202020204" pitchFamily="34" charset="0"/>
              </a:rPr>
              <a:t>хорошо подходят для серверных систем, БД, словарей, очередей поиска.</a:t>
            </a:r>
          </a:p>
          <a:p>
            <a:pPr marL="0" indent="0">
              <a:buNone/>
            </a:pPr>
            <a:r>
              <a:rPr lang="en-US" sz="1400" b="1" dirty="0">
                <a:latin typeface="Aptos" panose="020B0004020202020204" pitchFamily="34" charset="0"/>
              </a:rPr>
              <a:t>   </a:t>
            </a:r>
            <a:r>
              <a:rPr lang="ru-RU" sz="1400" b="1" dirty="0">
                <a:latin typeface="Aptos" panose="020B0004020202020204" pitchFamily="34" charset="0"/>
              </a:rPr>
              <a:t>Недостатки</a:t>
            </a:r>
          </a:p>
          <a:p>
            <a:r>
              <a:rPr lang="ru-RU" sz="1400" dirty="0">
                <a:latin typeface="Aptos" panose="020B0004020202020204" pitchFamily="34" charset="0"/>
              </a:rPr>
              <a:t>поиск немного медленнее, чем в AVL (из-за более рыхлой структуры);</a:t>
            </a:r>
          </a:p>
          <a:p>
            <a:r>
              <a:rPr lang="ru-RU" sz="1400" dirty="0">
                <a:latin typeface="Aptos" panose="020B0004020202020204" pitchFamily="34" charset="0"/>
              </a:rPr>
              <a:t>логика цветовых правил может быть сложной для новичков.</a:t>
            </a:r>
          </a:p>
          <a:p>
            <a:pPr marL="0" indent="0">
              <a:buNone/>
            </a:pPr>
            <a:endParaRPr lang="en-US" sz="14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1400" dirty="0">
                <a:latin typeface="Aptos" panose="020B0004020202020204" pitchFamily="34" charset="0"/>
              </a:rPr>
              <a:t>   </a:t>
            </a:r>
            <a:r>
              <a:rPr lang="ru-RU" sz="1400" dirty="0">
                <a:latin typeface="Aptos" panose="020B0004020202020204" pitchFamily="34" charset="0"/>
              </a:rPr>
              <a:t>AVL и красно-чёрные деревья демонстрируют эволюцию идей в структуре данных:</a:t>
            </a:r>
          </a:p>
          <a:p>
            <a:r>
              <a:rPr lang="ru-RU" sz="1400" dirty="0">
                <a:latin typeface="Aptos" panose="020B0004020202020204" pitchFamily="34" charset="0"/>
              </a:rPr>
              <a:t>обычный BST — гибкий, но ненадёжный;</a:t>
            </a:r>
          </a:p>
          <a:p>
            <a:r>
              <a:rPr lang="ru-RU" sz="1400" dirty="0">
                <a:latin typeface="Aptos" panose="020B0004020202020204" pitchFamily="34" charset="0"/>
              </a:rPr>
              <a:t>AVL — оптимален по высоте и поиску;</a:t>
            </a:r>
          </a:p>
          <a:p>
            <a:r>
              <a:rPr lang="ru-RU" sz="1400" dirty="0">
                <a:latin typeface="Aptos" panose="020B0004020202020204" pitchFamily="34" charset="0"/>
              </a:rPr>
              <a:t>красно-чёрные деревья — оптимальны по скорости модификаций и являются промышленным стандартом.</a:t>
            </a:r>
            <a:endParaRPr lang="en-US" sz="14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1400" dirty="0">
                <a:latin typeface="Aptos" panose="020B0004020202020204" pitchFamily="34" charset="0"/>
              </a:rPr>
              <a:t>   </a:t>
            </a:r>
            <a:r>
              <a:rPr lang="ru-RU" sz="1400" dirty="0">
                <a:latin typeface="Aptos" panose="020B0004020202020204" pitchFamily="34" charset="0"/>
              </a:rPr>
              <a:t>Обе структуры показывают, что балансировка — ключ к предсказуемой производительности и надёжности алгоритмов.</a:t>
            </a:r>
          </a:p>
          <a:p>
            <a:pPr marL="0" indent="0">
              <a:buNone/>
            </a:pPr>
            <a:endParaRPr lang="ru-RU" sz="14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57783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13B8A-9996-7000-DC11-ED941D1A2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A2469B-8903-91D4-3F61-2DA3594A7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 Display" panose="020B0004020202020204" pitchFamily="34" charset="0"/>
              </a:rPr>
              <a:t>AVL </a:t>
            </a:r>
            <a:r>
              <a:rPr lang="ru-RU" dirty="0">
                <a:latin typeface="Aptos Display" panose="020B0004020202020204" pitchFamily="34" charset="0"/>
              </a:rPr>
              <a:t>и </a:t>
            </a:r>
            <a:r>
              <a:rPr lang="en-US" dirty="0">
                <a:latin typeface="Aptos Display" panose="020B0004020202020204" pitchFamily="34" charset="0"/>
              </a:rPr>
              <a:t>Red-Black </a:t>
            </a:r>
            <a:r>
              <a:rPr lang="ru-RU" dirty="0">
                <a:latin typeface="Aptos Display" panose="020B0004020202020204" pitchFamily="34" charset="0"/>
              </a:rPr>
              <a:t>деревья</a:t>
            </a:r>
            <a:endParaRPr lang="ru-RU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CE532B2-E188-6D34-8852-E55D801C7E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2290195"/>
              </p:ext>
            </p:extLst>
          </p:nvPr>
        </p:nvGraphicFramePr>
        <p:xfrm>
          <a:off x="838200" y="1144588"/>
          <a:ext cx="10203612" cy="509230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401204">
                  <a:extLst>
                    <a:ext uri="{9D8B030D-6E8A-4147-A177-3AD203B41FA5}">
                      <a16:colId xmlns:a16="http://schemas.microsoft.com/office/drawing/2014/main" val="3542839020"/>
                    </a:ext>
                  </a:extLst>
                </a:gridCol>
                <a:gridCol w="3401204">
                  <a:extLst>
                    <a:ext uri="{9D8B030D-6E8A-4147-A177-3AD203B41FA5}">
                      <a16:colId xmlns:a16="http://schemas.microsoft.com/office/drawing/2014/main" val="2690459568"/>
                    </a:ext>
                  </a:extLst>
                </a:gridCol>
                <a:gridCol w="3401204">
                  <a:extLst>
                    <a:ext uri="{9D8B030D-6E8A-4147-A177-3AD203B41FA5}">
                      <a16:colId xmlns:a16="http://schemas.microsoft.com/office/drawing/2014/main" val="2750507475"/>
                    </a:ext>
                  </a:extLst>
                </a:gridCol>
              </a:tblGrid>
              <a:tr h="565812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Характеристика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AVL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Red-Black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9703095"/>
                  </a:ext>
                </a:extLst>
              </a:tr>
              <a:tr h="565812">
                <a:tc>
                  <a:txBody>
                    <a:bodyPr/>
                    <a:lstStyle/>
                    <a:p>
                      <a:pPr algn="l"/>
                      <a:r>
                        <a:rPr lang="ru-RU" b="1" dirty="0"/>
                        <a:t>Балансировка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/>
                        <a:t>Очень строгая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/>
                        <a:t>Умеренная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785667"/>
                  </a:ext>
                </a:extLst>
              </a:tr>
              <a:tr h="565812">
                <a:tc>
                  <a:txBody>
                    <a:bodyPr/>
                    <a:lstStyle/>
                    <a:p>
                      <a:pPr algn="l"/>
                      <a:r>
                        <a:rPr lang="ru-RU" b="1" dirty="0"/>
                        <a:t>Высота дерева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/>
                        <a:t>Минимально возможная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/>
                        <a:t>Немного больше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57566"/>
                  </a:ext>
                </a:extLst>
              </a:tr>
              <a:tr h="565812">
                <a:tc>
                  <a:txBody>
                    <a:bodyPr/>
                    <a:lstStyle/>
                    <a:p>
                      <a:pPr algn="l"/>
                      <a:r>
                        <a:rPr lang="ru-RU" b="1" dirty="0"/>
                        <a:t>Скорость поиска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/>
                        <a:t>Быстрее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/>
                        <a:t>Чуть медленнее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8516793"/>
                  </a:ext>
                </a:extLst>
              </a:tr>
              <a:tr h="565812">
                <a:tc>
                  <a:txBody>
                    <a:bodyPr/>
                    <a:lstStyle/>
                    <a:p>
                      <a:pPr algn="l"/>
                      <a:r>
                        <a:rPr lang="ru-RU" b="1" dirty="0"/>
                        <a:t>Скорость вставки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/>
                        <a:t>Медленнее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/>
                        <a:t>Быстрее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0986156"/>
                  </a:ext>
                </a:extLst>
              </a:tr>
              <a:tr h="565812">
                <a:tc>
                  <a:txBody>
                    <a:bodyPr/>
                    <a:lstStyle/>
                    <a:p>
                      <a:pPr algn="l"/>
                      <a:r>
                        <a:rPr lang="ru-RU" b="1" dirty="0"/>
                        <a:t>Скорость удаления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/>
                        <a:t>Медленнее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/>
                        <a:t>Быстрее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160318"/>
                  </a:ext>
                </a:extLst>
              </a:tr>
              <a:tr h="565812">
                <a:tc>
                  <a:txBody>
                    <a:bodyPr/>
                    <a:lstStyle/>
                    <a:p>
                      <a:pPr algn="l"/>
                      <a:r>
                        <a:rPr lang="ru-RU" b="1" dirty="0"/>
                        <a:t>Кол-во повторов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/>
                        <a:t>Больше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/>
                        <a:t>Меньше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8402960"/>
                  </a:ext>
                </a:extLst>
              </a:tr>
              <a:tr h="565812">
                <a:tc>
                  <a:txBody>
                    <a:bodyPr/>
                    <a:lstStyle/>
                    <a:p>
                      <a:pPr algn="l"/>
                      <a:r>
                        <a:rPr lang="ru-RU" b="1" dirty="0"/>
                        <a:t>Использование в индустрии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/>
                        <a:t>Редко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/>
                        <a:t>Очень часто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7897325"/>
                  </a:ext>
                </a:extLst>
              </a:tr>
              <a:tr h="565812">
                <a:tc>
                  <a:txBody>
                    <a:bodyPr/>
                    <a:lstStyle/>
                    <a:p>
                      <a:pPr algn="l"/>
                      <a:r>
                        <a:rPr lang="ru-RU" b="1" dirty="0"/>
                        <a:t>Идеальные задачи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/>
                        <a:t>Часты поисковые операции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/>
                        <a:t>Частые модификации данных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9779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71541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FC761-A985-1240-6CCF-E8EB74350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190073-D115-4176-1E4F-82216518A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ptos Display" panose="020B0004020202020204" pitchFamily="34" charset="0"/>
              </a:rPr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EA55CC5-8ECE-F2F4-7746-DC4E5375B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1946"/>
            <a:ext cx="10515600" cy="50769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dirty="0">
                <a:latin typeface="Aptos" panose="020B0004020202020204" pitchFamily="34" charset="0"/>
              </a:rPr>
              <a:t>   Двоичное дерево поиска представляет собой одну из ключевых структур данных, которые лежат в основе эффективных алгоритмов обработки информации. Рассмотренные в работе операции — вставка, поиск и удаление — показывают, каким образом BST обеспечивает логарифмическую производительность при условии корректного построения дерева. Подробный анализ механизмов обходов, методов балансировки и особенностей поведения дерева позволяет сформировать целостное понимание того, как структура реагирует на изменения и как поддерживает своё основное свойство — упорядоченность данных.</a:t>
            </a:r>
          </a:p>
          <a:p>
            <a:pPr marL="0" indent="0">
              <a:buNone/>
            </a:pPr>
            <a:r>
              <a:rPr lang="ru-RU" sz="2200" dirty="0">
                <a:latin typeface="Aptos" panose="020B0004020202020204" pitchFamily="34" charset="0"/>
              </a:rPr>
              <a:t>   В итоге, изучение BST и его визуализация являются важной частью подготовки специалистов по проектированию программного обеспечения. Эти знания формируют фундамент для понимания более сложных структур данных и архитектур программных систем, а также позволяют создавать надёжные, эффективные и масштабируемые алгоритмические решения.</a:t>
            </a:r>
          </a:p>
          <a:p>
            <a:pPr marL="0" indent="0">
              <a:buNone/>
            </a:pPr>
            <a:endParaRPr lang="ru-RU" sz="22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33170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E7EBB-B6F4-C340-C903-3E4664CDE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F62670-EE1D-9CC6-B461-A35377382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6734" y="2248469"/>
            <a:ext cx="8038532" cy="2361062"/>
          </a:xfrm>
        </p:spPr>
        <p:txBody>
          <a:bodyPr>
            <a:noAutofit/>
          </a:bodyPr>
          <a:lstStyle/>
          <a:p>
            <a:pPr algn="ctr"/>
            <a:r>
              <a:rPr lang="ru-RU" sz="6000" dirty="0">
                <a:latin typeface="Aptos Display" panose="020B0004020202020204" pitchFamily="34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1539342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9B810"/>
      </a:accent1>
      <a:accent2>
        <a:srgbClr val="6C7074"/>
      </a:accent2>
      <a:accent3>
        <a:srgbClr val="BBA894"/>
      </a:accent3>
      <a:accent4>
        <a:srgbClr val="FFC000"/>
      </a:accent4>
      <a:accent5>
        <a:srgbClr val="8B6539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617</TotalTime>
  <Words>5442</Words>
  <Application>Microsoft Office PowerPoint</Application>
  <PresentationFormat>Widescreen</PresentationFormat>
  <Paragraphs>452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7" baseType="lpstr">
      <vt:lpstr>Aptos</vt:lpstr>
      <vt:lpstr>Aptos Display</vt:lpstr>
      <vt:lpstr>Arial</vt:lpstr>
      <vt:lpstr>Calibri</vt:lpstr>
      <vt:lpstr>Calibri Light</vt:lpstr>
      <vt:lpstr>Cambria Math</vt:lpstr>
      <vt:lpstr>Office Theme</vt:lpstr>
      <vt:lpstr>Визуализатор двоичного дерева поиска</vt:lpstr>
      <vt:lpstr>План</vt:lpstr>
      <vt:lpstr>Введение</vt:lpstr>
      <vt:lpstr>Понятие и базовые свойства BST</vt:lpstr>
      <vt:lpstr>Понятие и базовые свойства BST</vt:lpstr>
      <vt:lpstr>Понятие и базовые свойства BST</vt:lpstr>
      <vt:lpstr>Понятие и базовые свойства BST</vt:lpstr>
      <vt:lpstr>Понятие и базовые свойства BST</vt:lpstr>
      <vt:lpstr>Операция вставки (Insert)</vt:lpstr>
      <vt:lpstr>Операция вставки (Insert)</vt:lpstr>
      <vt:lpstr>Операция вставки (Insert)</vt:lpstr>
      <vt:lpstr>Операция вставки (Insert)</vt:lpstr>
      <vt:lpstr>Операция вставки (Insert)</vt:lpstr>
      <vt:lpstr>Операция удаления (Delete)</vt:lpstr>
      <vt:lpstr>Операция удаления (Delete)</vt:lpstr>
      <vt:lpstr>Операция удаления (Delete)</vt:lpstr>
      <vt:lpstr>Операция удаления (Delete)</vt:lpstr>
      <vt:lpstr>Операция удаления (Delete)</vt:lpstr>
      <vt:lpstr>Операция удаления (Delete)</vt:lpstr>
      <vt:lpstr>Операция удаления (Delete)</vt:lpstr>
      <vt:lpstr>Операция поиска (Search)</vt:lpstr>
      <vt:lpstr>Операция поиска (Search)</vt:lpstr>
      <vt:lpstr>Операция поиска (Search)</vt:lpstr>
      <vt:lpstr>Операция поиска (Search)</vt:lpstr>
      <vt:lpstr>Операция поиска (Search)</vt:lpstr>
      <vt:lpstr>Обходы дерева (Traversals)</vt:lpstr>
      <vt:lpstr>Обходы дерева (Traversals)</vt:lpstr>
      <vt:lpstr>Обходы дерева (Traversals)</vt:lpstr>
      <vt:lpstr>Обходы дерева (Traversals)</vt:lpstr>
      <vt:lpstr>Обходы дерева (Traversals)</vt:lpstr>
      <vt:lpstr>Обходы дерева (Traversals)</vt:lpstr>
      <vt:lpstr>AVL и Red-Black деревья</vt:lpstr>
      <vt:lpstr>AVL и Red-Black деревья</vt:lpstr>
      <vt:lpstr>AVL и Red-Black деревья</vt:lpstr>
      <vt:lpstr>AVL и Red-Black деревья</vt:lpstr>
      <vt:lpstr>AVL и Red-Black деревья</vt:lpstr>
      <vt:lpstr>AVL и Red-Black деревья</vt:lpstr>
      <vt:lpstr>AVL и Red-Black деревья</vt:lpstr>
      <vt:lpstr>Заключение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 OF PRESENTATION</dc:title>
  <dc:creator>Microsoft Office User</dc:creator>
  <cp:lastModifiedBy>Турал Бабаев</cp:lastModifiedBy>
  <cp:revision>6</cp:revision>
  <dcterms:created xsi:type="dcterms:W3CDTF">2023-02-11T11:38:42Z</dcterms:created>
  <dcterms:modified xsi:type="dcterms:W3CDTF">2025-12-07T15:41:24Z</dcterms:modified>
</cp:coreProperties>
</file>