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5" r:id="rId6"/>
    <p:sldId id="286" r:id="rId7"/>
    <p:sldId id="287" r:id="rId8"/>
    <p:sldId id="264" r:id="rId9"/>
    <p:sldId id="284" r:id="rId10"/>
    <p:sldId id="263" r:id="rId11"/>
    <p:sldId id="320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4" r:id="rId24"/>
    <p:sldId id="279" r:id="rId25"/>
    <p:sldId id="280" r:id="rId26"/>
    <p:sldId id="281" r:id="rId27"/>
    <p:sldId id="282" r:id="rId28"/>
    <p:sldId id="288" r:id="rId29"/>
    <p:sldId id="302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304" r:id="rId38"/>
    <p:sldId id="305" r:id="rId39"/>
    <p:sldId id="306" r:id="rId40"/>
    <p:sldId id="303" r:id="rId41"/>
    <p:sldId id="296" r:id="rId42"/>
    <p:sldId id="297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8500"/>
    <a:srgbClr val="3D615E"/>
    <a:srgbClr val="4A7672"/>
    <a:srgbClr val="92BBB7"/>
    <a:srgbClr val="AC7700"/>
    <a:srgbClr val="F2A700"/>
    <a:srgbClr val="FFCE65"/>
    <a:srgbClr val="FF562F"/>
    <a:srgbClr val="FF3809"/>
    <a:srgbClr val="FF5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1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урал Бабаев" userId="854cf40533749be1" providerId="LiveId" clId="{96C38D1A-179B-41DC-A831-3A334C4F7C7C}"/>
    <pc:docChg chg="undo redo custSel addSld delSld modSld">
      <pc:chgData name="Турал Бабаев" userId="854cf40533749be1" providerId="LiveId" clId="{96C38D1A-179B-41DC-A831-3A334C4F7C7C}" dt="2025-12-12T07:51:37.060" v="1801" actId="27636"/>
      <pc:docMkLst>
        <pc:docMk/>
      </pc:docMkLst>
      <pc:sldChg chg="del">
        <pc:chgData name="Турал Бабаев" userId="854cf40533749be1" providerId="LiveId" clId="{96C38D1A-179B-41DC-A831-3A334C4F7C7C}" dt="2025-12-11T12:36:55.616" v="10" actId="47"/>
        <pc:sldMkLst>
          <pc:docMk/>
          <pc:sldMk cId="4124267133" sldId="260"/>
        </pc:sldMkLst>
      </pc:sldChg>
      <pc:sldChg chg="modSp del mod">
        <pc:chgData name="Турал Бабаев" userId="854cf40533749be1" providerId="LiveId" clId="{96C38D1A-179B-41DC-A831-3A334C4F7C7C}" dt="2025-12-11T12:41:06.853" v="75" actId="47"/>
        <pc:sldMkLst>
          <pc:docMk/>
          <pc:sldMk cId="3307268733" sldId="261"/>
        </pc:sldMkLst>
        <pc:spChg chg="mod">
          <ac:chgData name="Турал Бабаев" userId="854cf40533749be1" providerId="LiveId" clId="{96C38D1A-179B-41DC-A831-3A334C4F7C7C}" dt="2025-12-11T12:37:23.569" v="14" actId="20577"/>
          <ac:spMkLst>
            <pc:docMk/>
            <pc:sldMk cId="3307268733" sldId="261"/>
            <ac:spMk id="3" creationId="{EBAE3DDC-0942-3B89-52A4-BB07C6EA2568}"/>
          </ac:spMkLst>
        </pc:spChg>
      </pc:sldChg>
      <pc:sldChg chg="modSp del mod">
        <pc:chgData name="Турал Бабаев" userId="854cf40533749be1" providerId="LiveId" clId="{96C38D1A-179B-41DC-A831-3A334C4F7C7C}" dt="2025-12-11T12:41:46.130" v="84" actId="47"/>
        <pc:sldMkLst>
          <pc:docMk/>
          <pc:sldMk cId="3016613881" sldId="262"/>
        </pc:sldMkLst>
        <pc:spChg chg="mod">
          <ac:chgData name="Турал Бабаев" userId="854cf40533749be1" providerId="LiveId" clId="{96C38D1A-179B-41DC-A831-3A334C4F7C7C}" dt="2025-12-11T12:39:26.132" v="45" actId="14100"/>
          <ac:spMkLst>
            <pc:docMk/>
            <pc:sldMk cId="3016613881" sldId="262"/>
            <ac:spMk id="3" creationId="{A8238122-346D-9C92-5EA7-6DBC9E4790F0}"/>
          </ac:spMkLst>
        </pc:spChg>
      </pc:sldChg>
      <pc:sldChg chg="modSp mod">
        <pc:chgData name="Турал Бабаев" userId="854cf40533749be1" providerId="LiveId" clId="{96C38D1A-179B-41DC-A831-3A334C4F7C7C}" dt="2025-12-11T12:38:48.651" v="41" actId="14100"/>
        <pc:sldMkLst>
          <pc:docMk/>
          <pc:sldMk cId="2087474996" sldId="264"/>
        </pc:sldMkLst>
        <pc:spChg chg="mod">
          <ac:chgData name="Турал Бабаев" userId="854cf40533749be1" providerId="LiveId" clId="{96C38D1A-179B-41DC-A831-3A334C4F7C7C}" dt="2025-12-11T12:38:39.745" v="40" actId="1076"/>
          <ac:spMkLst>
            <pc:docMk/>
            <pc:sldMk cId="2087474996" sldId="264"/>
            <ac:spMk id="2" creationId="{D30ECDFB-24BE-2D2C-8597-08DDB3DBFD6C}"/>
          </ac:spMkLst>
        </pc:spChg>
        <pc:spChg chg="mod">
          <ac:chgData name="Турал Бабаев" userId="854cf40533749be1" providerId="LiveId" clId="{96C38D1A-179B-41DC-A831-3A334C4F7C7C}" dt="2025-12-11T12:38:48.651" v="41" actId="14100"/>
          <ac:spMkLst>
            <pc:docMk/>
            <pc:sldMk cId="2087474996" sldId="264"/>
            <ac:spMk id="3" creationId="{D872F157-8C46-149E-3458-38FCD69B8B36}"/>
          </ac:spMkLst>
        </pc:spChg>
      </pc:sldChg>
      <pc:sldChg chg="modSp">
        <pc:chgData name="Турал Бабаев" userId="854cf40533749be1" providerId="LiveId" clId="{96C38D1A-179B-41DC-A831-3A334C4F7C7C}" dt="2025-12-11T13:55:42.883" v="225" actId="20577"/>
        <pc:sldMkLst>
          <pc:docMk/>
          <pc:sldMk cId="3236608371" sldId="274"/>
        </pc:sldMkLst>
        <pc:spChg chg="mod">
          <ac:chgData name="Турал Бабаев" userId="854cf40533749be1" providerId="LiveId" clId="{96C38D1A-179B-41DC-A831-3A334C4F7C7C}" dt="2025-12-11T13:55:42.883" v="225" actId="20577"/>
          <ac:spMkLst>
            <pc:docMk/>
            <pc:sldMk cId="3236608371" sldId="274"/>
            <ac:spMk id="3" creationId="{A14F6481-2E39-7DFB-C1D4-4318FB4CB853}"/>
          </ac:spMkLst>
        </pc:spChg>
      </pc:sldChg>
      <pc:sldChg chg="modSp mod">
        <pc:chgData name="Турал Бабаев" userId="854cf40533749be1" providerId="LiveId" clId="{96C38D1A-179B-41DC-A831-3A334C4F7C7C}" dt="2025-12-11T16:56:58.706" v="1088" actId="313"/>
        <pc:sldMkLst>
          <pc:docMk/>
          <pc:sldMk cId="945425572" sldId="275"/>
        </pc:sldMkLst>
        <pc:spChg chg="mod">
          <ac:chgData name="Турал Бабаев" userId="854cf40533749be1" providerId="LiveId" clId="{96C38D1A-179B-41DC-A831-3A334C4F7C7C}" dt="2025-12-11T16:56:58.706" v="1088" actId="313"/>
          <ac:spMkLst>
            <pc:docMk/>
            <pc:sldMk cId="945425572" sldId="275"/>
            <ac:spMk id="3" creationId="{6CCDFBE8-B912-B8BF-F1C8-CFC791362244}"/>
          </ac:spMkLst>
        </pc:spChg>
      </pc:sldChg>
      <pc:sldChg chg="modSp mod">
        <pc:chgData name="Турал Бабаев" userId="854cf40533749be1" providerId="LiveId" clId="{96C38D1A-179B-41DC-A831-3A334C4F7C7C}" dt="2025-12-11T13:55:03.349" v="217" actId="114"/>
        <pc:sldMkLst>
          <pc:docMk/>
          <pc:sldMk cId="545304273" sldId="276"/>
        </pc:sldMkLst>
        <pc:spChg chg="mod">
          <ac:chgData name="Турал Бабаев" userId="854cf40533749be1" providerId="LiveId" clId="{96C38D1A-179B-41DC-A831-3A334C4F7C7C}" dt="2025-12-11T13:55:03.349" v="217" actId="114"/>
          <ac:spMkLst>
            <pc:docMk/>
            <pc:sldMk cId="545304273" sldId="276"/>
            <ac:spMk id="3" creationId="{3C98E98F-5D73-A6F2-B907-60B7B0FD190B}"/>
          </ac:spMkLst>
        </pc:spChg>
      </pc:sldChg>
      <pc:sldChg chg="modSp">
        <pc:chgData name="Турал Бабаев" userId="854cf40533749be1" providerId="LiveId" clId="{96C38D1A-179B-41DC-A831-3A334C4F7C7C}" dt="2025-12-11T14:03:14.536" v="252" actId="20577"/>
        <pc:sldMkLst>
          <pc:docMk/>
          <pc:sldMk cId="1924227974" sldId="277"/>
        </pc:sldMkLst>
        <pc:spChg chg="mod">
          <ac:chgData name="Турал Бабаев" userId="854cf40533749be1" providerId="LiveId" clId="{96C38D1A-179B-41DC-A831-3A334C4F7C7C}" dt="2025-12-11T14:03:14.536" v="252" actId="20577"/>
          <ac:spMkLst>
            <pc:docMk/>
            <pc:sldMk cId="1924227974" sldId="277"/>
            <ac:spMk id="3" creationId="{54A09905-A22A-0121-4DA6-2E114EA534DC}"/>
          </ac:spMkLst>
        </pc:spChg>
      </pc:sldChg>
      <pc:sldChg chg="modSp">
        <pc:chgData name="Турал Бабаев" userId="854cf40533749be1" providerId="LiveId" clId="{96C38D1A-179B-41DC-A831-3A334C4F7C7C}" dt="2025-12-11T13:58:48.860" v="226" actId="20577"/>
        <pc:sldMkLst>
          <pc:docMk/>
          <pc:sldMk cId="2420175329" sldId="278"/>
        </pc:sldMkLst>
        <pc:spChg chg="mod">
          <ac:chgData name="Турал Бабаев" userId="854cf40533749be1" providerId="LiveId" clId="{96C38D1A-179B-41DC-A831-3A334C4F7C7C}" dt="2025-12-11T13:58:48.860" v="226" actId="20577"/>
          <ac:spMkLst>
            <pc:docMk/>
            <pc:sldMk cId="2420175329" sldId="278"/>
            <ac:spMk id="3" creationId="{EB6F2A89-3F22-69B6-F216-1DAAA2623623}"/>
          </ac:spMkLst>
        </pc:spChg>
      </pc:sldChg>
      <pc:sldChg chg="modSp mod">
        <pc:chgData name="Турал Бабаев" userId="854cf40533749be1" providerId="LiveId" clId="{96C38D1A-179B-41DC-A831-3A334C4F7C7C}" dt="2025-12-11T14:18:28.242" v="254" actId="2711"/>
        <pc:sldMkLst>
          <pc:docMk/>
          <pc:sldMk cId="1655711032" sldId="282"/>
        </pc:sldMkLst>
        <pc:spChg chg="mod">
          <ac:chgData name="Турал Бабаев" userId="854cf40533749be1" providerId="LiveId" clId="{96C38D1A-179B-41DC-A831-3A334C4F7C7C}" dt="2025-12-11T14:18:28.242" v="254" actId="2711"/>
          <ac:spMkLst>
            <pc:docMk/>
            <pc:sldMk cId="1655711032" sldId="282"/>
            <ac:spMk id="3" creationId="{50076369-922A-1650-3ACA-8B7C96951CFB}"/>
          </ac:spMkLst>
        </pc:spChg>
      </pc:sldChg>
      <pc:sldChg chg="modSp add del mod">
        <pc:chgData name="Турал Бабаев" userId="854cf40533749be1" providerId="LiveId" clId="{96C38D1A-179B-41DC-A831-3A334C4F7C7C}" dt="2025-12-11T12:40:33.354" v="60" actId="47"/>
        <pc:sldMkLst>
          <pc:docMk/>
          <pc:sldMk cId="1917208262" sldId="283"/>
        </pc:sldMkLst>
        <pc:spChg chg="mod">
          <ac:chgData name="Турал Бабаев" userId="854cf40533749be1" providerId="LiveId" clId="{96C38D1A-179B-41DC-A831-3A334C4F7C7C}" dt="2025-12-11T12:36:43.169" v="9" actId="20577"/>
          <ac:spMkLst>
            <pc:docMk/>
            <pc:sldMk cId="1917208262" sldId="283"/>
            <ac:spMk id="3" creationId="{86C2EFA5-4474-B619-2C98-920BA8845976}"/>
          </ac:spMkLst>
        </pc:spChg>
      </pc:sldChg>
      <pc:sldChg chg="addSp delSp modSp new mod">
        <pc:chgData name="Турал Бабаев" userId="854cf40533749be1" providerId="LiveId" clId="{96C38D1A-179B-41DC-A831-3A334C4F7C7C}" dt="2025-12-11T12:38:26.516" v="38" actId="478"/>
        <pc:sldMkLst>
          <pc:docMk/>
          <pc:sldMk cId="2642714595" sldId="284"/>
        </pc:sldMkLst>
        <pc:spChg chg="del mod">
          <ac:chgData name="Турал Бабаев" userId="854cf40533749be1" providerId="LiveId" clId="{96C38D1A-179B-41DC-A831-3A334C4F7C7C}" dt="2025-12-11T12:38:26.516" v="38" actId="478"/>
          <ac:spMkLst>
            <pc:docMk/>
            <pc:sldMk cId="2642714595" sldId="284"/>
            <ac:spMk id="2" creationId="{A88272D2-F4DD-79A1-9CFC-ABFA17279AAF}"/>
          </ac:spMkLst>
        </pc:spChg>
        <pc:spChg chg="mod">
          <ac:chgData name="Турал Бабаев" userId="854cf40533749be1" providerId="LiveId" clId="{96C38D1A-179B-41DC-A831-3A334C4F7C7C}" dt="2025-12-11T12:38:19.510" v="35" actId="20577"/>
          <ac:spMkLst>
            <pc:docMk/>
            <pc:sldMk cId="2642714595" sldId="284"/>
            <ac:spMk id="3" creationId="{FC5127FB-C986-A6C2-C45C-E4A39EEF6294}"/>
          </ac:spMkLst>
        </pc:spChg>
        <pc:spChg chg="add mod">
          <ac:chgData name="Турал Бабаев" userId="854cf40533749be1" providerId="LiveId" clId="{96C38D1A-179B-41DC-A831-3A334C4F7C7C}" dt="2025-12-11T12:38:24.891" v="37" actId="27636"/>
          <ac:spMkLst>
            <pc:docMk/>
            <pc:sldMk cId="2642714595" sldId="284"/>
            <ac:spMk id="4" creationId="{4B6D8A7D-7FF4-9E60-627F-5780A7BD6EBD}"/>
          </ac:spMkLst>
        </pc:spChg>
      </pc:sldChg>
      <pc:sldChg chg="addSp delSp modSp new mod">
        <pc:chgData name="Турал Бабаев" userId="854cf40533749be1" providerId="LiveId" clId="{96C38D1A-179B-41DC-A831-3A334C4F7C7C}" dt="2025-12-12T07:01:54.398" v="1760" actId="20577"/>
        <pc:sldMkLst>
          <pc:docMk/>
          <pc:sldMk cId="959393623" sldId="285"/>
        </pc:sldMkLst>
        <pc:spChg chg="add del mod">
          <ac:chgData name="Турал Бабаев" userId="854cf40533749be1" providerId="LiveId" clId="{96C38D1A-179B-41DC-A831-3A334C4F7C7C}" dt="2025-12-11T12:40:05.636" v="52" actId="478"/>
          <ac:spMkLst>
            <pc:docMk/>
            <pc:sldMk cId="959393623" sldId="285"/>
            <ac:spMk id="2" creationId="{21E36980-E21A-E4B3-D913-7570952E28EB}"/>
          </ac:spMkLst>
        </pc:spChg>
        <pc:spChg chg="add del mod">
          <ac:chgData name="Турал Бабаев" userId="854cf40533749be1" providerId="LiveId" clId="{96C38D1A-179B-41DC-A831-3A334C4F7C7C}" dt="2025-12-12T07:01:54.398" v="1760" actId="20577"/>
          <ac:spMkLst>
            <pc:docMk/>
            <pc:sldMk cId="959393623" sldId="285"/>
            <ac:spMk id="3" creationId="{B447D757-A425-5121-B3F2-061FB9C539FF}"/>
          </ac:spMkLst>
        </pc:spChg>
        <pc:spChg chg="add mod">
          <ac:chgData name="Турал Бабаев" userId="854cf40533749be1" providerId="LiveId" clId="{96C38D1A-179B-41DC-A831-3A334C4F7C7C}" dt="2025-12-11T12:39:56.096" v="48"/>
          <ac:spMkLst>
            <pc:docMk/>
            <pc:sldMk cId="959393623" sldId="285"/>
            <ac:spMk id="4" creationId="{C535A3A9-9406-8789-B23D-928D2F7C1EC6}"/>
          </ac:spMkLst>
        </pc:spChg>
        <pc:spChg chg="add mod">
          <ac:chgData name="Турал Бабаев" userId="854cf40533749be1" providerId="LiveId" clId="{96C38D1A-179B-41DC-A831-3A334C4F7C7C}" dt="2025-12-11T12:39:58.869" v="49"/>
          <ac:spMkLst>
            <pc:docMk/>
            <pc:sldMk cId="959393623" sldId="285"/>
            <ac:spMk id="5" creationId="{43BB1DA4-C488-DF61-3DDC-7575CCD6492B}"/>
          </ac:spMkLst>
        </pc:spChg>
        <pc:spChg chg="add mod">
          <ac:chgData name="Турал Бабаев" userId="854cf40533749be1" providerId="LiveId" clId="{96C38D1A-179B-41DC-A831-3A334C4F7C7C}" dt="2025-12-11T12:40:08.171" v="53"/>
          <ac:spMkLst>
            <pc:docMk/>
            <pc:sldMk cId="959393623" sldId="285"/>
            <ac:spMk id="6" creationId="{411EA2E2-095E-8215-F66B-1F4D0932BDE9}"/>
          </ac:spMkLst>
        </pc:spChg>
      </pc:sldChg>
      <pc:sldChg chg="addSp delSp modSp new mod">
        <pc:chgData name="Турал Бабаев" userId="854cf40533749be1" providerId="LiveId" clId="{96C38D1A-179B-41DC-A831-3A334C4F7C7C}" dt="2025-12-11T12:41:01.956" v="74" actId="5793"/>
        <pc:sldMkLst>
          <pc:docMk/>
          <pc:sldMk cId="2717694451" sldId="286"/>
        </pc:sldMkLst>
        <pc:spChg chg="del">
          <ac:chgData name="Турал Бабаев" userId="854cf40533749be1" providerId="LiveId" clId="{96C38D1A-179B-41DC-A831-3A334C4F7C7C}" dt="2025-12-11T12:40:41.034" v="62" actId="478"/>
          <ac:spMkLst>
            <pc:docMk/>
            <pc:sldMk cId="2717694451" sldId="286"/>
            <ac:spMk id="2" creationId="{ADBF66CD-FD3D-A9F0-80EF-5FD5A1A5022B}"/>
          </ac:spMkLst>
        </pc:spChg>
        <pc:spChg chg="mod">
          <ac:chgData name="Турал Бабаев" userId="854cf40533749be1" providerId="LiveId" clId="{96C38D1A-179B-41DC-A831-3A334C4F7C7C}" dt="2025-12-11T12:41:01.956" v="74" actId="5793"/>
          <ac:spMkLst>
            <pc:docMk/>
            <pc:sldMk cId="2717694451" sldId="286"/>
            <ac:spMk id="3" creationId="{78680B12-EDB6-C5E0-ED14-294B5D2A64DF}"/>
          </ac:spMkLst>
        </pc:spChg>
        <pc:spChg chg="add mod">
          <ac:chgData name="Турал Бабаев" userId="854cf40533749be1" providerId="LiveId" clId="{96C38D1A-179B-41DC-A831-3A334C4F7C7C}" dt="2025-12-11T12:40:44.612" v="63"/>
          <ac:spMkLst>
            <pc:docMk/>
            <pc:sldMk cId="2717694451" sldId="286"/>
            <ac:spMk id="4" creationId="{B3015777-F872-80DE-A75C-6E540019B754}"/>
          </ac:spMkLst>
        </pc:spChg>
      </pc:sldChg>
      <pc:sldChg chg="addSp delSp modSp new mod">
        <pc:chgData name="Турал Бабаев" userId="854cf40533749be1" providerId="LiveId" clId="{96C38D1A-179B-41DC-A831-3A334C4F7C7C}" dt="2025-12-11T12:41:40.740" v="83" actId="27636"/>
        <pc:sldMkLst>
          <pc:docMk/>
          <pc:sldMk cId="2090800434" sldId="287"/>
        </pc:sldMkLst>
        <pc:spChg chg="del">
          <ac:chgData name="Турал Бабаев" userId="854cf40533749be1" providerId="LiveId" clId="{96C38D1A-179B-41DC-A831-3A334C4F7C7C}" dt="2025-12-11T12:41:34.238" v="77" actId="478"/>
          <ac:spMkLst>
            <pc:docMk/>
            <pc:sldMk cId="2090800434" sldId="287"/>
            <ac:spMk id="2" creationId="{A6EDF12E-8721-70B5-B4C6-066D11563346}"/>
          </ac:spMkLst>
        </pc:spChg>
        <pc:spChg chg="mod">
          <ac:chgData name="Турал Бабаев" userId="854cf40533749be1" providerId="LiveId" clId="{96C38D1A-179B-41DC-A831-3A334C4F7C7C}" dt="2025-12-11T12:41:40.740" v="83" actId="27636"/>
          <ac:spMkLst>
            <pc:docMk/>
            <pc:sldMk cId="2090800434" sldId="287"/>
            <ac:spMk id="3" creationId="{E5F2088F-5B62-F612-1C2A-4AF4FEC0C477}"/>
          </ac:spMkLst>
        </pc:spChg>
        <pc:spChg chg="add mod">
          <ac:chgData name="Турал Бабаев" userId="854cf40533749be1" providerId="LiveId" clId="{96C38D1A-179B-41DC-A831-3A334C4F7C7C}" dt="2025-12-11T12:41:34.472" v="78"/>
          <ac:spMkLst>
            <pc:docMk/>
            <pc:sldMk cId="2090800434" sldId="287"/>
            <ac:spMk id="4" creationId="{EAAD722A-CD1F-747D-23C8-5259A90F6435}"/>
          </ac:spMkLst>
        </pc:spChg>
      </pc:sldChg>
      <pc:sldChg chg="modSp new mod">
        <pc:chgData name="Турал Бабаев" userId="854cf40533749be1" providerId="LiveId" clId="{96C38D1A-179B-41DC-A831-3A334C4F7C7C}" dt="2025-12-11T17:57:36.757" v="1758" actId="2711"/>
        <pc:sldMkLst>
          <pc:docMk/>
          <pc:sldMk cId="567098996" sldId="288"/>
        </pc:sldMkLst>
        <pc:spChg chg="mod">
          <ac:chgData name="Турал Бабаев" userId="854cf40533749be1" providerId="LiveId" clId="{96C38D1A-179B-41DC-A831-3A334C4F7C7C}" dt="2025-12-11T17:57:36.757" v="1758" actId="2711"/>
          <ac:spMkLst>
            <pc:docMk/>
            <pc:sldMk cId="567098996" sldId="288"/>
            <ac:spMk id="2" creationId="{5095C1EC-D211-A7C7-8F25-8B6D0AAC4016}"/>
          </ac:spMkLst>
        </pc:spChg>
        <pc:spChg chg="mod">
          <ac:chgData name="Турал Бабаев" userId="854cf40533749be1" providerId="LiveId" clId="{96C38D1A-179B-41DC-A831-3A334C4F7C7C}" dt="2025-12-11T17:28:22.087" v="1294" actId="27636"/>
          <ac:spMkLst>
            <pc:docMk/>
            <pc:sldMk cId="567098996" sldId="288"/>
            <ac:spMk id="3" creationId="{831BE5E8-AD7B-BB94-9355-C7BD8E6EB152}"/>
          </ac:spMkLst>
        </pc:spChg>
      </pc:sldChg>
      <pc:sldChg chg="addSp delSp modSp new mod">
        <pc:chgData name="Турал Бабаев" userId="854cf40533749be1" providerId="LiveId" clId="{96C38D1A-179B-41DC-A831-3A334C4F7C7C}" dt="2025-12-11T16:15:17.948" v="410" actId="2711"/>
        <pc:sldMkLst>
          <pc:docMk/>
          <pc:sldMk cId="1392154384" sldId="289"/>
        </pc:sldMkLst>
        <pc:spChg chg="del">
          <ac:chgData name="Турал Бабаев" userId="854cf40533749be1" providerId="LiveId" clId="{96C38D1A-179B-41DC-A831-3A334C4F7C7C}" dt="2025-12-11T14:34:35.262" v="345" actId="478"/>
          <ac:spMkLst>
            <pc:docMk/>
            <pc:sldMk cId="1392154384" sldId="289"/>
            <ac:spMk id="2" creationId="{76294A96-3E90-7FAF-4149-898FCDFD1A36}"/>
          </ac:spMkLst>
        </pc:spChg>
        <pc:spChg chg="mod">
          <ac:chgData name="Турал Бабаев" userId="854cf40533749be1" providerId="LiveId" clId="{96C38D1A-179B-41DC-A831-3A334C4F7C7C}" dt="2025-12-11T16:15:17.948" v="410" actId="2711"/>
          <ac:spMkLst>
            <pc:docMk/>
            <pc:sldMk cId="1392154384" sldId="289"/>
            <ac:spMk id="3" creationId="{4FC6643D-CB55-A1CF-2BDB-DFEF875B27B4}"/>
          </ac:spMkLst>
        </pc:spChg>
        <pc:spChg chg="add mod">
          <ac:chgData name="Турал Бабаев" userId="854cf40533749be1" providerId="LiveId" clId="{96C38D1A-179B-41DC-A831-3A334C4F7C7C}" dt="2025-12-11T14:34:50.179" v="347"/>
          <ac:spMkLst>
            <pc:docMk/>
            <pc:sldMk cId="1392154384" sldId="289"/>
            <ac:spMk id="4" creationId="{7A35CFB9-9B15-7474-8EA9-7C8F927D57C6}"/>
          </ac:spMkLst>
        </pc:spChg>
        <pc:spChg chg="add">
          <ac:chgData name="Турал Бабаев" userId="854cf40533749be1" providerId="LiveId" clId="{96C38D1A-179B-41DC-A831-3A334C4F7C7C}" dt="2025-12-11T14:36:02.185" v="372"/>
          <ac:spMkLst>
            <pc:docMk/>
            <pc:sldMk cId="1392154384" sldId="289"/>
            <ac:spMk id="5" creationId="{9F841393-E715-1DB4-6FD9-1D34E318948E}"/>
          </ac:spMkLst>
        </pc:spChg>
        <pc:spChg chg="add">
          <ac:chgData name="Турал Бабаев" userId="854cf40533749be1" providerId="LiveId" clId="{96C38D1A-179B-41DC-A831-3A334C4F7C7C}" dt="2025-12-11T14:36:04.134" v="373"/>
          <ac:spMkLst>
            <pc:docMk/>
            <pc:sldMk cId="1392154384" sldId="289"/>
            <ac:spMk id="6" creationId="{5F03A9C5-39B8-7B09-CD60-368F42872D4A}"/>
          </ac:spMkLst>
        </pc:spChg>
        <pc:spChg chg="add">
          <ac:chgData name="Турал Бабаев" userId="854cf40533749be1" providerId="LiveId" clId="{96C38D1A-179B-41DC-A831-3A334C4F7C7C}" dt="2025-12-11T14:36:08.119" v="374"/>
          <ac:spMkLst>
            <pc:docMk/>
            <pc:sldMk cId="1392154384" sldId="289"/>
            <ac:spMk id="7" creationId="{6A305078-993C-69B7-87D7-2517DBABA168}"/>
          </ac:spMkLst>
        </pc:spChg>
        <pc:spChg chg="add">
          <ac:chgData name="Турал Бабаев" userId="854cf40533749be1" providerId="LiveId" clId="{96C38D1A-179B-41DC-A831-3A334C4F7C7C}" dt="2025-12-11T14:36:09.278" v="375"/>
          <ac:spMkLst>
            <pc:docMk/>
            <pc:sldMk cId="1392154384" sldId="289"/>
            <ac:spMk id="8" creationId="{957417DB-E6BD-19CE-D367-0A8A07450975}"/>
          </ac:spMkLst>
        </pc:spChg>
      </pc:sldChg>
      <pc:sldChg chg="modSp add mod">
        <pc:chgData name="Турал Бабаев" userId="854cf40533749be1" providerId="LiveId" clId="{96C38D1A-179B-41DC-A831-3A334C4F7C7C}" dt="2025-12-11T16:18:34.685" v="566" actId="20577"/>
        <pc:sldMkLst>
          <pc:docMk/>
          <pc:sldMk cId="1038171918" sldId="290"/>
        </pc:sldMkLst>
        <pc:spChg chg="mod">
          <ac:chgData name="Турал Бабаев" userId="854cf40533749be1" providerId="LiveId" clId="{96C38D1A-179B-41DC-A831-3A334C4F7C7C}" dt="2025-12-11T16:18:34.685" v="566" actId="20577"/>
          <ac:spMkLst>
            <pc:docMk/>
            <pc:sldMk cId="1038171918" sldId="290"/>
            <ac:spMk id="3" creationId="{8CD57374-2757-9ECC-27C0-32C4C3CFA14B}"/>
          </ac:spMkLst>
        </pc:spChg>
      </pc:sldChg>
      <pc:sldChg chg="modSp add mod">
        <pc:chgData name="Турал Бабаев" userId="854cf40533749be1" providerId="LiveId" clId="{96C38D1A-179B-41DC-A831-3A334C4F7C7C}" dt="2025-12-11T17:28:31.992" v="1296" actId="27636"/>
        <pc:sldMkLst>
          <pc:docMk/>
          <pc:sldMk cId="1147305613" sldId="291"/>
        </pc:sldMkLst>
        <pc:spChg chg="mod">
          <ac:chgData name="Турал Бабаев" userId="854cf40533749be1" providerId="LiveId" clId="{96C38D1A-179B-41DC-A831-3A334C4F7C7C}" dt="2025-12-11T17:28:31.992" v="1296" actId="27636"/>
          <ac:spMkLst>
            <pc:docMk/>
            <pc:sldMk cId="1147305613" sldId="291"/>
            <ac:spMk id="3" creationId="{45504635-C3E2-E3CD-AB6C-4B2D72839704}"/>
          </ac:spMkLst>
        </pc:spChg>
      </pc:sldChg>
      <pc:sldChg chg="addSp modSp add mod">
        <pc:chgData name="Турал Бабаев" userId="854cf40533749be1" providerId="LiveId" clId="{96C38D1A-179B-41DC-A831-3A334C4F7C7C}" dt="2025-12-12T07:51:37.060" v="1801" actId="27636"/>
        <pc:sldMkLst>
          <pc:docMk/>
          <pc:sldMk cId="3046763372" sldId="292"/>
        </pc:sldMkLst>
        <pc:spChg chg="add">
          <ac:chgData name="Турал Бабаев" userId="854cf40533749be1" providerId="LiveId" clId="{96C38D1A-179B-41DC-A831-3A334C4F7C7C}" dt="2025-12-11T16:22:16.278" v="599"/>
          <ac:spMkLst>
            <pc:docMk/>
            <pc:sldMk cId="3046763372" sldId="292"/>
            <ac:spMk id="2" creationId="{F2ADFDA6-8E57-F65E-DE25-950CC31BD069}"/>
          </ac:spMkLst>
        </pc:spChg>
        <pc:spChg chg="mod">
          <ac:chgData name="Турал Бабаев" userId="854cf40533749be1" providerId="LiveId" clId="{96C38D1A-179B-41DC-A831-3A334C4F7C7C}" dt="2025-12-12T07:51:37.060" v="1801" actId="27636"/>
          <ac:spMkLst>
            <pc:docMk/>
            <pc:sldMk cId="3046763372" sldId="292"/>
            <ac:spMk id="3" creationId="{79F26BD4-6AB4-B35C-8AEE-8EFA1F8E2DD6}"/>
          </ac:spMkLst>
        </pc:spChg>
        <pc:spChg chg="mod">
          <ac:chgData name="Турал Бабаев" userId="854cf40533749be1" providerId="LiveId" clId="{96C38D1A-179B-41DC-A831-3A334C4F7C7C}" dt="2025-12-11T17:28:41.396" v="1297" actId="2711"/>
          <ac:spMkLst>
            <pc:docMk/>
            <pc:sldMk cId="3046763372" sldId="292"/>
            <ac:spMk id="4" creationId="{D44D2AB7-6AD0-5D74-A6E2-B5348AE9E0D1}"/>
          </ac:spMkLst>
        </pc:spChg>
        <pc:spChg chg="add">
          <ac:chgData name="Турал Бабаев" userId="854cf40533749be1" providerId="LiveId" clId="{96C38D1A-179B-41DC-A831-3A334C4F7C7C}" dt="2025-12-11T16:22:20.764" v="600"/>
          <ac:spMkLst>
            <pc:docMk/>
            <pc:sldMk cId="3046763372" sldId="292"/>
            <ac:spMk id="5" creationId="{30263ACF-2B33-76AB-8818-2E658BCA1D99}"/>
          </ac:spMkLst>
        </pc:spChg>
        <pc:spChg chg="add">
          <ac:chgData name="Турал Бабаев" userId="854cf40533749be1" providerId="LiveId" clId="{96C38D1A-179B-41DC-A831-3A334C4F7C7C}" dt="2025-12-11T16:22:25.135" v="601"/>
          <ac:spMkLst>
            <pc:docMk/>
            <pc:sldMk cId="3046763372" sldId="292"/>
            <ac:spMk id="6" creationId="{5459A2A3-D78B-0EDB-A14C-6E32E0F2ECFC}"/>
          </ac:spMkLst>
        </pc:spChg>
      </pc:sldChg>
      <pc:sldChg chg="modSp add mod">
        <pc:chgData name="Турал Бабаев" userId="854cf40533749be1" providerId="LiveId" clId="{96C38D1A-179B-41DC-A831-3A334C4F7C7C}" dt="2025-12-11T17:28:59.014" v="1299" actId="2711"/>
        <pc:sldMkLst>
          <pc:docMk/>
          <pc:sldMk cId="3551935405" sldId="293"/>
        </pc:sldMkLst>
        <pc:spChg chg="mod">
          <ac:chgData name="Турал Бабаев" userId="854cf40533749be1" providerId="LiveId" clId="{96C38D1A-179B-41DC-A831-3A334C4F7C7C}" dt="2025-12-11T17:28:59.014" v="1299" actId="2711"/>
          <ac:spMkLst>
            <pc:docMk/>
            <pc:sldMk cId="3551935405" sldId="293"/>
            <ac:spMk id="3" creationId="{CE407006-EA53-AC9C-FCAE-7874CF9A71DA}"/>
          </ac:spMkLst>
        </pc:spChg>
      </pc:sldChg>
      <pc:sldChg chg="modSp add mod">
        <pc:chgData name="Турал Бабаев" userId="854cf40533749be1" providerId="LiveId" clId="{96C38D1A-179B-41DC-A831-3A334C4F7C7C}" dt="2025-12-11T17:29:10.045" v="1300" actId="2711"/>
        <pc:sldMkLst>
          <pc:docMk/>
          <pc:sldMk cId="557239776" sldId="294"/>
        </pc:sldMkLst>
        <pc:spChg chg="mod">
          <ac:chgData name="Турал Бабаев" userId="854cf40533749be1" providerId="LiveId" clId="{96C38D1A-179B-41DC-A831-3A334C4F7C7C}" dt="2025-12-11T17:29:10.045" v="1300" actId="2711"/>
          <ac:spMkLst>
            <pc:docMk/>
            <pc:sldMk cId="557239776" sldId="294"/>
            <ac:spMk id="3" creationId="{AE03C5EC-F9F1-EE34-550A-E188A67C188D}"/>
          </ac:spMkLst>
        </pc:spChg>
      </pc:sldChg>
      <pc:sldChg chg="modSp add mod">
        <pc:chgData name="Турал Бабаев" userId="854cf40533749be1" providerId="LiveId" clId="{96C38D1A-179B-41DC-A831-3A334C4F7C7C}" dt="2025-12-11T17:29:13.777" v="1302" actId="27636"/>
        <pc:sldMkLst>
          <pc:docMk/>
          <pc:sldMk cId="2689738565" sldId="295"/>
        </pc:sldMkLst>
        <pc:spChg chg="mod">
          <ac:chgData name="Турал Бабаев" userId="854cf40533749be1" providerId="LiveId" clId="{96C38D1A-179B-41DC-A831-3A334C4F7C7C}" dt="2025-12-11T17:29:13.777" v="1302" actId="27636"/>
          <ac:spMkLst>
            <pc:docMk/>
            <pc:sldMk cId="2689738565" sldId="295"/>
            <ac:spMk id="3" creationId="{055375D1-1530-3428-9CC0-6BD8F8C65BEA}"/>
          </ac:spMkLst>
        </pc:spChg>
      </pc:sldChg>
      <pc:sldChg chg="addSp delSp modSp add mod">
        <pc:chgData name="Турал Бабаев" userId="854cf40533749be1" providerId="LiveId" clId="{96C38D1A-179B-41DC-A831-3A334C4F7C7C}" dt="2025-12-11T16:45:28.962" v="1056" actId="1076"/>
        <pc:sldMkLst>
          <pc:docMk/>
          <pc:sldMk cId="1985555094" sldId="296"/>
        </pc:sldMkLst>
        <pc:spChg chg="del">
          <ac:chgData name="Турал Бабаев" userId="854cf40533749be1" providerId="LiveId" clId="{96C38D1A-179B-41DC-A831-3A334C4F7C7C}" dt="2025-12-11T16:43:46.742" v="998" actId="478"/>
          <ac:spMkLst>
            <pc:docMk/>
            <pc:sldMk cId="1985555094" sldId="296"/>
            <ac:spMk id="3" creationId="{945DC02C-4A48-E827-7E46-0732E6CD944C}"/>
          </ac:spMkLst>
        </pc:spChg>
        <pc:spChg chg="del">
          <ac:chgData name="Турал Бабаев" userId="854cf40533749be1" providerId="LiveId" clId="{96C38D1A-179B-41DC-A831-3A334C4F7C7C}" dt="2025-12-11T16:43:46.742" v="998" actId="478"/>
          <ac:spMkLst>
            <pc:docMk/>
            <pc:sldMk cId="1985555094" sldId="296"/>
            <ac:spMk id="4" creationId="{A800418A-DE7B-D97F-20E9-3F82A913E05D}"/>
          </ac:spMkLst>
        </pc:spChg>
        <pc:spChg chg="add del mod">
          <ac:chgData name="Турал Бабаев" userId="854cf40533749be1" providerId="LiveId" clId="{96C38D1A-179B-41DC-A831-3A334C4F7C7C}" dt="2025-12-11T16:43:48.077" v="1000" actId="478"/>
          <ac:spMkLst>
            <pc:docMk/>
            <pc:sldMk cId="1985555094" sldId="296"/>
            <ac:spMk id="5" creationId="{10C24ECA-68D5-E5BD-5B3B-280F3F59E2F2}"/>
          </ac:spMkLst>
        </pc:spChg>
        <pc:graphicFrameChg chg="add del mod modGraphic">
          <ac:chgData name="Турал Бабаев" userId="854cf40533749be1" providerId="LiveId" clId="{96C38D1A-179B-41DC-A831-3A334C4F7C7C}" dt="2025-12-11T16:44:16.859" v="1007" actId="3680"/>
          <ac:graphicFrameMkLst>
            <pc:docMk/>
            <pc:sldMk cId="1985555094" sldId="296"/>
            <ac:graphicFrameMk id="6" creationId="{19C8431E-570C-2828-0D83-BF47C3FAC591}"/>
          </ac:graphicFrameMkLst>
        </pc:graphicFrameChg>
        <pc:graphicFrameChg chg="add mod modGraphic">
          <ac:chgData name="Турал Бабаев" userId="854cf40533749be1" providerId="LiveId" clId="{96C38D1A-179B-41DC-A831-3A334C4F7C7C}" dt="2025-12-11T16:45:28.962" v="1056" actId="1076"/>
          <ac:graphicFrameMkLst>
            <pc:docMk/>
            <pc:sldMk cId="1985555094" sldId="296"/>
            <ac:graphicFrameMk id="7" creationId="{C7D5DD38-3945-5066-716A-209A906F7015}"/>
          </ac:graphicFrameMkLst>
        </pc:graphicFrameChg>
      </pc:sldChg>
      <pc:sldChg chg="modSp add mod">
        <pc:chgData name="Турал Бабаев" userId="854cf40533749be1" providerId="LiveId" clId="{96C38D1A-179B-41DC-A831-3A334C4F7C7C}" dt="2025-12-11T17:35:08.822" v="1442" actId="27636"/>
        <pc:sldMkLst>
          <pc:docMk/>
          <pc:sldMk cId="3847285964" sldId="297"/>
        </pc:sldMkLst>
        <pc:spChg chg="mod">
          <ac:chgData name="Турал Бабаев" userId="854cf40533749be1" providerId="LiveId" clId="{96C38D1A-179B-41DC-A831-3A334C4F7C7C}" dt="2025-12-11T17:35:08.822" v="1442" actId="27636"/>
          <ac:spMkLst>
            <pc:docMk/>
            <pc:sldMk cId="3847285964" sldId="297"/>
            <ac:spMk id="3" creationId="{A9FE8DA3-267E-7930-D9AD-F879BA8BB51F}"/>
          </ac:spMkLst>
        </pc:spChg>
        <pc:spChg chg="mod">
          <ac:chgData name="Турал Бабаев" userId="854cf40533749be1" providerId="LiveId" clId="{96C38D1A-179B-41DC-A831-3A334C4F7C7C}" dt="2025-12-11T17:29:53.696" v="1309"/>
          <ac:spMkLst>
            <pc:docMk/>
            <pc:sldMk cId="3847285964" sldId="297"/>
            <ac:spMk id="4" creationId="{EF90C809-D410-DC52-4EEB-AE913D7B1BCA}"/>
          </ac:spMkLst>
        </pc:spChg>
      </pc:sldChg>
      <pc:sldChg chg="add del">
        <pc:chgData name="Турал Бабаев" userId="854cf40533749be1" providerId="LiveId" clId="{96C38D1A-179B-41DC-A831-3A334C4F7C7C}" dt="2025-12-11T17:27:55.719" v="1291" actId="47"/>
        <pc:sldMkLst>
          <pc:docMk/>
          <pc:sldMk cId="613235999" sldId="298"/>
        </pc:sldMkLst>
      </pc:sldChg>
      <pc:sldChg chg="add del">
        <pc:chgData name="Турал Бабаев" userId="854cf40533749be1" providerId="LiveId" clId="{96C38D1A-179B-41DC-A831-3A334C4F7C7C}" dt="2025-12-11T17:27:55.514" v="1290" actId="47"/>
        <pc:sldMkLst>
          <pc:docMk/>
          <pc:sldMk cId="1448231695" sldId="299"/>
        </pc:sldMkLst>
      </pc:sldChg>
      <pc:sldChg chg="add del">
        <pc:chgData name="Турал Бабаев" userId="854cf40533749be1" providerId="LiveId" clId="{96C38D1A-179B-41DC-A831-3A334C4F7C7C}" dt="2025-12-11T17:27:55.221" v="1289" actId="47"/>
        <pc:sldMkLst>
          <pc:docMk/>
          <pc:sldMk cId="1898177396" sldId="300"/>
        </pc:sldMkLst>
      </pc:sldChg>
      <pc:sldChg chg="add del">
        <pc:chgData name="Турал Бабаев" userId="854cf40533749be1" providerId="LiveId" clId="{96C38D1A-179B-41DC-A831-3A334C4F7C7C}" dt="2025-12-11T17:27:54.945" v="1288" actId="47"/>
        <pc:sldMkLst>
          <pc:docMk/>
          <pc:sldMk cId="2665837040" sldId="301"/>
        </pc:sldMkLst>
      </pc:sldChg>
      <pc:sldChg chg="addSp delSp modSp new mod">
        <pc:chgData name="Турал Бабаев" userId="854cf40533749be1" providerId="LiveId" clId="{96C38D1A-179B-41DC-A831-3A334C4F7C7C}" dt="2025-12-12T07:50:36.753" v="1799" actId="20577"/>
        <pc:sldMkLst>
          <pc:docMk/>
          <pc:sldMk cId="3438414338" sldId="302"/>
        </pc:sldMkLst>
        <pc:spChg chg="del">
          <ac:chgData name="Турал Бабаев" userId="854cf40533749be1" providerId="LiveId" clId="{96C38D1A-179B-41DC-A831-3A334C4F7C7C}" dt="2025-12-11T16:39:08.636" v="843" actId="478"/>
          <ac:spMkLst>
            <pc:docMk/>
            <pc:sldMk cId="3438414338" sldId="302"/>
            <ac:spMk id="2" creationId="{7FC7BB94-7EAE-2B42-9BFC-B45CB1B0C810}"/>
          </ac:spMkLst>
        </pc:spChg>
        <pc:spChg chg="del">
          <ac:chgData name="Турал Бабаев" userId="854cf40533749be1" providerId="LiveId" clId="{96C38D1A-179B-41DC-A831-3A334C4F7C7C}" dt="2025-12-11T16:39:08.636" v="843" actId="478"/>
          <ac:spMkLst>
            <pc:docMk/>
            <pc:sldMk cId="3438414338" sldId="302"/>
            <ac:spMk id="3" creationId="{5465603E-46B3-C229-32C3-8553BE08BF32}"/>
          </ac:spMkLst>
        </pc:spChg>
        <pc:graphicFrameChg chg="add mod modGraphic">
          <ac:chgData name="Турал Бабаев" userId="854cf40533749be1" providerId="LiveId" clId="{96C38D1A-179B-41DC-A831-3A334C4F7C7C}" dt="2025-12-12T07:50:36.753" v="1799" actId="20577"/>
          <ac:graphicFrameMkLst>
            <pc:docMk/>
            <pc:sldMk cId="3438414338" sldId="302"/>
            <ac:graphicFrameMk id="4" creationId="{5E0C6AC9-2DF0-40C0-E354-52DEC921F528}"/>
          </ac:graphicFrameMkLst>
        </pc:graphicFrameChg>
      </pc:sldChg>
      <pc:sldChg chg="modSp add mod">
        <pc:chgData name="Турал Бабаев" userId="854cf40533749be1" providerId="LiveId" clId="{96C38D1A-179B-41DC-A831-3A334C4F7C7C}" dt="2025-12-11T17:29:39.680" v="1308" actId="2711"/>
        <pc:sldMkLst>
          <pc:docMk/>
          <pc:sldMk cId="1970273660" sldId="303"/>
        </pc:sldMkLst>
        <pc:spChg chg="mod">
          <ac:chgData name="Турал Бабаев" userId="854cf40533749be1" providerId="LiveId" clId="{96C38D1A-179B-41DC-A831-3A334C4F7C7C}" dt="2025-12-11T17:29:39.680" v="1308" actId="2711"/>
          <ac:spMkLst>
            <pc:docMk/>
            <pc:sldMk cId="1970273660" sldId="303"/>
            <ac:spMk id="3" creationId="{DC377CBD-7595-C58B-0877-5EEDADCEF82A}"/>
          </ac:spMkLst>
        </pc:spChg>
      </pc:sldChg>
      <pc:sldChg chg="modSp add mod">
        <pc:chgData name="Турал Бабаев" userId="854cf40533749be1" providerId="LiveId" clId="{96C38D1A-179B-41DC-A831-3A334C4F7C7C}" dt="2025-12-11T17:29:20.478" v="1303" actId="2711"/>
        <pc:sldMkLst>
          <pc:docMk/>
          <pc:sldMk cId="612225664" sldId="304"/>
        </pc:sldMkLst>
        <pc:spChg chg="mod">
          <ac:chgData name="Турал Бабаев" userId="854cf40533749be1" providerId="LiveId" clId="{96C38D1A-179B-41DC-A831-3A334C4F7C7C}" dt="2025-12-11T17:29:20.478" v="1303" actId="2711"/>
          <ac:spMkLst>
            <pc:docMk/>
            <pc:sldMk cId="612225664" sldId="304"/>
            <ac:spMk id="3" creationId="{B107F5A3-8326-4E1D-BE75-9C6190F6BECD}"/>
          </ac:spMkLst>
        </pc:spChg>
      </pc:sldChg>
      <pc:sldChg chg="modSp add mod">
        <pc:chgData name="Турал Бабаев" userId="854cf40533749be1" providerId="LiveId" clId="{96C38D1A-179B-41DC-A831-3A334C4F7C7C}" dt="2025-12-11T17:29:27.463" v="1305" actId="27636"/>
        <pc:sldMkLst>
          <pc:docMk/>
          <pc:sldMk cId="87585429" sldId="305"/>
        </pc:sldMkLst>
        <pc:spChg chg="mod">
          <ac:chgData name="Турал Бабаев" userId="854cf40533749be1" providerId="LiveId" clId="{96C38D1A-179B-41DC-A831-3A334C4F7C7C}" dt="2025-12-11T17:29:27.463" v="1305" actId="27636"/>
          <ac:spMkLst>
            <pc:docMk/>
            <pc:sldMk cId="87585429" sldId="305"/>
            <ac:spMk id="3" creationId="{AC0559A6-C9CB-28E1-2A09-2A60FE5DFBB0}"/>
          </ac:spMkLst>
        </pc:spChg>
      </pc:sldChg>
      <pc:sldChg chg="modSp add mod">
        <pc:chgData name="Турал Бабаев" userId="854cf40533749be1" providerId="LiveId" clId="{96C38D1A-179B-41DC-A831-3A334C4F7C7C}" dt="2025-12-11T17:29:31.909" v="1307" actId="27636"/>
        <pc:sldMkLst>
          <pc:docMk/>
          <pc:sldMk cId="541355546" sldId="306"/>
        </pc:sldMkLst>
        <pc:spChg chg="mod">
          <ac:chgData name="Турал Бабаев" userId="854cf40533749be1" providerId="LiveId" clId="{96C38D1A-179B-41DC-A831-3A334C4F7C7C}" dt="2025-12-11T17:29:31.909" v="1307" actId="27636"/>
          <ac:spMkLst>
            <pc:docMk/>
            <pc:sldMk cId="541355546" sldId="306"/>
            <ac:spMk id="3" creationId="{B9EA11E1-527B-2E04-B133-5C873E530CD7}"/>
          </ac:spMkLst>
        </pc:spChg>
      </pc:sldChg>
      <pc:sldChg chg="modSp add mod">
        <pc:chgData name="Турал Бабаев" userId="854cf40533749be1" providerId="LiveId" clId="{96C38D1A-179B-41DC-A831-3A334C4F7C7C}" dt="2025-12-11T17:35:30.482" v="1461" actId="12"/>
        <pc:sldMkLst>
          <pc:docMk/>
          <pc:sldMk cId="2528242976" sldId="307"/>
        </pc:sldMkLst>
        <pc:spChg chg="mod">
          <ac:chgData name="Турал Бабаев" userId="854cf40533749be1" providerId="LiveId" clId="{96C38D1A-179B-41DC-A831-3A334C4F7C7C}" dt="2025-12-11T17:35:30.482" v="1461" actId="12"/>
          <ac:spMkLst>
            <pc:docMk/>
            <pc:sldMk cId="2528242976" sldId="307"/>
            <ac:spMk id="3" creationId="{A7EB9A6E-6CBF-DAC6-3E38-F845236901AC}"/>
          </ac:spMkLst>
        </pc:spChg>
      </pc:sldChg>
      <pc:sldChg chg="add del">
        <pc:chgData name="Турал Бабаев" userId="854cf40533749be1" providerId="LiveId" clId="{96C38D1A-179B-41DC-A831-3A334C4F7C7C}" dt="2025-12-11T17:27:39.783" v="1286" actId="47"/>
        <pc:sldMkLst>
          <pc:docMk/>
          <pc:sldMk cId="3975911024" sldId="307"/>
        </pc:sldMkLst>
      </pc:sldChg>
      <pc:sldChg chg="add del">
        <pc:chgData name="Турал Бабаев" userId="854cf40533749be1" providerId="LiveId" clId="{96C38D1A-179B-41DC-A831-3A334C4F7C7C}" dt="2025-12-11T17:27:40.811" v="1287" actId="47"/>
        <pc:sldMkLst>
          <pc:docMk/>
          <pc:sldMk cId="10439885" sldId="308"/>
        </pc:sldMkLst>
      </pc:sldChg>
      <pc:sldChg chg="modSp add mod">
        <pc:chgData name="Турал Бабаев" userId="854cf40533749be1" providerId="LiveId" clId="{96C38D1A-179B-41DC-A831-3A334C4F7C7C}" dt="2025-12-11T17:39:20.003" v="1578"/>
        <pc:sldMkLst>
          <pc:docMk/>
          <pc:sldMk cId="1384184349" sldId="308"/>
        </pc:sldMkLst>
        <pc:spChg chg="mod">
          <ac:chgData name="Турал Бабаев" userId="854cf40533749be1" providerId="LiveId" clId="{96C38D1A-179B-41DC-A831-3A334C4F7C7C}" dt="2025-12-11T17:39:20.003" v="1578"/>
          <ac:spMkLst>
            <pc:docMk/>
            <pc:sldMk cId="1384184349" sldId="308"/>
            <ac:spMk id="3" creationId="{986EEDF1-4AD2-2FF1-C3BF-6CDA0F8DC647}"/>
          </ac:spMkLst>
        </pc:spChg>
      </pc:sldChg>
      <pc:sldChg chg="modSp add mod">
        <pc:chgData name="Турал Бабаев" userId="854cf40533749be1" providerId="LiveId" clId="{96C38D1A-179B-41DC-A831-3A334C4F7C7C}" dt="2025-12-11T17:43:17.050" v="1649" actId="20577"/>
        <pc:sldMkLst>
          <pc:docMk/>
          <pc:sldMk cId="3499409019" sldId="309"/>
        </pc:sldMkLst>
        <pc:spChg chg="mod">
          <ac:chgData name="Турал Бабаев" userId="854cf40533749be1" providerId="LiveId" clId="{96C38D1A-179B-41DC-A831-3A334C4F7C7C}" dt="2025-12-11T17:43:17.050" v="1649" actId="20577"/>
          <ac:spMkLst>
            <pc:docMk/>
            <pc:sldMk cId="3499409019" sldId="309"/>
            <ac:spMk id="3" creationId="{3B6435EA-1749-0F39-6252-BE360040A5F7}"/>
          </ac:spMkLst>
        </pc:spChg>
      </pc:sldChg>
      <pc:sldChg chg="modSp add mod">
        <pc:chgData name="Турал Бабаев" userId="854cf40533749be1" providerId="LiveId" clId="{96C38D1A-179B-41DC-A831-3A334C4F7C7C}" dt="2025-12-12T07:30:11.025" v="1797" actId="20577"/>
        <pc:sldMkLst>
          <pc:docMk/>
          <pc:sldMk cId="3077223770" sldId="310"/>
        </pc:sldMkLst>
        <pc:spChg chg="mod">
          <ac:chgData name="Турал Бабаев" userId="854cf40533749be1" providerId="LiveId" clId="{96C38D1A-179B-41DC-A831-3A334C4F7C7C}" dt="2025-12-12T07:30:11.025" v="1797" actId="20577"/>
          <ac:spMkLst>
            <pc:docMk/>
            <pc:sldMk cId="3077223770" sldId="310"/>
            <ac:spMk id="3" creationId="{1629CF7B-D561-685F-4546-07AD3BF4DF8E}"/>
          </ac:spMkLst>
        </pc:spChg>
      </pc:sldChg>
      <pc:sldChg chg="modSp add mod">
        <pc:chgData name="Турал Бабаев" userId="854cf40533749be1" providerId="LiveId" clId="{96C38D1A-179B-41DC-A831-3A334C4F7C7C}" dt="2025-12-11T17:47:59.392" v="1713"/>
        <pc:sldMkLst>
          <pc:docMk/>
          <pc:sldMk cId="2507599459" sldId="311"/>
        </pc:sldMkLst>
        <pc:spChg chg="mod">
          <ac:chgData name="Турал Бабаев" userId="854cf40533749be1" providerId="LiveId" clId="{96C38D1A-179B-41DC-A831-3A334C4F7C7C}" dt="2025-12-11T17:47:59.392" v="1713"/>
          <ac:spMkLst>
            <pc:docMk/>
            <pc:sldMk cId="2507599459" sldId="311"/>
            <ac:spMk id="3" creationId="{F3BCB7B9-6342-8269-81B3-24152EF44781}"/>
          </ac:spMkLst>
        </pc:spChg>
      </pc:sldChg>
      <pc:sldChg chg="addSp modSp add mod">
        <pc:chgData name="Турал Бабаев" userId="854cf40533749be1" providerId="LiveId" clId="{96C38D1A-179B-41DC-A831-3A334C4F7C7C}" dt="2025-12-11T17:49:34.793" v="1755" actId="20577"/>
        <pc:sldMkLst>
          <pc:docMk/>
          <pc:sldMk cId="3102863990" sldId="312"/>
        </pc:sldMkLst>
        <pc:spChg chg="mod">
          <ac:chgData name="Турал Бабаев" userId="854cf40533749be1" providerId="LiveId" clId="{96C38D1A-179B-41DC-A831-3A334C4F7C7C}" dt="2025-12-11T17:48:34.433" v="1733" actId="27636"/>
          <ac:spMkLst>
            <pc:docMk/>
            <pc:sldMk cId="3102863990" sldId="312"/>
            <ac:spMk id="3" creationId="{6809099A-DDCD-CAA3-0FCA-16E87A9DF7CE}"/>
          </ac:spMkLst>
        </pc:spChg>
        <pc:spChg chg="add mod">
          <ac:chgData name="Турал Бабаев" userId="854cf40533749be1" providerId="LiveId" clId="{96C38D1A-179B-41DC-A831-3A334C4F7C7C}" dt="2025-12-11T17:48:56.550" v="1740" actId="14100"/>
          <ac:spMkLst>
            <pc:docMk/>
            <pc:sldMk cId="3102863990" sldId="312"/>
            <ac:spMk id="5" creationId="{21A2EBFB-4B0E-9498-0E03-A3C67CC5170F}"/>
          </ac:spMkLst>
        </pc:spChg>
        <pc:spChg chg="add mod">
          <ac:chgData name="Турал Бабаев" userId="854cf40533749be1" providerId="LiveId" clId="{96C38D1A-179B-41DC-A831-3A334C4F7C7C}" dt="2025-12-11T17:49:34.793" v="1755" actId="20577"/>
          <ac:spMkLst>
            <pc:docMk/>
            <pc:sldMk cId="3102863990" sldId="312"/>
            <ac:spMk id="7" creationId="{C4960C01-750F-38D5-7427-B91793E7E2C1}"/>
          </ac:spMkLst>
        </pc:spChg>
      </pc:sldChg>
      <pc:sldChg chg="modSp add">
        <pc:chgData name="Турал Бабаев" userId="854cf40533749be1" providerId="LiveId" clId="{96C38D1A-179B-41DC-A831-3A334C4F7C7C}" dt="2025-12-11T17:57:06.760" v="1757"/>
        <pc:sldMkLst>
          <pc:docMk/>
          <pc:sldMk cId="4158366615" sldId="313"/>
        </pc:sldMkLst>
        <pc:spChg chg="mod">
          <ac:chgData name="Турал Бабаев" userId="854cf40533749be1" providerId="LiveId" clId="{96C38D1A-179B-41DC-A831-3A334C4F7C7C}" dt="2025-12-11T17:57:06.760" v="1757"/>
          <ac:spMkLst>
            <pc:docMk/>
            <pc:sldMk cId="4158366615" sldId="313"/>
            <ac:spMk id="4" creationId="{E91C668C-6380-DEBC-D3D1-22516A5D61C2}"/>
          </ac:spMkLst>
        </pc:spChg>
      </pc:sldChg>
      <pc:sldChg chg="add del">
        <pc:chgData name="Турал Бабаев" userId="854cf40533749be1" providerId="LiveId" clId="{96C38D1A-179B-41DC-A831-3A334C4F7C7C}" dt="2025-12-11T17:57:05.193" v="1756" actId="47"/>
        <pc:sldMkLst>
          <pc:docMk/>
          <pc:sldMk cId="476160830" sldId="314"/>
        </pc:sldMkLst>
      </pc:sldChg>
      <pc:sldChg chg="modSp mod">
        <pc:chgData name="Турал Бабаев" userId="854cf40533749be1" providerId="LiveId" clId="{96C38D1A-179B-41DC-A831-3A334C4F7C7C}" dt="2025-12-12T07:24:44.739" v="1790" actId="5793"/>
        <pc:sldMkLst>
          <pc:docMk/>
          <pc:sldMk cId="3902225608" sldId="320"/>
        </pc:sldMkLst>
        <pc:spChg chg="mod">
          <ac:chgData name="Турал Бабаев" userId="854cf40533749be1" providerId="LiveId" clId="{96C38D1A-179B-41DC-A831-3A334C4F7C7C}" dt="2025-12-12T07:24:44.739" v="1790" actId="5793"/>
          <ac:spMkLst>
            <pc:docMk/>
            <pc:sldMk cId="3902225608" sldId="320"/>
            <ac:spMk id="3" creationId="{20E7FFF6-50E6-8C49-F266-F359D93D6B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D25A9A-4588-F950-15AF-937F795AC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0F4C0-E091-A02A-D498-287575D9B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042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 b="1">
                <a:solidFill>
                  <a:srgbClr val="3D615E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2FF636-EAE4-BB90-6DAC-F208C86AC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9351"/>
            <a:ext cx="9144000" cy="77086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C085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9DEA6-0D43-EAA5-9772-F327A165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7A9CA-7EE9-FDBD-18C5-789F9522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AED3E4-7070-60FA-BE9D-154D14E4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8529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E9FD6-471F-7AB8-0AE8-82B25BB8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885101-1B29-3AD7-901C-A00DD8333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C61163-4E90-987D-5F9C-A480D6C7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52BA18-474E-BCBB-034E-7865B7F1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824B9E-A8C2-3562-1A8F-0E5346A1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0694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0D2A3-3F6C-6939-2878-0EAE4B28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DBBCE6-69E4-A973-E95E-6D82130EF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DE9A9-84C5-5FDB-6F71-1926140C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F8C557-803E-78D5-67EE-C47E8DE4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05E29A-7F00-A7F2-D3FD-72C6846F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8305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7ACDF-AABE-1E29-7CA1-4181F465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AE7B99-9866-765E-51B5-A160D072F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EFC735-9C92-33C4-CB27-28192C19E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90C563-D8D3-4A61-99B0-76291131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BEDDF3-CE4A-ED6D-97BA-DDD50E33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E49543-9736-8E7D-49C9-CBF2EE07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2893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07B37-EFC5-016D-E633-F8D4145F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A2552-4E03-4F13-C57D-18353449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6F37C0-B8A2-5FDB-65F3-3037643D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8CC84B-14B8-6224-6865-B54FC32FA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11F1BB-5D1D-7C41-A3F9-0BE3649AE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35937-DE84-D594-266C-F2327F92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EA01070-3C01-F0D8-1B99-1C82E27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4BB968-51C7-D0F3-E8DF-4896C9D7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1334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A0F14-3B6F-2216-BD66-A58F4558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D3BED4-F4B4-CAC5-B220-9109229C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348B434-CAEE-C91F-E1F7-28A555C2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B469EE-F053-0AD2-2716-97837215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4385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DE3E20-4CBE-56E2-4155-AD03116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46CAF5-BC96-9D37-926C-697F710E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A3200E-13FF-E654-CF5E-6D4DBE59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840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62C23-9938-47AC-347B-2F955301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10739-720D-60CE-4B14-8ED9E1E49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5B897A-A13E-BEB4-72C0-7707CB072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9837B4-C988-E07B-E3F4-89FDB12E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A46F2C-43D2-F901-6E8E-DCEF6436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6B9DB4-8B25-ADC6-8FA0-9A7DB73F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5580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4C891-7065-88A8-43A8-96D9D020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24D8D8-539A-706E-339B-4A981AF18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242E42-4474-8264-6B5C-77BE8C768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F29A36-0C66-5B35-424B-99AE8898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B1A4CB-776E-ECA2-15C5-5421DDB8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A049A5-218E-4FD0-D648-9991B861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9376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B08A7-43AF-E76D-8BA8-85829519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56426A-677C-E18E-047B-E1407D838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81C7E2-0ECF-266C-6645-666A7DDF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B63812-BBDB-1132-77E9-18DCB926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2A74AB-F6B9-D610-E9B2-186A78AB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542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9FCF4AF-A827-0D51-17F4-89774A9D5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0E2A35-41BA-F516-C251-EA551E2F2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9872F5-BC5D-D839-E315-5CFB72BE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C74A1E-333E-7E3C-F452-D7D94E36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CA703-AD0A-1741-02BC-3F9D5CE4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3167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F4D78A-B50F-94B9-8230-DEB2A9DF2F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EFCD6-5BC6-6749-8FAA-9E8DA50E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69D9BB-4AD5-71FB-6382-1AF1D448F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608568-69F3-FE8F-4490-7FEA50825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71D1A-1E00-4F00-9601-127C15B7BBB5}" type="datetimeFigureOut">
              <a:rPr lang="ru-UA" smtClean="0"/>
              <a:t>12/12/2025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196CBD-027C-1CAC-0387-63E908E5D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FBBCB-ABF7-6E53-505E-FC5EDC84A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9215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56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E4111-9633-9AD3-ED69-D2F3150F1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1381"/>
            <a:ext cx="9144000" cy="3046647"/>
          </a:xfrm>
        </p:spPr>
        <p:txBody>
          <a:bodyPr>
            <a:noAutofit/>
          </a:bodyPr>
          <a:lstStyle/>
          <a:p>
            <a:r>
              <a:rPr lang="ru-RU" sz="3900" dirty="0">
                <a:latin typeface="Aptos Display" panose="020B0004020202020204" pitchFamily="34" charset="0"/>
              </a:rPr>
              <a:t>Анализ временных закономерностей и сезонности с помощью кластеризации и корреляции признаков (Time Series </a:t>
            </a:r>
            <a:r>
              <a:rPr lang="ru-RU" sz="3900" dirty="0" err="1">
                <a:latin typeface="Aptos Display" panose="020B0004020202020204" pitchFamily="34" charset="0"/>
              </a:rPr>
              <a:t>Pattern</a:t>
            </a:r>
            <a:r>
              <a:rPr lang="ru-RU" sz="3900" dirty="0">
                <a:latin typeface="Aptos Display" panose="020B0004020202020204" pitchFamily="34" charset="0"/>
              </a:rPr>
              <a:t> </a:t>
            </a:r>
            <a:r>
              <a:rPr lang="ru-RU" sz="3900" dirty="0" err="1">
                <a:latin typeface="Aptos Display" panose="020B0004020202020204" pitchFamily="34" charset="0"/>
              </a:rPr>
              <a:t>Clustering</a:t>
            </a:r>
            <a:r>
              <a:rPr lang="ru-RU" sz="3900" dirty="0">
                <a:latin typeface="Aptos Display" panose="020B0004020202020204" pitchFamily="34" charset="0"/>
              </a:rPr>
              <a:t> </a:t>
            </a:r>
            <a:r>
              <a:rPr lang="ru-RU" sz="3900" dirty="0" err="1">
                <a:latin typeface="Aptos Display" panose="020B0004020202020204" pitchFamily="34" charset="0"/>
              </a:rPr>
              <a:t>and</a:t>
            </a:r>
            <a:r>
              <a:rPr lang="ru-RU" sz="3900" dirty="0">
                <a:latin typeface="Aptos Display" panose="020B0004020202020204" pitchFamily="34" charset="0"/>
              </a:rPr>
              <a:t> </a:t>
            </a:r>
            <a:r>
              <a:rPr lang="ru-RU" sz="3900" dirty="0" err="1">
                <a:latin typeface="Aptos Display" panose="020B0004020202020204" pitchFamily="34" charset="0"/>
              </a:rPr>
              <a:t>Feature</a:t>
            </a:r>
            <a:r>
              <a:rPr lang="ru-RU" sz="3900" dirty="0">
                <a:latin typeface="Aptos Display" panose="020B0004020202020204" pitchFamily="34" charset="0"/>
              </a:rPr>
              <a:t> </a:t>
            </a:r>
            <a:r>
              <a:rPr lang="ru-RU" sz="3900" dirty="0" err="1">
                <a:latin typeface="Aptos Display" panose="020B0004020202020204" pitchFamily="34" charset="0"/>
              </a:rPr>
              <a:t>Correlation</a:t>
            </a:r>
            <a:r>
              <a:rPr lang="ru-RU" sz="3900" dirty="0">
                <a:latin typeface="Aptos Display" panose="020B0004020202020204" pitchFamily="34" charset="0"/>
              </a:rPr>
              <a:t> Analysis)</a:t>
            </a:r>
            <a:endParaRPr lang="ru-UA" sz="3900" dirty="0">
              <a:latin typeface="Aptos Display" panose="020B00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C0119D-2D61-9B4D-4D92-BA8C03681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9351"/>
            <a:ext cx="9144000" cy="1959720"/>
          </a:xfrm>
        </p:spPr>
        <p:txBody>
          <a:bodyPr/>
          <a:lstStyle/>
          <a:p>
            <a:pPr algn="l"/>
            <a:r>
              <a:rPr lang="ru-RU" dirty="0">
                <a:latin typeface="Aptos" panose="020B0004020202020204" pitchFamily="34" charset="0"/>
              </a:rPr>
              <a:t>Предмет: Интеллектуальный анализ данных</a:t>
            </a:r>
          </a:p>
          <a:p>
            <a:pPr algn="l"/>
            <a:r>
              <a:rPr lang="ru-RU" dirty="0">
                <a:latin typeface="Aptos" panose="020B0004020202020204" pitchFamily="34" charset="0"/>
              </a:rPr>
              <a:t>Преподаватель: </a:t>
            </a:r>
            <a:r>
              <a:rPr lang="ru-RU" dirty="0" err="1">
                <a:latin typeface="Aptos" panose="020B0004020202020204" pitchFamily="34" charset="0"/>
              </a:rPr>
              <a:t>Нагизаде</a:t>
            </a:r>
            <a:r>
              <a:rPr lang="ru-RU" dirty="0">
                <a:latin typeface="Aptos" panose="020B0004020202020204" pitchFamily="34" charset="0"/>
              </a:rPr>
              <a:t> </a:t>
            </a:r>
            <a:r>
              <a:rPr lang="ru-RU" dirty="0" err="1">
                <a:latin typeface="Aptos" panose="020B0004020202020204" pitchFamily="34" charset="0"/>
              </a:rPr>
              <a:t>Эльшан</a:t>
            </a:r>
            <a:endParaRPr lang="ru-RU" dirty="0">
              <a:latin typeface="Aptos" panose="020B0004020202020204" pitchFamily="34" charset="0"/>
            </a:endParaRPr>
          </a:p>
          <a:p>
            <a:pPr algn="l"/>
            <a:r>
              <a:rPr lang="ru-RU" dirty="0">
                <a:latin typeface="Aptos" panose="020B0004020202020204" pitchFamily="34" charset="0"/>
              </a:rPr>
              <a:t>Студенты: Сулейманов Самир, Бабаев Турал</a:t>
            </a:r>
          </a:p>
          <a:p>
            <a:pPr algn="l"/>
            <a:r>
              <a:rPr lang="ru-RU" dirty="0">
                <a:latin typeface="Aptos" panose="020B0004020202020204" pitchFamily="34" charset="0"/>
              </a:rPr>
              <a:t>Группа: 602.22</a:t>
            </a:r>
            <a:endParaRPr lang="ru-UA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18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31335-F387-D04A-1C3A-3CF600A6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AD000C-089E-0ED8-5929-EE338430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Введение</a:t>
            </a:r>
          </a:p>
          <a:p>
            <a:r>
              <a:rPr lang="ru-RU" dirty="0">
                <a:latin typeface="Aptos" panose="020B0004020202020204" pitchFamily="34" charset="0"/>
              </a:rPr>
              <a:t>Временные ряды и их ключевые особенности</a:t>
            </a:r>
          </a:p>
          <a:p>
            <a:r>
              <a:rPr lang="ru-RU" dirty="0">
                <a:latin typeface="Aptos" panose="020B0004020202020204" pitchFamily="34" charset="0"/>
              </a:rPr>
              <a:t>Сегментация временных рядов (</a:t>
            </a:r>
            <a:r>
              <a:rPr lang="en-US" dirty="0">
                <a:latin typeface="Aptos" panose="020B0004020202020204" pitchFamily="34" charset="0"/>
              </a:rPr>
              <a:t>Time Series Segmentation)</a:t>
            </a:r>
            <a:endParaRPr lang="ru-RU" dirty="0">
              <a:latin typeface="Aptos" panose="020B0004020202020204" pitchFamily="34" charset="0"/>
            </a:endParaRPr>
          </a:p>
          <a:p>
            <a:r>
              <a:rPr lang="ru-RU" dirty="0">
                <a:latin typeface="Aptos" panose="020B0004020202020204" pitchFamily="34" charset="0"/>
              </a:rPr>
              <a:t>Метрики схожести временных рядов</a:t>
            </a:r>
          </a:p>
          <a:p>
            <a:r>
              <a:rPr lang="ru-RU" dirty="0">
                <a:latin typeface="Aptos" panose="020B0004020202020204" pitchFamily="34" charset="0"/>
              </a:rPr>
              <a:t>Кластеризация временных рядов</a:t>
            </a:r>
          </a:p>
          <a:p>
            <a:r>
              <a:rPr lang="ru-RU" dirty="0">
                <a:latin typeface="Aptos" panose="020B0004020202020204" pitchFamily="34" charset="0"/>
              </a:rPr>
              <a:t>Корреляционный анализ признаков</a:t>
            </a:r>
          </a:p>
          <a:p>
            <a:r>
              <a:rPr lang="ru-RU" dirty="0">
                <a:latin typeface="Aptos" panose="020B0004020202020204" pitchFamily="34" charset="0"/>
              </a:rPr>
              <a:t>Применения</a:t>
            </a:r>
          </a:p>
          <a:p>
            <a:r>
              <a:rPr lang="ru-RU" dirty="0">
                <a:latin typeface="Aptos" panose="020B0004020202020204" pitchFamily="34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82842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18F-CB4B-8F33-739D-860FE972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BA8A0-3351-EFB1-6975-EA2BA0B0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318656-B829-6227-5B97-347FB6FB2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110"/>
            <a:ext cx="10515600" cy="5102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Временные ряды являются одним из ключевых типов данных в современном интеллектуальном анализе, поскольку большинство процессов в реальном мире развиваются во времени. Экономические показатели, климатические параметры, потребление электроэнергии, интернет-трафик, спрос на товары, </a:t>
            </a:r>
            <a:r>
              <a:rPr lang="ru-RU" sz="2000" dirty="0" err="1">
                <a:latin typeface="Aptos" panose="020B0004020202020204" pitchFamily="34" charset="0"/>
              </a:rPr>
              <a:t>биосигналы</a:t>
            </a:r>
            <a:r>
              <a:rPr lang="ru-RU" sz="2000" dirty="0">
                <a:latin typeface="Aptos" panose="020B0004020202020204" pitchFamily="34" charset="0"/>
              </a:rPr>
              <a:t> — всё это примеры данных, структура которых формируется под воздействием временных закономерностей. В таких данных традиционно проявляются тренды, сезонность, цикличность и краткосрочные колебания, которые существенно усложняют задачу анализа и требуют применения специальных методов обработки.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Одним из эффективных подходов является использование методов кластеризации и корреляционного анализа. Эти методы позволяют рассматривать временные ряды не только как последовательности чисел, но как объекты, обладающие формой, динамикой и внутренними закономерностями. Кластеризация предоставляет возможность группировать временные ряды или их сегменты по схожести поведения — например, выделять периоды высокого спроса, дни с аномальной активностью, сезонные пики и спады. Корреляционный анализ, в свою очередь, позволяет оценить взаимосвязи между временными признаками, определяя, какие факторы влияют на изменения динамики, усиливают сезонность или формируют общий тренд.</a:t>
            </a:r>
          </a:p>
        </p:txBody>
      </p:sp>
    </p:spTree>
    <p:extLst>
      <p:ext uri="{BB962C8B-B14F-4D97-AF65-F5344CB8AC3E}">
        <p14:creationId xmlns:p14="http://schemas.microsoft.com/office/powerpoint/2010/main" val="965423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2A94-A89A-889A-F2F3-640418CFA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741BE-D6BF-89FF-8091-D575B82A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Временные ряды и их ключевые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DB4989-DC30-13FC-D5AF-414A0BD82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110"/>
            <a:ext cx="10515600" cy="51029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   Временной ряд — это последовательность наблюдений, упорядоченных во времени и отражающих изменение некоторого показателя или процесса. В отличие от обычных выборок данных, в временных рядах фундаментальную роль играет порядок следования значений: каждое последующее наблюдение зависит от предыдущих либо находится под влиянием общих скрытых факторов. Именно поэтому анализ временных рядов требует специальных методов, учитывающих временную структуру и закономерности, которые в статических данных отсутствуют.</a:t>
            </a:r>
          </a:p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   Современные данные во многих сферах — энергетика, климат, медицина, финансы, логистика — представляют собой временные ряды, содержащие сложное сочетание трендов, сезонных изменений и случайных колебаний. Корректная интерпретация этих закономерностей позволяет понять динамику процессов, выявить повторяющиеся паттерны и подготовить набор данных для дальнейшего прогнозирования или обнаружения аномалий.</a:t>
            </a:r>
          </a:p>
        </p:txBody>
      </p:sp>
    </p:spTree>
    <p:extLst>
      <p:ext uri="{BB962C8B-B14F-4D97-AF65-F5344CB8AC3E}">
        <p14:creationId xmlns:p14="http://schemas.microsoft.com/office/powerpoint/2010/main" val="141389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7D757-A425-5121-B3F2-061FB9C53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1207008"/>
            <a:ext cx="6282812" cy="51790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Основные типы закономерностей</a:t>
            </a: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1. </a:t>
            </a:r>
            <a:r>
              <a:rPr lang="ru-RU" sz="1600" b="1" dirty="0">
                <a:latin typeface="Aptos" panose="020B0004020202020204" pitchFamily="34" charset="0"/>
              </a:rPr>
              <a:t>Тренд</a:t>
            </a:r>
            <a:r>
              <a:rPr lang="ru-RU" sz="1600" dirty="0">
                <a:latin typeface="Aptos" panose="020B0004020202020204" pitchFamily="34" charset="0"/>
              </a:rPr>
              <a:t> — это долгосрочное направление изменений временного ряда. Он демонстрирует общую тенденцию развития процесса: рост, снижение или стабилизацию значений.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Тренд может быть: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линейным</a:t>
            </a:r>
            <a:r>
              <a:rPr lang="ru-RU" sz="1600" dirty="0">
                <a:latin typeface="Aptos" panose="020B0004020202020204" pitchFamily="34" charset="0"/>
              </a:rPr>
              <a:t> — стабильное увеличение или уменьшение показателя;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нелинейным</a:t>
            </a:r>
            <a:r>
              <a:rPr lang="ru-RU" sz="1600" dirty="0">
                <a:latin typeface="Aptos" panose="020B0004020202020204" pitchFamily="34" charset="0"/>
              </a:rPr>
              <a:t> — экспоненциальный рост, логистическое насыщение;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структурно изменяющимся</a:t>
            </a:r>
            <a:r>
              <a:rPr lang="ru-RU" sz="1600" dirty="0">
                <a:latin typeface="Aptos" panose="020B0004020202020204" pitchFamily="34" charset="0"/>
              </a:rPr>
              <a:t> — смена тенденций под влиянием внешних факторов.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Причины появления тренда: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b="1" dirty="0">
                <a:latin typeface="Aptos" panose="020B0004020202020204" pitchFamily="34" charset="0"/>
              </a:rPr>
              <a:t> </a:t>
            </a:r>
            <a:r>
              <a:rPr lang="ru-RU" sz="1600" dirty="0">
                <a:latin typeface="Aptos" panose="020B0004020202020204" pitchFamily="34" charset="0"/>
              </a:rPr>
              <a:t>демографические изменения (рост населения → увеличение потребления ресурсов); технологическое развитие (рост эффективности оборудования); инфляция, рыночные изменения; климатические тенденции (постепенное повышение температуры).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Роль тренда в анализе: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помогает понять долгосрочное поведение системы;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позволяет корректно выделять сезонные и циклические компоненты;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определяет необходимость использования методов </a:t>
            </a:r>
            <a:r>
              <a:rPr lang="ru-RU" sz="1600" dirty="0" err="1">
                <a:latin typeface="Aptos" panose="020B0004020202020204" pitchFamily="34" charset="0"/>
              </a:rPr>
              <a:t>детрендинга</a:t>
            </a:r>
            <a:r>
              <a:rPr lang="ru-RU" sz="1600" dirty="0">
                <a:latin typeface="Aptos" panose="020B0004020202020204" pitchFamily="34" charset="0"/>
              </a:rPr>
              <a:t> перед кластеризацией;</a:t>
            </a:r>
          </a:p>
          <a:p>
            <a:r>
              <a:rPr lang="ru-RU" sz="1600" dirty="0">
                <a:latin typeface="Aptos" panose="020B0004020202020204" pitchFamily="34" charset="0"/>
              </a:rPr>
              <a:t>влияет на корректность корреляционного анализа (ложные связи могут появляться из-за общего тренда).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11EA2E2-095E-8215-F66B-1F4D0932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71948"/>
            <a:ext cx="10515600" cy="549996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Временные ряды и их ключевые особенности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47F0C8-E63D-9C1E-32B0-D31B6B07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914" y="2263005"/>
            <a:ext cx="54578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9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0B12-EDB6-C5E0-ED14-294B5D2A6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115567"/>
            <a:ext cx="5958348" cy="54769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</a:t>
            </a: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2. </a:t>
            </a:r>
            <a:r>
              <a:rPr lang="ru-RU" sz="1400" b="1" dirty="0">
                <a:latin typeface="Aptos" panose="020B0004020202020204" pitchFamily="34" charset="0"/>
              </a:rPr>
              <a:t>Сезонность</a:t>
            </a:r>
            <a:r>
              <a:rPr lang="ru-RU" sz="1400" dirty="0">
                <a:latin typeface="Aptos" panose="020B0004020202020204" pitchFamily="34" charset="0"/>
              </a:rPr>
              <a:t> — это регулярные повторяющиеся колебания, которые происходят через фиксированные интервалы времени. Она отражает закономерности, связанные с цикличностью внешних условий или человеческой деятельности. Сезонность может быть: </a:t>
            </a:r>
            <a:r>
              <a:rPr lang="ru-RU" sz="1400" b="1" dirty="0">
                <a:latin typeface="Aptos" panose="020B0004020202020204" pitchFamily="34" charset="0"/>
              </a:rPr>
              <a:t>аддитивной</a:t>
            </a:r>
            <a:r>
              <a:rPr lang="ru-RU" sz="1400" dirty="0">
                <a:latin typeface="Aptos" panose="020B0004020202020204" pitchFamily="34" charset="0"/>
              </a:rPr>
              <a:t>, когда интенсивность сезонных колебаний остаётся постоянной, </a:t>
            </a:r>
            <a:r>
              <a:rPr lang="ru-RU" sz="1400" b="1" dirty="0">
                <a:latin typeface="Aptos" panose="020B0004020202020204" pitchFamily="34" charset="0"/>
              </a:rPr>
              <a:t>мультипликативной</a:t>
            </a:r>
            <a:r>
              <a:rPr lang="ru-RU" sz="1400" dirty="0">
                <a:latin typeface="Aptos" panose="020B0004020202020204" pitchFamily="34" charset="0"/>
              </a:rPr>
              <a:t>, когда амплитуда колебаний увеличивается вместе с уровнем ряда.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Примеры сезонных паттернов</a:t>
            </a:r>
          </a:p>
          <a:p>
            <a:r>
              <a:rPr lang="ru-RU" sz="1400" i="1" dirty="0">
                <a:latin typeface="Aptos" panose="020B0004020202020204" pitchFamily="34" charset="0"/>
              </a:rPr>
              <a:t>суточная сезонность</a:t>
            </a:r>
            <a:r>
              <a:rPr lang="ru-RU" sz="1400" dirty="0">
                <a:latin typeface="Aptos" panose="020B0004020202020204" pitchFamily="34" charset="0"/>
              </a:rPr>
              <a:t>: дневные пики потребления электроэнергии;</a:t>
            </a:r>
          </a:p>
          <a:p>
            <a:r>
              <a:rPr lang="ru-RU" sz="1400" i="1" dirty="0">
                <a:latin typeface="Aptos" panose="020B0004020202020204" pitchFamily="34" charset="0"/>
              </a:rPr>
              <a:t>недельная сезонность</a:t>
            </a:r>
            <a:r>
              <a:rPr lang="ru-RU" sz="1400" dirty="0">
                <a:latin typeface="Aptos" panose="020B0004020202020204" pitchFamily="34" charset="0"/>
              </a:rPr>
              <a:t>: снижение трафика по выходным;</a:t>
            </a:r>
          </a:p>
          <a:p>
            <a:r>
              <a:rPr lang="ru-RU" sz="1400" i="1" dirty="0">
                <a:latin typeface="Aptos" panose="020B0004020202020204" pitchFamily="34" charset="0"/>
              </a:rPr>
              <a:t>годовая сезонность</a:t>
            </a:r>
            <a:r>
              <a:rPr lang="ru-RU" sz="1400" dirty="0">
                <a:latin typeface="Aptos" panose="020B0004020202020204" pitchFamily="34" charset="0"/>
              </a:rPr>
              <a:t>: температура воздуха, спрос на отопление;</a:t>
            </a:r>
          </a:p>
          <a:p>
            <a:r>
              <a:rPr lang="ru-RU" sz="1400" i="1" dirty="0" err="1">
                <a:latin typeface="Aptos" panose="020B0004020202020204" pitchFamily="34" charset="0"/>
              </a:rPr>
              <a:t>внутримесячная</a:t>
            </a:r>
            <a:r>
              <a:rPr lang="ru-RU" sz="1400" dirty="0">
                <a:latin typeface="Aptos" panose="020B0004020202020204" pitchFamily="34" charset="0"/>
              </a:rPr>
              <a:t>: распределение продаж по зарплатным периодам.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Причины сезонности</a:t>
            </a:r>
            <a:r>
              <a:rPr lang="ru-RU" sz="1400" dirty="0">
                <a:latin typeface="Aptos" panose="020B0004020202020204" pitchFamily="34" charset="0"/>
              </a:rPr>
              <a:t>: климатические циклы; режим работы предприятий; поведенческие модели людей; праздничные и социальные события.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Зачем нужна идентификация сезонности</a:t>
            </a:r>
          </a:p>
          <a:p>
            <a:r>
              <a:rPr lang="ru-RU" sz="1400" dirty="0">
                <a:latin typeface="Aptos" panose="020B0004020202020204" pitchFamily="34" charset="0"/>
              </a:rPr>
              <a:t>понимание периодов высокого/низкого спроса;</a:t>
            </a:r>
          </a:p>
          <a:p>
            <a:r>
              <a:rPr lang="ru-RU" sz="1400" dirty="0">
                <a:latin typeface="Aptos" panose="020B0004020202020204" pitchFamily="34" charset="0"/>
              </a:rPr>
              <a:t>выявление повторяющихся паттернов для кластеризации;</a:t>
            </a:r>
          </a:p>
          <a:p>
            <a:r>
              <a:rPr lang="ru-RU" sz="1400" dirty="0">
                <a:latin typeface="Aptos" panose="020B0004020202020204" pitchFamily="34" charset="0"/>
              </a:rPr>
              <a:t>улучшение точности прогнозирования;</a:t>
            </a:r>
          </a:p>
          <a:p>
            <a:r>
              <a:rPr lang="ru-RU" sz="1400" dirty="0">
                <a:latin typeface="Aptos" panose="020B0004020202020204" pitchFamily="34" charset="0"/>
              </a:rPr>
              <a:t>выделение аномалий (отклонений от ожидаемой сезонной нормы).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015777-F872-80DE-A75C-6E540019B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Временные ряды и их ключевые особенности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9E7C784-A857-A0C8-CABB-15378B025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99801"/>
            <a:ext cx="5316794" cy="265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94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2088F-5B62-F612-1C2A-4AF4FEC0C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271016"/>
            <a:ext cx="5506065" cy="51841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3. </a:t>
            </a:r>
            <a:r>
              <a:rPr lang="ru-RU" sz="1800" b="1" dirty="0">
                <a:latin typeface="Aptos" panose="020B0004020202020204" pitchFamily="34" charset="0"/>
              </a:rPr>
              <a:t>Цикличность</a:t>
            </a:r>
            <a:r>
              <a:rPr lang="ru-RU" sz="1800" dirty="0">
                <a:latin typeface="Aptos" panose="020B0004020202020204" pitchFamily="34" charset="0"/>
              </a:rPr>
              <a:t> похожа на сезонность, но не имеет фиксированной длины периода. Длительность циклов может меняться под влиянием нестабильных внешних факторов.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Примеры цикличности</a:t>
            </a:r>
          </a:p>
          <a:p>
            <a:r>
              <a:rPr lang="ru-RU" sz="1800" dirty="0">
                <a:latin typeface="Aptos" panose="020B0004020202020204" pitchFamily="34" charset="0"/>
              </a:rPr>
              <a:t>экономические циклы (рост → пик → спад → восстановление);</a:t>
            </a:r>
          </a:p>
          <a:p>
            <a:r>
              <a:rPr lang="ru-RU" sz="1800" dirty="0">
                <a:latin typeface="Aptos" panose="020B0004020202020204" pitchFamily="34" charset="0"/>
              </a:rPr>
              <a:t>циклы объёмов производства;</a:t>
            </a:r>
          </a:p>
          <a:p>
            <a:r>
              <a:rPr lang="ru-RU" sz="1800" dirty="0">
                <a:latin typeface="Aptos" panose="020B0004020202020204" pitchFamily="34" charset="0"/>
              </a:rPr>
              <a:t>многолетние климатические циклы (например, Эль-Ниньо).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Особенности циклов</a:t>
            </a:r>
          </a:p>
          <a:p>
            <a:r>
              <a:rPr lang="ru-RU" sz="1800" dirty="0">
                <a:latin typeface="Aptos" panose="020B0004020202020204" pitchFamily="34" charset="0"/>
              </a:rPr>
              <a:t>не имеют строго регулярного интервала;</a:t>
            </a:r>
          </a:p>
          <a:p>
            <a:r>
              <a:rPr lang="ru-RU" sz="1800" dirty="0">
                <a:latin typeface="Aptos" panose="020B0004020202020204" pitchFamily="34" charset="0"/>
              </a:rPr>
              <a:t>могут быть асимметричными (быстрый рост и медленный спад);</a:t>
            </a:r>
          </a:p>
          <a:p>
            <a:r>
              <a:rPr lang="ru-RU" sz="1800" dirty="0">
                <a:latin typeface="Aptos" panose="020B0004020202020204" pitchFamily="34" charset="0"/>
              </a:rPr>
              <a:t>зависят от сложных макрофакторов.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Значение циклической компоненты</a:t>
            </a:r>
          </a:p>
          <a:p>
            <a:r>
              <a:rPr lang="ru-RU" sz="1800" dirty="0">
                <a:latin typeface="Aptos" panose="020B0004020202020204" pitchFamily="34" charset="0"/>
              </a:rPr>
              <a:t>позволяет объяснить длительные повторяющиеся изменения, не привязанные к календарю;</a:t>
            </a:r>
          </a:p>
          <a:p>
            <a:r>
              <a:rPr lang="ru-RU" sz="1800" dirty="0">
                <a:latin typeface="Aptos" panose="020B0004020202020204" pitchFamily="34" charset="0"/>
              </a:rPr>
              <a:t>помогает выявить фазы развития системы;</a:t>
            </a:r>
          </a:p>
          <a:p>
            <a:r>
              <a:rPr lang="ru-RU" sz="1800" dirty="0">
                <a:latin typeface="Aptos" panose="020B0004020202020204" pitchFamily="34" charset="0"/>
              </a:rPr>
              <a:t>используется при стратегическом планировании.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AD722A-CD1F-747D-23C8-5259A90F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Временные ряды и их ключевые особенности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FEEDE4-7DB0-ACB1-A5CA-A048FE2E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5" y="2122714"/>
            <a:ext cx="6095999" cy="26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00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1B82-72BE-53E4-DBF3-DB770A3C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ECDFB-24BE-2D2C-8597-08DDB3DB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Временные ряды и их ключевые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2F157-8C46-149E-3458-38FCD69B8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033272"/>
            <a:ext cx="7477432" cy="5672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4. </a:t>
            </a:r>
            <a:r>
              <a:rPr lang="ru-RU" sz="1400" b="1" dirty="0">
                <a:latin typeface="Aptos" panose="020B0004020202020204" pitchFamily="34" charset="0"/>
              </a:rPr>
              <a:t>Шум</a:t>
            </a:r>
            <a:r>
              <a:rPr lang="ru-RU" sz="1400" dirty="0">
                <a:latin typeface="Aptos" panose="020B0004020202020204" pitchFamily="34" charset="0"/>
              </a:rPr>
              <a:t> — это нерегулярные колебания, которые не подчиняются устойчивой закономерности. Помимо трендов и сезонности, временные ряды содержат случайные колебания — шум, вызванный непредсказуемыми изменениями условий или погрешностями измерений. Отделение шума позволяет лучше выделить структурные компоненты ряда и корректно оценить устойчивые закономерности.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Источники шума</a:t>
            </a:r>
          </a:p>
          <a:p>
            <a:r>
              <a:rPr lang="ru-RU" sz="1400" dirty="0">
                <a:latin typeface="Aptos" panose="020B0004020202020204" pitchFamily="34" charset="0"/>
              </a:rPr>
              <a:t>ошибки измерений;</a:t>
            </a:r>
          </a:p>
          <a:p>
            <a:r>
              <a:rPr lang="ru-RU" sz="1400" dirty="0">
                <a:latin typeface="Aptos" panose="020B0004020202020204" pitchFamily="34" charset="0"/>
              </a:rPr>
              <a:t>нестабильные внешние факторы;</a:t>
            </a:r>
          </a:p>
          <a:p>
            <a:r>
              <a:rPr lang="ru-RU" sz="1400" dirty="0">
                <a:latin typeface="Aptos" panose="020B0004020202020204" pitchFamily="34" charset="0"/>
              </a:rPr>
              <a:t>человеческий фактор;</a:t>
            </a:r>
          </a:p>
          <a:p>
            <a:r>
              <a:rPr lang="ru-RU" sz="1400" dirty="0">
                <a:latin typeface="Aptos" panose="020B0004020202020204" pitchFamily="34" charset="0"/>
              </a:rPr>
              <a:t>аварийные состояния систем.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Типы шума</a:t>
            </a:r>
          </a:p>
          <a:p>
            <a:r>
              <a:rPr lang="ru-RU" sz="1400" i="1" dirty="0">
                <a:latin typeface="Aptos" panose="020B0004020202020204" pitchFamily="34" charset="0"/>
              </a:rPr>
              <a:t>белый шум</a:t>
            </a:r>
            <a:r>
              <a:rPr lang="ru-RU" sz="1400" dirty="0">
                <a:latin typeface="Aptos" panose="020B0004020202020204" pitchFamily="34" charset="0"/>
              </a:rPr>
              <a:t> — независимые случайные отклонения;</a:t>
            </a:r>
          </a:p>
          <a:p>
            <a:r>
              <a:rPr lang="ru-RU" sz="1400" i="1" dirty="0">
                <a:latin typeface="Aptos" panose="020B0004020202020204" pitchFamily="34" charset="0"/>
              </a:rPr>
              <a:t>розовый шум</a:t>
            </a:r>
            <a:r>
              <a:rPr lang="ru-RU" sz="1400" dirty="0">
                <a:latin typeface="Aptos" panose="020B0004020202020204" pitchFamily="34" charset="0"/>
              </a:rPr>
              <a:t> — отклонения с возможной корреляцией;</a:t>
            </a:r>
          </a:p>
          <a:p>
            <a:r>
              <a:rPr lang="ru-RU" sz="1400" i="1" dirty="0">
                <a:latin typeface="Aptos" panose="020B0004020202020204" pitchFamily="34" charset="0"/>
              </a:rPr>
              <a:t>выбросы</a:t>
            </a:r>
            <a:r>
              <a:rPr lang="ru-RU" sz="1400" dirty="0">
                <a:latin typeface="Aptos" panose="020B0004020202020204" pitchFamily="34" charset="0"/>
              </a:rPr>
              <a:t> — разовые сильные изменения (например, резкий скачок потребления электроэнергии).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Зачем учитывать шум</a:t>
            </a:r>
          </a:p>
          <a:p>
            <a:r>
              <a:rPr lang="ru-RU" sz="1400" dirty="0">
                <a:latin typeface="Aptos" panose="020B0004020202020204" pitchFamily="34" charset="0"/>
              </a:rPr>
              <a:t>чтобы корректно выделить тренд и сезонность;</a:t>
            </a:r>
          </a:p>
          <a:p>
            <a:r>
              <a:rPr lang="ru-RU" sz="1400" dirty="0">
                <a:latin typeface="Aptos" panose="020B0004020202020204" pitchFamily="34" charset="0"/>
              </a:rPr>
              <a:t>чтобы не включать случайные колебания в кластеризацию;</a:t>
            </a:r>
          </a:p>
          <a:p>
            <a:r>
              <a:rPr lang="ru-RU" sz="1400" dirty="0">
                <a:latin typeface="Aptos" panose="020B0004020202020204" pitchFamily="34" charset="0"/>
              </a:rPr>
              <a:t>чтобы обнаруживать аномалии (выбросы), важные для диагностики процессов.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Инструменты снижения влияния шума: </a:t>
            </a:r>
            <a:r>
              <a:rPr lang="ru-RU" sz="1400" b="1" dirty="0">
                <a:latin typeface="Aptos" panose="020B0004020202020204" pitchFamily="34" charset="0"/>
              </a:rPr>
              <a:t>сглаживание</a:t>
            </a:r>
            <a:r>
              <a:rPr lang="ru-RU" sz="1400" dirty="0">
                <a:latin typeface="Aptos" panose="020B0004020202020204" pitchFamily="34" charset="0"/>
              </a:rPr>
              <a:t> (</a:t>
            </a:r>
            <a:r>
              <a:rPr lang="ru-RU" sz="1400" dirty="0" err="1">
                <a:latin typeface="Aptos" panose="020B0004020202020204" pitchFamily="34" charset="0"/>
              </a:rPr>
              <a:t>moving</a:t>
            </a:r>
            <a:r>
              <a:rPr lang="ru-RU" sz="1400" dirty="0">
                <a:latin typeface="Aptos" panose="020B0004020202020204" pitchFamily="34" charset="0"/>
              </a:rPr>
              <a:t> </a:t>
            </a:r>
            <a:r>
              <a:rPr lang="ru-RU" sz="1400" dirty="0" err="1">
                <a:latin typeface="Aptos" panose="020B0004020202020204" pitchFamily="34" charset="0"/>
              </a:rPr>
              <a:t>average</a:t>
            </a:r>
            <a:r>
              <a:rPr lang="ru-RU" sz="1400" dirty="0">
                <a:latin typeface="Aptos" panose="020B0004020202020204" pitchFamily="34" charset="0"/>
              </a:rPr>
              <a:t>, </a:t>
            </a:r>
            <a:r>
              <a:rPr lang="ru-RU" sz="1400" dirty="0" err="1">
                <a:latin typeface="Aptos" panose="020B0004020202020204" pitchFamily="34" charset="0"/>
              </a:rPr>
              <a:t>exponential</a:t>
            </a:r>
            <a:r>
              <a:rPr lang="ru-RU" sz="1400" dirty="0">
                <a:latin typeface="Aptos" panose="020B0004020202020204" pitchFamily="34" charset="0"/>
              </a:rPr>
              <a:t> </a:t>
            </a:r>
            <a:r>
              <a:rPr lang="ru-RU" sz="1400" dirty="0" err="1">
                <a:latin typeface="Aptos" panose="020B0004020202020204" pitchFamily="34" charset="0"/>
              </a:rPr>
              <a:t>smoothing</a:t>
            </a:r>
            <a:r>
              <a:rPr lang="ru-RU" sz="1400" dirty="0">
                <a:latin typeface="Aptos" panose="020B0004020202020204" pitchFamily="34" charset="0"/>
              </a:rPr>
              <a:t>), </a:t>
            </a:r>
            <a:r>
              <a:rPr lang="ru-RU" sz="1400" b="1" dirty="0">
                <a:latin typeface="Aptos" panose="020B0004020202020204" pitchFamily="34" charset="0"/>
              </a:rPr>
              <a:t>фильтры</a:t>
            </a:r>
            <a:r>
              <a:rPr lang="ru-RU" sz="1400" dirty="0">
                <a:latin typeface="Aptos" panose="020B0004020202020204" pitchFamily="34" charset="0"/>
              </a:rPr>
              <a:t> (например, фильтр </a:t>
            </a:r>
            <a:r>
              <a:rPr lang="ru-RU" sz="1400" dirty="0" err="1">
                <a:latin typeface="Aptos" panose="020B0004020202020204" pitchFamily="34" charset="0"/>
              </a:rPr>
              <a:t>Ходрика</a:t>
            </a:r>
            <a:r>
              <a:rPr lang="ru-RU" sz="1400" dirty="0">
                <a:latin typeface="Aptos" panose="020B0004020202020204" pitchFamily="34" charset="0"/>
              </a:rPr>
              <a:t>—Прескотта), </a:t>
            </a:r>
            <a:r>
              <a:rPr lang="ru-RU" sz="1400" b="1" dirty="0">
                <a:latin typeface="Aptos" panose="020B0004020202020204" pitchFamily="34" charset="0"/>
              </a:rPr>
              <a:t>статистическое разложение временного ряда</a:t>
            </a:r>
            <a:r>
              <a:rPr lang="ru-RU" sz="1400" dirty="0"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DEAAEE-ABC7-A6A5-D80F-D8ADDDFB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781" y="2149405"/>
            <a:ext cx="4586748" cy="34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7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127FB-C986-A6C2-C45C-E4A39EE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Важнейшей особенностью временных рядов является </a:t>
            </a:r>
            <a:r>
              <a:rPr lang="ru-RU" b="1" i="1" dirty="0">
                <a:latin typeface="Aptos" panose="020B0004020202020204" pitchFamily="34" charset="0"/>
              </a:rPr>
              <a:t>автокорреляция</a:t>
            </a:r>
            <a:r>
              <a:rPr lang="ru-RU" dirty="0">
                <a:latin typeface="Aptos" panose="020B0004020202020204" pitchFamily="34" charset="0"/>
              </a:rPr>
              <a:t> — зависимость между значениями, расположенными рядом во времени. Например, температура сегодняшнего дня чаще всего тесно связана с температурой прошлого дня. Автокорреляция определяет структуру данных и влияет на выбор методов анализа: многие алгоритмы предполагают наличие или отсутствие таких зависимостей. 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Наличие автокорреляции также делает невозможным применение некоторых статистических методов «как есть», поскольку данные не независимы. Поэтому временные ряды требуют специализированных подходов к нормализации, сегментации и оценке взаимосвязей.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Большинство реальных временных рядов является </a:t>
            </a:r>
            <a:r>
              <a:rPr lang="ru-RU" b="1" dirty="0">
                <a:latin typeface="Aptos" panose="020B0004020202020204" pitchFamily="34" charset="0"/>
              </a:rPr>
              <a:t>нестационарными</a:t>
            </a:r>
            <a:r>
              <a:rPr lang="ru-RU" dirty="0">
                <a:latin typeface="Aptos" panose="020B0004020202020204" pitchFamily="34" charset="0"/>
              </a:rPr>
              <a:t>: их среднее значение, дисперсия или структура зависимости меняются во времени. Нестационарность затрудняет анализ и делает невозможным применение некоторых классических методов без предварительной обработки (</a:t>
            </a:r>
            <a:r>
              <a:rPr lang="ru-RU" dirty="0" err="1">
                <a:latin typeface="Aptos" panose="020B0004020202020204" pitchFamily="34" charset="0"/>
              </a:rPr>
              <a:t>детрендинг</a:t>
            </a:r>
            <a:r>
              <a:rPr lang="ru-RU" dirty="0">
                <a:latin typeface="Aptos" panose="020B0004020202020204" pitchFamily="34" charset="0"/>
              </a:rPr>
              <a:t>, дифференцирование, нормализация сегментов). Понимание характера нестационарности важно, потому что: сегментация помогает выделить участки с однородной структурой; сравнение несоизмеримых сегментов может привести к ложным выводам; выбор метрики схожести зависит от степени нестационарности.</a:t>
            </a:r>
          </a:p>
          <a:p>
            <a:pPr marL="0" indent="0">
              <a:buNone/>
            </a:pP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B6D8A7D-7FF4-9E60-627F-5780A7BD6EBD}"/>
              </a:ext>
            </a:extLst>
          </p:cNvPr>
          <p:cNvSpPr txBox="1">
            <a:spLocks/>
          </p:cNvSpPr>
          <p:nvPr/>
        </p:nvSpPr>
        <p:spPr>
          <a:xfrm>
            <a:off x="1050637" y="402863"/>
            <a:ext cx="10515600" cy="54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56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latin typeface="Aptos Display" panose="020B0004020202020204" pitchFamily="34" charset="0"/>
              </a:rPr>
              <a:t>Временные ряды и их ключевые особенности</a:t>
            </a:r>
            <a:endParaRPr lang="ru-RU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1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D264-AE31-6535-9116-3CF068ED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49A31-C3A5-5A2D-98E2-EAA0778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067F3-AE2A-BF19-C26D-9D611A39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500" dirty="0">
                <a:latin typeface="Aptos" panose="020B0004020202020204" pitchFamily="34" charset="0"/>
              </a:rPr>
              <a:t>   </a:t>
            </a:r>
            <a:r>
              <a:rPr lang="ru-RU" sz="1500" b="1" dirty="0">
                <a:latin typeface="Aptos" panose="020B0004020202020204" pitchFamily="34" charset="0"/>
              </a:rPr>
              <a:t>Сегментация временных рядов</a:t>
            </a:r>
            <a:r>
              <a:rPr lang="ru-RU" sz="1500" dirty="0">
                <a:latin typeface="Aptos" panose="020B0004020202020204" pitchFamily="34" charset="0"/>
              </a:rPr>
              <a:t> представляет собой важнейший этап анализа динамических данных и заключается в разбиении исходного ряда на отдельные участки, обладающие относительной однородностью. Эта процедура позволяет выявлять локальные закономерности, которые могут быть скрыты при рассмотрении ряда целиком, и служит фундаментом для дальнейшего применения методов сравнения, кластеризации и анализа сезонных паттернов.</a:t>
            </a:r>
          </a:p>
          <a:p>
            <a:pPr marL="0" indent="0">
              <a:buNone/>
            </a:pPr>
            <a:r>
              <a:rPr lang="ru-RU" sz="1500" dirty="0">
                <a:latin typeface="Aptos" panose="020B0004020202020204" pitchFamily="34" charset="0"/>
              </a:rPr>
              <a:t>   Поскольку большинство реальных временных рядов являются нестационарными и содержат участки с различной динамикой, сегментация обеспечивает возможность более корректной и детализированной интерпретации данных.</a:t>
            </a:r>
          </a:p>
          <a:p>
            <a:pPr marL="0" indent="0">
              <a:buNone/>
            </a:pPr>
            <a:r>
              <a:rPr lang="ru-RU" sz="1500" dirty="0">
                <a:latin typeface="Aptos" panose="020B0004020202020204" pitchFamily="34" charset="0"/>
              </a:rPr>
              <a:t>  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0F7AFF-FD8A-7E54-91CD-1D85E92BB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812" y="2688527"/>
            <a:ext cx="4552376" cy="37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6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9CEE-AED5-677C-AE1C-170EC5A7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C8721-4214-6923-D07A-2C7B0F4C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E7FFF6-50E6-8C49-F266-F359D93D6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Цели и значение сегментации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Сегментация решает несколько ключевых задач:</a:t>
            </a:r>
          </a:p>
          <a:p>
            <a:pPr marL="0" indent="0">
              <a:buNone/>
            </a:pPr>
            <a:r>
              <a:rPr lang="ru-RU" sz="2000" b="1" dirty="0"/>
              <a:t>   1. Выявление локальных паттернов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Она позволяет выделять участки, где поведение временного ряда существенно меняется:</a:t>
            </a:r>
            <a:br>
              <a:rPr lang="ru-RU" sz="2000" dirty="0"/>
            </a:br>
            <a:r>
              <a:rPr lang="ru-RU" sz="2000" dirty="0"/>
              <a:t>— переходы между динамическими режимами,</a:t>
            </a:r>
            <a:br>
              <a:rPr lang="ru-RU" sz="2000" dirty="0"/>
            </a:br>
            <a:r>
              <a:rPr lang="ru-RU" sz="2000" dirty="0"/>
              <a:t>— периоды ускоренного роста или падения,</a:t>
            </a:r>
            <a:br>
              <a:rPr lang="ru-RU" sz="2000" dirty="0"/>
            </a:br>
            <a:r>
              <a:rPr lang="ru-RU" sz="2000" dirty="0"/>
              <a:t>— стабильные интервалы или всплески активности.</a:t>
            </a:r>
          </a:p>
          <a:p>
            <a:pPr marL="0" indent="0">
              <a:buNone/>
            </a:pPr>
            <a:r>
              <a:rPr lang="ru-RU" sz="2000" b="1" dirty="0"/>
              <a:t>   2. Повышение точности анализа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Разделение ряда на однородные сегменты снижает влияние нестационарности и облегчает применение алгоритмических методов, работающих по локальным характеристикам.</a:t>
            </a:r>
          </a:p>
          <a:p>
            <a:pPr marL="0" indent="0">
              <a:buNone/>
            </a:pPr>
            <a:r>
              <a:rPr lang="ru-RU" sz="2000" b="1" dirty="0"/>
              <a:t>   3. Подготовка данных для дальнейших методов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Сегменты служат независимыми единицами анализа для:</a:t>
            </a:r>
            <a:br>
              <a:rPr lang="ru-RU" sz="2000" dirty="0"/>
            </a:br>
            <a:r>
              <a:rPr lang="ru-RU" sz="2000" dirty="0"/>
              <a:t>— вычисления метрик схожести,</a:t>
            </a:r>
            <a:br>
              <a:rPr lang="ru-RU" sz="2000" dirty="0"/>
            </a:br>
            <a:r>
              <a:rPr lang="ru-RU" sz="2000" dirty="0"/>
              <a:t>— кластеризации по формам поведения,</a:t>
            </a:r>
            <a:br>
              <a:rPr lang="ru-RU" sz="2000" dirty="0"/>
            </a:br>
            <a:r>
              <a:rPr lang="ru-RU" sz="2000" dirty="0"/>
              <a:t>— обнаружения аномалий.</a:t>
            </a:r>
          </a:p>
          <a:p>
            <a:pPr marL="0" indent="0">
              <a:buNone/>
            </a:pPr>
            <a:endParaRPr lang="ru-RU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22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49D1-7597-C046-0063-382E06BC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DB888-5533-BE4A-A603-649285C3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5FF9F0-3D5E-F706-7139-CA85C949B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Основные подходы к сегментации временных рядов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1. Сегментация на основе фиксированных интервалов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Самый распространённый подход — разбиение на равные промежутки времени: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Примеры фиксированных сегментов: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сутки → для анализа суточных циклов;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недели → для анализа недельных паттернов;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месяцы → для сезонных задач;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окна фиксированной длины (</a:t>
            </a:r>
            <a:r>
              <a:rPr lang="ru-RU" sz="1600" dirty="0" err="1">
                <a:latin typeface="Aptos" panose="020B0004020202020204" pitchFamily="34" charset="0"/>
              </a:rPr>
              <a:t>sliding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windows</a:t>
            </a:r>
            <a:r>
              <a:rPr lang="ru-RU" sz="1600" dirty="0">
                <a:latin typeface="Aptos" panose="020B0004020202020204" pitchFamily="34" charset="0"/>
              </a:rPr>
              <a:t>).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Преимущества: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простота реализации;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стабильная длина сегментов облегчает расчёт метрик;</a:t>
            </a:r>
          </a:p>
          <a:p>
            <a:r>
              <a:rPr lang="ru-RU" sz="1600" dirty="0">
                <a:latin typeface="Aptos" panose="020B0004020202020204" pitchFamily="34" charset="0"/>
              </a:rPr>
              <a:t>хорошо подходит для DTW и </a:t>
            </a:r>
            <a:r>
              <a:rPr lang="ru-RU" sz="1600" dirty="0" err="1">
                <a:latin typeface="Aptos" panose="020B0004020202020204" pitchFamily="34" charset="0"/>
              </a:rPr>
              <a:t>Euclidean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distance</a:t>
            </a:r>
            <a:r>
              <a:rPr lang="ru-RU" sz="16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Недостатки: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игнорируются моменты, где структура ряда меняется резко;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одинаковая длина не всегда оптимальна для различных режимов поведения.</a:t>
            </a:r>
          </a:p>
          <a:p>
            <a:pPr marL="0" indent="0">
              <a:buNone/>
            </a:pPr>
            <a:endParaRPr lang="ru-RU" sz="15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11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664E-58A9-3336-CF81-8AD61A03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75BC5-994E-F0E1-C044-AB1F5525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A69E9B-0FB9-3A1C-BBAB-8D2FE2B95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63" y="952859"/>
            <a:ext cx="5996263" cy="57527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000" b="1" dirty="0"/>
              <a:t>   2. Скользящие окна (</a:t>
            </a:r>
            <a:r>
              <a:rPr lang="ru-RU" sz="2000" b="1" dirty="0" err="1"/>
              <a:t>Sliding</a:t>
            </a:r>
            <a:r>
              <a:rPr lang="ru-RU" sz="2000" b="1" dirty="0"/>
              <a:t> Windows)</a:t>
            </a:r>
          </a:p>
          <a:p>
            <a:pPr marL="0" indent="0">
              <a:buNone/>
            </a:pPr>
            <a:r>
              <a:rPr lang="ru-RU" sz="2000" dirty="0"/>
              <a:t>   Метод использует окна одинаковой длины, но с частичным перекрытием.</a:t>
            </a:r>
          </a:p>
          <a:p>
            <a:pPr marL="0" indent="0">
              <a:buNone/>
            </a:pPr>
            <a:r>
              <a:rPr lang="ru-RU" sz="2000" b="1" dirty="0"/>
              <a:t>   Когда применяется:</a:t>
            </a:r>
            <a:endParaRPr lang="ru-RU" sz="2000" dirty="0"/>
          </a:p>
          <a:p>
            <a:r>
              <a:rPr lang="ru-RU" sz="2000" dirty="0"/>
              <a:t>при необходимости анализировать локальные паттерны высокой детализации;</a:t>
            </a:r>
          </a:p>
          <a:p>
            <a:r>
              <a:rPr lang="ru-RU" sz="2000" dirty="0"/>
              <a:t>для обнаружения аномалий;</a:t>
            </a:r>
          </a:p>
          <a:p>
            <a:r>
              <a:rPr lang="ru-RU" sz="2000" dirty="0"/>
              <a:t>в задачах, где важно учесть постепенные изменения.</a:t>
            </a:r>
          </a:p>
          <a:p>
            <a:pPr marL="0" indent="0">
              <a:buNone/>
            </a:pPr>
            <a:r>
              <a:rPr lang="ru-RU" sz="2000" b="1" dirty="0"/>
              <a:t>   Преимущества:</a:t>
            </a:r>
            <a:endParaRPr lang="ru-RU" sz="2000" dirty="0"/>
          </a:p>
          <a:p>
            <a:r>
              <a:rPr lang="ru-RU" sz="2000" dirty="0"/>
              <a:t>плавный переход между сегментами;</a:t>
            </a:r>
          </a:p>
          <a:p>
            <a:r>
              <a:rPr lang="ru-RU" sz="2000" dirty="0"/>
              <a:t>увеличение количества доступных сегментов;</a:t>
            </a:r>
          </a:p>
          <a:p>
            <a:r>
              <a:rPr lang="ru-RU" sz="2000" dirty="0"/>
              <a:t>высокая чувствительность к локальным изменениям.</a:t>
            </a:r>
          </a:p>
          <a:p>
            <a:pPr marL="0" indent="0">
              <a:buNone/>
            </a:pPr>
            <a:r>
              <a:rPr lang="ru-RU" sz="2000" b="1" dirty="0"/>
              <a:t>   Недостатки:</a:t>
            </a:r>
            <a:endParaRPr lang="ru-RU" sz="2000" dirty="0"/>
          </a:p>
          <a:p>
            <a:r>
              <a:rPr lang="ru-RU" sz="2000" dirty="0"/>
              <a:t>увеличивается вычислительная нагрузка;</a:t>
            </a:r>
          </a:p>
          <a:p>
            <a:r>
              <a:rPr lang="ru-RU" sz="2000" dirty="0"/>
              <a:t>сегменты могут повторять друг друга.</a:t>
            </a:r>
          </a:p>
          <a:p>
            <a:pPr marL="0" indent="0">
              <a:buNone/>
            </a:pPr>
            <a:endParaRPr lang="ru-RU" sz="2000" dirty="0">
              <a:latin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DCA3C5-493B-D25F-7577-F0D65FFC0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367" y="2035276"/>
            <a:ext cx="5664633" cy="318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0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5643-00E7-8677-36A4-09C25B76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C5CD2-5298-1113-ECE2-FC8E3EB4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D08541-F132-81E2-3EE9-1FCA782CF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3. Адаптивная сегментация (по изменению свойств ряда)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Сегменты определяются не заранее, а в зависимости от поведения временного ряда.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Критерии адаптивной сегментации: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резкое изменение тренда (</a:t>
            </a:r>
            <a:r>
              <a:rPr lang="ru-RU" sz="1600" dirty="0" err="1">
                <a:latin typeface="Aptos" panose="020B0004020202020204" pitchFamily="34" charset="0"/>
              </a:rPr>
              <a:t>change-point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detection</a:t>
            </a:r>
            <a:r>
              <a:rPr lang="ru-RU" sz="1600" dirty="0">
                <a:latin typeface="Aptos" panose="020B0004020202020204" pitchFamily="34" charset="0"/>
              </a:rPr>
              <a:t>);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скачок волатильности;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изменение сезонного паттерна;</a:t>
            </a:r>
          </a:p>
          <a:p>
            <a:r>
              <a:rPr lang="ru-RU" sz="1600" dirty="0">
                <a:latin typeface="Aptos" panose="020B0004020202020204" pitchFamily="34" charset="0"/>
              </a:rPr>
              <a:t>изменение распределения значений.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Используемые методы: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алгоритмы обнаружения точек изменения (CUSUM, BOCPD, PELT);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сегментация по ошибке аппроксимации (</a:t>
            </a:r>
            <a:r>
              <a:rPr lang="ru-RU" sz="1600" dirty="0" err="1">
                <a:latin typeface="Aptos" panose="020B0004020202020204" pitchFamily="34" charset="0"/>
              </a:rPr>
              <a:t>Bottom</a:t>
            </a:r>
            <a:r>
              <a:rPr lang="ru-RU" sz="1600" dirty="0">
                <a:latin typeface="Aptos" panose="020B0004020202020204" pitchFamily="34" charset="0"/>
              </a:rPr>
              <a:t>-Up, Top-Down </a:t>
            </a:r>
            <a:r>
              <a:rPr lang="ru-RU" sz="1600" dirty="0" err="1">
                <a:latin typeface="Aptos" panose="020B0004020202020204" pitchFamily="34" charset="0"/>
              </a:rPr>
              <a:t>segmentation</a:t>
            </a:r>
            <a:r>
              <a:rPr lang="ru-RU" sz="1600" dirty="0">
                <a:latin typeface="Aptos" panose="020B0004020202020204" pitchFamily="34" charset="0"/>
              </a:rPr>
              <a:t>);</a:t>
            </a:r>
          </a:p>
          <a:p>
            <a:r>
              <a:rPr lang="ru-RU" sz="1600" dirty="0">
                <a:latin typeface="Aptos" panose="020B0004020202020204" pitchFamily="34" charset="0"/>
              </a:rPr>
              <a:t>байесовские методы разбиения.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Преимущества: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высокая точность выделения однородных участков;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значительное снижение нестационарности;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улучшение интерпретации данных.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Недостатки:</a:t>
            </a:r>
            <a:endParaRPr lang="ru-RU" sz="1600" dirty="0">
              <a:latin typeface="Aptos" panose="020B0004020202020204" pitchFamily="34" charset="0"/>
            </a:endParaRPr>
          </a:p>
          <a:p>
            <a:r>
              <a:rPr lang="ru-RU" sz="1600" dirty="0">
                <a:latin typeface="Aptos" panose="020B0004020202020204" pitchFamily="34" charset="0"/>
              </a:rPr>
              <a:t>требует вычислительных ресурсов;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сложность настройки критериев;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может быть чувствительна к шуму.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19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5156-6B9C-4093-FD41-06F32DC2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EA945-DC15-5FD8-63E8-AF23FAF0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B7B2A2-AE22-6958-3CDA-EF57B1E73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Одной из ключевых задач сегментации является выделение таких интервалов (сегментов), которые обладают относительно одинаковыми статистическими и структурными характеристиками. Это особенно важно для анализа временных закономерностей, поскольку реальные данные редко ведут себя однородно на всём периоде наблюдения: изменяются режимы работы системы, сезонные циклы, внешние условия, что делает весь ряд </a:t>
            </a:r>
            <a:r>
              <a:rPr lang="ru-RU" sz="1600" i="1" dirty="0">
                <a:latin typeface="Aptos" panose="020B0004020202020204" pitchFamily="34" charset="0"/>
              </a:rPr>
              <a:t>смешением различных паттернов</a:t>
            </a:r>
            <a:r>
              <a:rPr lang="ru-RU" sz="16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Сегменты с однородными свойствами позволяют выделить «чистые» закономерности, не искажённые соседними периодами, и подготовить данные для дальнейшей кластеризации или корреляционного анализа.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1. Однородность по тренду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Тренд внутри сегмента должен изменяться плавно и предсказуемо.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Что считается однородным трендом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Сегмент обладает однородным трендом, если: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направление изменения значений сохраняется (рост/спад/плато);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скорость изменения не меняется резко;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нет структурных разрывов (скачков или переломов тренда);</a:t>
            </a:r>
          </a:p>
          <a:p>
            <a:r>
              <a:rPr lang="ru-RU" sz="1600" dirty="0">
                <a:latin typeface="Aptos" panose="020B0004020202020204" pitchFamily="34" charset="0"/>
              </a:rPr>
              <a:t>аппроксимация тренда (линейная или полиномиальная) даёт малую ошибку.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Зачем выделять сегменты с одинаковым трендом</a:t>
            </a:r>
          </a:p>
          <a:p>
            <a:r>
              <a:rPr lang="ru-RU" sz="1600" dirty="0">
                <a:latin typeface="Aptos" panose="020B0004020202020204" pitchFamily="34" charset="0"/>
              </a:rPr>
              <a:t>тренд сильно влияет на сравнение сегментов между собой;</a:t>
            </a:r>
          </a:p>
          <a:p>
            <a:r>
              <a:rPr lang="ru-RU" sz="1600" dirty="0">
                <a:latin typeface="Aptos" panose="020B0004020202020204" pitchFamily="34" charset="0"/>
              </a:rPr>
              <a:t>DTW и </a:t>
            </a:r>
            <a:r>
              <a:rPr lang="ru-RU" sz="1600" dirty="0" err="1">
                <a:latin typeface="Aptos" panose="020B0004020202020204" pitchFamily="34" charset="0"/>
              </a:rPr>
              <a:t>Euclidean</a:t>
            </a:r>
            <a:r>
              <a:rPr lang="ru-RU" sz="1600" dirty="0">
                <a:latin typeface="Aptos" panose="020B0004020202020204" pitchFamily="34" charset="0"/>
              </a:rPr>
              <a:t> дают искажённые расстояния при смешении различных трендовых режимов;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тренд вызывает ложную корреляцию между признаками.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134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6A4A-F7F2-F112-69BB-0BD82D48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E3175-0F72-82EA-F0C7-6353468E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DC3785-BCE1-D52F-B55C-B1E41F70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Методы выделения однородных трендовых сегментов</a:t>
            </a:r>
          </a:p>
          <a:p>
            <a:r>
              <a:rPr lang="ru-RU" sz="1600" dirty="0">
                <a:latin typeface="Aptos" panose="020B0004020202020204" pitchFamily="34" charset="0"/>
              </a:rPr>
              <a:t>анализ первой производной ряда (постоянство знака и величины);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оценка локального угла наклона;</a:t>
            </a:r>
          </a:p>
          <a:p>
            <a:r>
              <a:rPr lang="en-US" sz="1600" dirty="0">
                <a:latin typeface="Aptos" panose="020B0004020202020204" pitchFamily="34" charset="0"/>
              </a:rPr>
              <a:t>piecewise linear approximation (PLA);</a:t>
            </a:r>
          </a:p>
          <a:p>
            <a:r>
              <a:rPr lang="en-US" sz="1600" dirty="0">
                <a:latin typeface="Aptos" panose="020B0004020202020204" pitchFamily="34" charset="0"/>
              </a:rPr>
              <a:t>Top-Down / Bottom-Up segmentation </a:t>
            </a:r>
            <a:r>
              <a:rPr lang="ru-RU" sz="1600" dirty="0">
                <a:latin typeface="Aptos" panose="020B0004020202020204" pitchFamily="34" charset="0"/>
              </a:rPr>
              <a:t>по ошибке аппроксимации.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2. Однородность по волатильности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Волатильность — это изменчивость значений вокруг среднего уровня. Она особенно важна в анализе энергопотребления, финансовых рынков, климатических систем и медицинских данных.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Признаки однородной волатильности в сегменте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дисперсия остаётся стабильной;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диапазон колебаний примерно постоянен;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отсутствие смены режима «спокойный → турбулентный»;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стандартное отклонение не испытывает скачков.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Почему важно учитывать волатильность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сегменты разной волатильности искажают расстояния DTW;</a:t>
            </a:r>
          </a:p>
          <a:p>
            <a:r>
              <a:rPr lang="ru-RU" sz="1600" dirty="0">
                <a:latin typeface="Aptos" panose="020B0004020202020204" pitchFamily="34" charset="0"/>
              </a:rPr>
              <a:t>кластеры могут группировать сегменты по уровню шума, а не по структуре;</a:t>
            </a:r>
          </a:p>
          <a:p>
            <a:r>
              <a:rPr lang="ru-RU" sz="1600" dirty="0">
                <a:latin typeface="Aptos" panose="020B0004020202020204" pitchFamily="34" charset="0"/>
              </a:rPr>
              <a:t>высокая волатильность усложняет определение сезонности;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при корреляционном анализе локальные всплески волатильности создают ложные связи.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30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AF6DB-4884-0E9D-2195-43358372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D7F4B-51A1-EF8F-9A0A-15A8B2A2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7BCB8C-8A4B-B333-2A83-90D0E4DE5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Методы обнаружения изменений волатильности</a:t>
            </a:r>
          </a:p>
          <a:p>
            <a:r>
              <a:rPr lang="ru-RU" sz="1600" dirty="0">
                <a:latin typeface="Aptos" panose="020B0004020202020204" pitchFamily="34" charset="0"/>
              </a:rPr>
              <a:t>бегущее стандартное отклонение;</a:t>
            </a:r>
          </a:p>
          <a:p>
            <a:r>
              <a:rPr lang="ru-RU" sz="1600" dirty="0">
                <a:latin typeface="Aptos" panose="020B0004020202020204" pitchFamily="34" charset="0"/>
              </a:rPr>
              <a:t>анализ квадрата остатков от модели;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GARCH-подходы;</a:t>
            </a:r>
          </a:p>
          <a:p>
            <a:r>
              <a:rPr lang="ru-RU" sz="1600" dirty="0">
                <a:latin typeface="Aptos" panose="020B0004020202020204" pitchFamily="34" charset="0"/>
              </a:rPr>
              <a:t>методы CUSUM для изменений дисперсии.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3. Однородность по сезонности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Сезонность должна быть выражена одинаково внутри сегмента, иначе кластеризация не сможет корректно сравнивать структуру периодических колебаний.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Однородный сезонный сегмент — это когда: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длина сезонного цикла сохраняется (например, ежедневная, недельная);</a:t>
            </a:r>
          </a:p>
          <a:p>
            <a:r>
              <a:rPr lang="ru-RU" sz="1600" dirty="0">
                <a:latin typeface="Aptos" panose="020B0004020202020204" pitchFamily="34" charset="0"/>
              </a:rPr>
              <a:t>амплитуда повторяющихся колебаний остаётся близкой;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повторяемость паттерна высокая;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пик и спад сезонных значений происходят в сходные моменты.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Проблемы, возникающие при нарушении сезонной однородности</a:t>
            </a:r>
          </a:p>
          <a:p>
            <a:r>
              <a:rPr lang="ru-RU" sz="1600" dirty="0">
                <a:latin typeface="Aptos" panose="020B0004020202020204" pitchFamily="34" charset="0"/>
              </a:rPr>
              <a:t>DTW может выровнять разные сезонные структуры, получив ложное сходство;</a:t>
            </a:r>
          </a:p>
          <a:p>
            <a:r>
              <a:rPr lang="ru-RU" sz="1600" dirty="0">
                <a:latin typeface="Aptos" panose="020B0004020202020204" pitchFamily="34" charset="0"/>
              </a:rPr>
              <a:t>K-</a:t>
            </a:r>
            <a:r>
              <a:rPr lang="ru-RU" sz="1600" dirty="0" err="1">
                <a:latin typeface="Aptos" panose="020B0004020202020204" pitchFamily="34" charset="0"/>
              </a:rPr>
              <a:t>Means</a:t>
            </a:r>
            <a:r>
              <a:rPr lang="ru-RU" sz="1600" dirty="0">
                <a:latin typeface="Aptos" panose="020B0004020202020204" pitchFamily="34" charset="0"/>
              </a:rPr>
              <a:t> будет создавать кластеры по амплитуде, а не по форме;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некорректная сегментация приводит к смешению паттернов.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06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9160-F5DE-0C04-B997-5A4EA7F9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7B152-396A-63A4-37FC-E1F1BADD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8457ED-10AC-7F14-60D7-7EB28953E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Методы выделения участков с однородной сезонностью</a:t>
            </a:r>
          </a:p>
          <a:p>
            <a:r>
              <a:rPr lang="ru-RU" sz="1600" dirty="0">
                <a:latin typeface="Aptos" panose="020B0004020202020204" pitchFamily="34" charset="0"/>
              </a:rPr>
              <a:t>автокорреляционная функция (ACF) для выявления периодичности;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краткосрочная </a:t>
            </a:r>
            <a:r>
              <a:rPr lang="ru-RU" sz="1600" dirty="0" err="1">
                <a:latin typeface="Aptos" panose="020B0004020202020204" pitchFamily="34" charset="0"/>
              </a:rPr>
              <a:t>Fourier-анализная</a:t>
            </a:r>
            <a:r>
              <a:rPr lang="ru-RU" sz="1600" dirty="0">
                <a:latin typeface="Aptos" panose="020B0004020202020204" pitchFamily="34" charset="0"/>
              </a:rPr>
              <a:t> сегментация;</a:t>
            </a:r>
          </a:p>
          <a:p>
            <a:r>
              <a:rPr lang="ru-RU" sz="1600" dirty="0" err="1">
                <a:latin typeface="Aptos" panose="020B0004020202020204" pitchFamily="34" charset="0"/>
              </a:rPr>
              <a:t>Wavelet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decomposition</a:t>
            </a:r>
            <a:r>
              <a:rPr lang="ru-RU" sz="1600" dirty="0">
                <a:latin typeface="Aptos" panose="020B0004020202020204" pitchFamily="34" charset="0"/>
              </a:rPr>
              <a:t>;</a:t>
            </a:r>
          </a:p>
          <a:p>
            <a:r>
              <a:rPr lang="ru-RU" sz="1600" dirty="0">
                <a:latin typeface="Aptos" panose="020B0004020202020204" pitchFamily="34" charset="0"/>
              </a:rPr>
              <a:t>выделение сезонных индексов и сравнение их стабильности по сегментам.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В реальных данных временной ряд редко характеризуется ровно одним видом поведения. Как правило, тенденция изменения уровней (тренд), величина колебаний (волатильность) и регулярные циклы (сезонность) проявляются одновременно и взаимодействуют друг с другом. Поэтому для грамотного анализа ряда важно выделять интервалы (сегменты), внутри которых все эти свойства остаются одновременно стабильными — то есть сегмент должен быть совместно однородным. 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Совместная однородность означает, что </a:t>
            </a:r>
            <a:r>
              <a:rPr lang="ru-RU" sz="1600" b="1" dirty="0">
                <a:latin typeface="Aptos" panose="020B0004020202020204" pitchFamily="34" charset="0"/>
              </a:rPr>
              <a:t>форма поведения ряда внутри сегмента не изменяется</a:t>
            </a:r>
            <a:r>
              <a:rPr lang="ru-RU" sz="1600" dirty="0">
                <a:latin typeface="Aptos" panose="020B0004020202020204" pitchFamily="34" charset="0"/>
              </a:rPr>
              <a:t>, а любые изменения происходят постепенно и предсказуемо. Только такие сегменты можно корректно сравнивать между собой, </a:t>
            </a:r>
            <a:r>
              <a:rPr lang="ru-RU" sz="1600" dirty="0" err="1">
                <a:latin typeface="Aptos" panose="020B0004020202020204" pitchFamily="34" charset="0"/>
              </a:rPr>
              <a:t>кластеризовать</a:t>
            </a:r>
            <a:r>
              <a:rPr lang="ru-RU" sz="1600" dirty="0">
                <a:latin typeface="Aptos" panose="020B0004020202020204" pitchFamily="34" charset="0"/>
              </a:rPr>
              <a:t> и использовать в корреляционном анализе.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Если сегмент однороден только по одному свойству (например, тренду), но не по другим (например, волатильности или сезонности), то такой сегмент: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невозможно корректно </a:t>
            </a:r>
            <a:r>
              <a:rPr lang="ru-RU" sz="1600" b="1" dirty="0" err="1">
                <a:latin typeface="Aptos" panose="020B0004020202020204" pitchFamily="34" charset="0"/>
              </a:rPr>
              <a:t>кластеризовать</a:t>
            </a:r>
            <a:r>
              <a:rPr lang="ru-RU" sz="1600" dirty="0">
                <a:latin typeface="Aptos" panose="020B0004020202020204" pitchFamily="34" charset="0"/>
              </a:rPr>
              <a:t> — алгоритм будет объединять точки по разным критериям;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искажает расстояния DTW/</a:t>
            </a:r>
            <a:r>
              <a:rPr lang="ru-RU" sz="1600" b="1" dirty="0" err="1">
                <a:latin typeface="Aptos" panose="020B0004020202020204" pitchFamily="34" charset="0"/>
              </a:rPr>
              <a:t>Euclidean</a:t>
            </a:r>
            <a:r>
              <a:rPr lang="ru-RU" sz="1600" dirty="0">
                <a:latin typeface="Aptos" panose="020B0004020202020204" pitchFamily="34" charset="0"/>
              </a:rPr>
              <a:t>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создаёт ложные корреляции</a:t>
            </a:r>
            <a:r>
              <a:rPr lang="ru-RU" sz="1600" dirty="0">
                <a:latin typeface="Aptos" panose="020B0004020202020204" pitchFamily="34" charset="0"/>
              </a:rPr>
              <a:t>, когда на связи влияет не реальная зависимость, а изменение режимов;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делает сегменты несравнимыми</a:t>
            </a:r>
            <a:r>
              <a:rPr lang="ru-RU" sz="1600" dirty="0">
                <a:latin typeface="Aptos" panose="020B0004020202020204" pitchFamily="34" charset="0"/>
              </a:rPr>
              <a:t> — каждый описывает разные режимы поведения;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ухудшает прогнозирование</a:t>
            </a:r>
            <a:r>
              <a:rPr lang="ru-RU" sz="1600" dirty="0">
                <a:latin typeface="Aptos" panose="020B0004020202020204" pitchFamily="34" charset="0"/>
              </a:rPr>
              <a:t>, так как модель обучается на неоднородных данных.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058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1EEC-F1A1-7F7C-5C4E-7E9D2D32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FF8E1-FB42-106E-EF1E-3ACE1FE9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Сегментация временных рядов (</a:t>
            </a:r>
            <a:r>
              <a:rPr lang="en-US" sz="3200" dirty="0">
                <a:latin typeface="Aptos Display" panose="020B0004020202020204" pitchFamily="34" charset="0"/>
              </a:rPr>
              <a:t>Time Series Segmentation)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71CDB-37D6-DEA4-534C-9D9E40096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b="1" i="1" dirty="0">
                <a:latin typeface="Aptos" panose="020B0004020202020204" pitchFamily="34" charset="0"/>
              </a:rPr>
              <a:t>   Пример проблемы частичной однородности</a:t>
            </a:r>
            <a:endParaRPr lang="ru-RU" sz="16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Если два сегмента имеют одинаковую сезонность, но разную волатильность:</a:t>
            </a:r>
          </a:p>
          <a:p>
            <a:r>
              <a:rPr lang="ru-RU" sz="1600" dirty="0">
                <a:latin typeface="Aptos" panose="020B0004020202020204" pitchFamily="34" charset="0"/>
              </a:rPr>
              <a:t>DTW «сдвинет» пики и падения таким образом, что сегменты покажутся похожими, хотя волатильность принципиально различается;</a:t>
            </a:r>
          </a:p>
          <a:p>
            <a:r>
              <a:rPr lang="ru-RU" sz="1600" dirty="0">
                <a:latin typeface="Aptos" panose="020B0004020202020204" pitchFamily="34" charset="0"/>
              </a:rPr>
              <a:t>K-</a:t>
            </a:r>
            <a:r>
              <a:rPr lang="ru-RU" sz="1600" dirty="0" err="1">
                <a:latin typeface="Aptos" panose="020B0004020202020204" pitchFamily="34" charset="0"/>
              </a:rPr>
              <a:t>Means</a:t>
            </a:r>
            <a:r>
              <a:rPr lang="ru-RU" sz="1600" dirty="0">
                <a:latin typeface="Aptos" panose="020B0004020202020204" pitchFamily="34" charset="0"/>
              </a:rPr>
              <a:t> может сформировать кластер только по масштабу значений, игнорируя форму;</a:t>
            </a:r>
          </a:p>
          <a:p>
            <a:r>
              <a:rPr lang="ru-RU" sz="1600" dirty="0">
                <a:latin typeface="Aptos" panose="020B0004020202020204" pitchFamily="34" charset="0"/>
              </a:rPr>
              <a:t>корреляция покажет ложную сильную связь.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Поэтому важна </a:t>
            </a:r>
            <a:r>
              <a:rPr lang="ru-RU" sz="1600" i="1" dirty="0">
                <a:latin typeface="Aptos" panose="020B0004020202020204" pitchFamily="34" charset="0"/>
              </a:rPr>
              <a:t>комплексная</a:t>
            </a:r>
            <a:r>
              <a:rPr lang="ru-RU" sz="1600" dirty="0">
                <a:latin typeface="Aptos" panose="020B0004020202020204" pitchFamily="34" charset="0"/>
              </a:rPr>
              <a:t> однородность всех свойств.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Нарушение однородности приводит к систематическим ошибкам: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Кластеризация</a:t>
            </a:r>
          </a:p>
          <a:p>
            <a:r>
              <a:rPr lang="ru-RU" sz="1600" dirty="0">
                <a:latin typeface="Aptos" panose="020B0004020202020204" pitchFamily="34" charset="0"/>
              </a:rPr>
              <a:t>группы образуются не по паттернам, а по масштабам колебаний;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сегменты разных режимов попадают в один кластер;</a:t>
            </a:r>
          </a:p>
          <a:p>
            <a:r>
              <a:rPr lang="ru-RU" sz="1600" dirty="0">
                <a:latin typeface="Aptos" panose="020B0004020202020204" pitchFamily="34" charset="0"/>
              </a:rPr>
              <a:t>DTW «искусственно выравнивает» несоответствующие паттерны.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Корреляция</a:t>
            </a:r>
          </a:p>
          <a:p>
            <a:r>
              <a:rPr lang="ru-RU" sz="1600" dirty="0">
                <a:latin typeface="Aptos" panose="020B0004020202020204" pitchFamily="34" charset="0"/>
              </a:rPr>
              <a:t>высокая автокорреляция и изменение тренда создают ложные зависимости;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признаки выглядят связанными, хотя это всего лишь эффект сезонных или трендовых сдвигов.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Прогнозирование</a:t>
            </a:r>
          </a:p>
          <a:p>
            <a:r>
              <a:rPr lang="ru-RU" sz="1600" dirty="0">
                <a:latin typeface="Aptos" panose="020B0004020202020204" pitchFamily="34" charset="0"/>
              </a:rPr>
              <a:t>модели обучаются на «смешанных» режимах и теряют точность;</a:t>
            </a:r>
          </a:p>
          <a:p>
            <a:r>
              <a:rPr lang="ru-RU" sz="1600" dirty="0">
                <a:latin typeface="Aptos" panose="020B0004020202020204" pitchFamily="34" charset="0"/>
              </a:rPr>
              <a:t>границы режимов становятся источниками ошибок.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374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E62C-969F-DAD1-EE95-204AE77B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12B69-490B-A6B6-BF4B-17D7BD4D0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D6914D-A02A-C6CC-4149-340A10BEE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Анализ временных закономерностей невозможен без количественной оценки того, </a:t>
            </a:r>
            <a:r>
              <a:rPr lang="ru-RU" sz="1600" i="1" dirty="0">
                <a:latin typeface="Aptos" panose="020B0004020202020204" pitchFamily="34" charset="0"/>
              </a:rPr>
              <a:t>насколько похожи</a:t>
            </a:r>
            <a:r>
              <a:rPr lang="ru-RU" sz="1600" dirty="0">
                <a:latin typeface="Aptos" panose="020B0004020202020204" pitchFamily="34" charset="0"/>
              </a:rPr>
              <a:t> два временных ряда или их сегменты. Для этого используются </a:t>
            </a:r>
            <a:r>
              <a:rPr lang="ru-RU" sz="1600" b="1" dirty="0">
                <a:latin typeface="Aptos" panose="020B0004020202020204" pitchFamily="34" charset="0"/>
              </a:rPr>
              <a:t>метрики схожести</a:t>
            </a:r>
            <a:r>
              <a:rPr lang="ru-RU" sz="1600" dirty="0">
                <a:latin typeface="Aptos" panose="020B0004020202020204" pitchFamily="34" charset="0"/>
              </a:rPr>
              <a:t> — функции, которые сопоставляют двум рядам числовое значение «расстояния». Чем меньше расстояние, тем более похожими считаются ряды.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В случае временных рядов простое сравнение значений по индексам (как в обычных векторах) часто оказывается недостаточным. Реальные процессы могут иметь: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сдвиг по времени (один пик наступает чуть раньше другого);</a:t>
            </a:r>
          </a:p>
          <a:p>
            <a:r>
              <a:rPr lang="ru-RU" sz="1600" dirty="0">
                <a:latin typeface="Aptos" panose="020B0004020202020204" pitchFamily="34" charset="0"/>
              </a:rPr>
              <a:t>растянутые или сжатые участки (один процесс развивается быстрее/медленнее, чем другой);</a:t>
            </a:r>
          </a:p>
          <a:p>
            <a:r>
              <a:rPr lang="ru-RU" sz="1600" dirty="0">
                <a:latin typeface="Aptos" panose="020B0004020202020204" pitchFamily="34" charset="0"/>
              </a:rPr>
              <a:t>различия в амплитуде при сохранении формы паттерна.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Поэтому важно использовать метрики, которые учитывают </a:t>
            </a:r>
            <a:r>
              <a:rPr lang="ru-RU" sz="1600" b="1" dirty="0">
                <a:latin typeface="Aptos" panose="020B0004020202020204" pitchFamily="34" charset="0"/>
              </a:rPr>
              <a:t>временную структуру</a:t>
            </a:r>
            <a:r>
              <a:rPr lang="ru-RU" sz="1600" dirty="0">
                <a:latin typeface="Aptos" panose="020B0004020202020204" pitchFamily="34" charset="0"/>
              </a:rPr>
              <a:t>, а не только покомпонентные отличия.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Цели использования метрик схожести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Метрики расстояния между временными рядами применяются в задачах: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кластеризации</a:t>
            </a:r>
            <a:r>
              <a:rPr lang="ru-RU" sz="1600" dirty="0">
                <a:latin typeface="Aptos" panose="020B0004020202020204" pitchFamily="34" charset="0"/>
              </a:rPr>
              <a:t>: объединение сегментов в группы схожих паттернов;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поиска ближайших соседей</a:t>
            </a:r>
            <a:r>
              <a:rPr lang="ru-RU" sz="1600" dirty="0">
                <a:latin typeface="Aptos" panose="020B0004020202020204" pitchFamily="34" charset="0"/>
              </a:rPr>
              <a:t>: нахождение наиболее похожих исторических участков (</a:t>
            </a:r>
            <a:r>
              <a:rPr lang="ru-RU" sz="1600" dirty="0" err="1">
                <a:latin typeface="Aptos" panose="020B0004020202020204" pitchFamily="34" charset="0"/>
              </a:rPr>
              <a:t>pattern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matching</a:t>
            </a:r>
            <a:r>
              <a:rPr lang="ru-RU" sz="1600" dirty="0">
                <a:latin typeface="Aptos" panose="020B0004020202020204" pitchFamily="34" charset="0"/>
              </a:rPr>
              <a:t>);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обнаружения аномалий</a:t>
            </a:r>
            <a:r>
              <a:rPr lang="ru-RU" sz="1600" dirty="0">
                <a:latin typeface="Aptos" panose="020B0004020202020204" pitchFamily="34" charset="0"/>
              </a:rPr>
              <a:t>: выделение сегментов, отличающихся от «типичных»;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оценки качества сегментации</a:t>
            </a:r>
            <a:r>
              <a:rPr lang="ru-RU" sz="1600" dirty="0">
                <a:latin typeface="Aptos" panose="020B0004020202020204" pitchFamily="34" charset="0"/>
              </a:rPr>
              <a:t>: сравнение сегментов между собой;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предварительного анализа</a:t>
            </a:r>
            <a:r>
              <a:rPr lang="ru-RU" sz="1600" dirty="0">
                <a:latin typeface="Aptos" panose="020B0004020202020204" pitchFamily="34" charset="0"/>
              </a:rPr>
              <a:t>: визуализация матриц расстояний, построение карт схожести.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Ключевая идея: </a:t>
            </a:r>
            <a:r>
              <a:rPr lang="ru-RU" sz="1600" i="1" dirty="0">
                <a:latin typeface="Aptos" panose="020B0004020202020204" pitchFamily="34" charset="0"/>
              </a:rPr>
              <a:t>если мы можем корректно измерить сходство между паттернами, то можем группировать, сравнивать и анализировать их в рамках интеллектуального анализа данных</a:t>
            </a:r>
            <a:r>
              <a:rPr lang="ru-RU" sz="16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269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2F5-56C1-297A-6982-381DA5D9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8F79E-6DF2-5D2E-E074-D8B97E25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CDFBE8-B912-B8BF-F1C8-CFC791362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764" y="952859"/>
                <a:ext cx="6792676" cy="57527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1800" b="1" dirty="0">
                    <a:latin typeface="Aptos" panose="020B0004020202020204" pitchFamily="34" charset="0"/>
                  </a:rPr>
                  <a:t>   </a:t>
                </a:r>
                <a:r>
                  <a:rPr lang="en-US" sz="1800" b="1" dirty="0">
                    <a:latin typeface="Aptos" panose="020B0004020202020204" pitchFamily="34" charset="0"/>
                  </a:rPr>
                  <a:t>Dynamic Time Warping (DTW)</a:t>
                </a:r>
                <a:r>
                  <a:rPr lang="en-US" sz="1800" dirty="0">
                    <a:latin typeface="Aptos" panose="020B0004020202020204" pitchFamily="34" charset="0"/>
                  </a:rPr>
                  <a:t> — </a:t>
                </a:r>
                <a:r>
                  <a:rPr lang="ru-RU" sz="1800" dirty="0">
                    <a:latin typeface="Aptos" panose="020B0004020202020204" pitchFamily="34" charset="0"/>
                  </a:rPr>
                  <a:t>это метрика расстояния между двумя временными рядами, которая позволяет «деформировать» временную ось, чтобы максимально хорошо выровнять похожие участки рядов, даже если они растянуты, сжаты или сдвинуты во времени. Идея: 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   вместо жёсткого сравнения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>
                    <a:latin typeface="Aptos" panose="020B0004020202020204" pitchFamily="34" charset="0"/>
                  </a:rPr>
                  <a:t>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18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dirty="0">
                    <a:latin typeface="Aptos" panose="020B0004020202020204" pitchFamily="34" charset="0"/>
                  </a:rPr>
                  <a:t>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dirty="0">
                    <a:latin typeface="Aptos" panose="020B0004020202020204" pitchFamily="34" charset="0"/>
                  </a:rPr>
                  <a:t>и т.д., </a:t>
                </a:r>
                <a:r>
                  <a:rPr lang="en-US" sz="1800" dirty="0">
                    <a:latin typeface="Aptos" panose="020B0004020202020204" pitchFamily="34" charset="0"/>
                  </a:rPr>
                  <a:t>DTW </a:t>
                </a:r>
                <a:r>
                  <a:rPr lang="ru-RU" sz="1800" dirty="0">
                    <a:latin typeface="Aptos" panose="020B0004020202020204" pitchFamily="34" charset="0"/>
                  </a:rPr>
                  <a:t>позволяет: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сопоставить один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800" dirty="0">
                    <a:latin typeface="Aptos" panose="020B0004020202020204" pitchFamily="34" charset="0"/>
                  </a:rPr>
                  <a:t>с несколькими соседними элементами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ar-AE" sz="180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ar-AE" sz="1800" dirty="0">
                    <a:latin typeface="Aptos" panose="020B0004020202020204" pitchFamily="34" charset="0"/>
                  </a:rPr>
                  <a:t>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«растягивать» или «сжимать» один ряд относительно другого;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минимизировать суммарную стоимость такого выравнивания.</a:t>
                </a:r>
              </a:p>
              <a:p>
                <a:pPr marL="0" indent="0">
                  <a:buNone/>
                </a:pPr>
                <a:r>
                  <a:rPr lang="ru-RU" sz="1800" b="1" dirty="0">
                    <a:latin typeface="Aptos" panose="020B0004020202020204" pitchFamily="34" charset="0"/>
                  </a:rPr>
                  <a:t>   Интуитивный пример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Представим два суточных профиля потребления энергии: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в будний день пик нагрузки наступает в 19:00;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в выходной — в 21:00.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   Форма профиля одинакова (утренний подъём, плато днём, вечерний пик), но временное положение пика различается. Евклидово расстояние будет большим, так как в каждый момент времени значения различны. DTW же «сдвинет» пики друг к другу и рассчитает расстояние по </a:t>
                </a:r>
                <a:r>
                  <a:rPr lang="ru-RU" sz="1800" i="1" dirty="0">
                    <a:latin typeface="Aptos" panose="020B0004020202020204" pitchFamily="34" charset="0"/>
                  </a:rPr>
                  <a:t>выравненной</a:t>
                </a:r>
                <a:r>
                  <a:rPr lang="ru-RU" sz="1800" dirty="0">
                    <a:latin typeface="Aptos" panose="020B0004020202020204" pitchFamily="34" charset="0"/>
                  </a:rPr>
                  <a:t> траектории, получив гораздо более адекватную оценку сходства.</a:t>
                </a:r>
              </a:p>
              <a:p>
                <a:pPr marL="0" indent="0">
                  <a:buNone/>
                </a:pPr>
                <a:endParaRPr lang="ru-RU" sz="18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CDFBE8-B912-B8BF-F1C8-CFC791362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764" y="952859"/>
                <a:ext cx="6792676" cy="5752741"/>
              </a:xfrm>
              <a:blipFill>
                <a:blip r:embed="rId2"/>
                <a:stretch>
                  <a:fillRect l="-628" t="-953" r="-6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DC0513-B984-9C9C-47A9-292D34768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7073542" y="1714500"/>
            <a:ext cx="483759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25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EE96-F600-0A20-9485-C5968954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3F3A9-482D-8BEC-CE4F-E2CA814E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C98E98F-5D73-A6F2-B907-60B7B0FD19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Формальная постановка </a:t>
                </a:r>
                <a:r>
                  <a:rPr lang="en-US" sz="1600" b="1" dirty="0">
                    <a:latin typeface="Aptos" panose="020B0004020202020204" pitchFamily="34" charset="0"/>
                  </a:rPr>
                  <a:t>DTW</a:t>
                </a: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Пусть даны два временных ряда: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возможно, разной длины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Сначала строится </a:t>
                </a:r>
                <a:r>
                  <a:rPr lang="ru-RU" sz="1600" b="1" dirty="0">
                    <a:latin typeface="Aptos" panose="020B0004020202020204" pitchFamily="34" charset="0"/>
                  </a:rPr>
                  <a:t>матрица локальных расстояний</a:t>
                </a:r>
                <a:r>
                  <a:rPr lang="ru-RU" sz="16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 размером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, где каждый элемент: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ru-RU" sz="1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(или другая локальная метрика, например </a:t>
                </a: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 )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Далее задача </a:t>
                </a:r>
                <a:r>
                  <a:rPr lang="en-US" sz="1600" dirty="0">
                    <a:latin typeface="Aptos" panose="020B0004020202020204" pitchFamily="34" charset="0"/>
                  </a:rPr>
                  <a:t>DTW </a:t>
                </a:r>
                <a:r>
                  <a:rPr lang="ru-RU" sz="1600" dirty="0">
                    <a:latin typeface="Aptos" panose="020B0004020202020204" pitchFamily="34" charset="0"/>
                  </a:rPr>
                  <a:t>состоит в том, чтобы найти </a:t>
                </a:r>
                <a:r>
                  <a:rPr lang="ru-RU" sz="1600" b="1" dirty="0">
                    <a:latin typeface="Aptos" panose="020B0004020202020204" pitchFamily="34" charset="0"/>
                  </a:rPr>
                  <a:t>путь выравнивания</a:t>
                </a:r>
                <a:r>
                  <a:rPr lang="ru-RU" sz="16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где каждый элемент</a:t>
                </a:r>
                <a:r>
                  <a:rPr lang="en-US" sz="1600" dirty="0">
                    <a:latin typeface="Aptos" panose="020B0004020202020204" pitchFamily="34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— </a:t>
                </a:r>
                <a:r>
                  <a:rPr lang="ru-RU" sz="1600" dirty="0">
                    <a:latin typeface="Aptos" panose="020B0004020202020204" pitchFamily="34" charset="0"/>
                  </a:rPr>
                  <a:t>сопоставление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, </a:t>
                </a:r>
                <a:r>
                  <a:rPr lang="ru-RU" sz="1600" dirty="0">
                    <a:latin typeface="Aptos" panose="020B0004020202020204" pitchFamily="34" charset="0"/>
                  </a:rPr>
                  <a:t>такой, что: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путь начинается в левом верхнем углу: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,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заканчивается в правом нижнем: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,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продвигается только «вперёд» (без возвратов назад по времени),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суммарная стоимость пути минимальна.</a:t>
                </a: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Стоимость пути:</a:t>
                </a: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>
                          <a:latin typeface="Aptos" panose="020B0004020202020204" pitchFamily="34" charset="0"/>
                        </a:rPr>
                        <m:t>Cost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600" b="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</a:t>
                </a:r>
                <a:r>
                  <a:rPr lang="en-US" sz="1600" b="1" dirty="0">
                    <a:latin typeface="Aptos" panose="020B0004020202020204" pitchFamily="34" charset="0"/>
                  </a:rPr>
                  <a:t>DTW-</a:t>
                </a:r>
                <a:r>
                  <a:rPr lang="ru-RU" sz="1600" b="1" dirty="0">
                    <a:latin typeface="Aptos" panose="020B0004020202020204" pitchFamily="34" charset="0"/>
                  </a:rPr>
                  <a:t>расстояние</a:t>
                </a:r>
                <a:r>
                  <a:rPr lang="ru-RU" sz="1600" dirty="0">
                    <a:latin typeface="Aptos" panose="020B00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𝐷𝑇𝑊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latin typeface="Aptos" panose="020B0004020202020204" pitchFamily="34" charset="0"/>
                                    </a:rPr>
                                    <m:t>Cost</m:t>
                                  </m:r>
                                  <m:d>
                                    <m:d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</m:rad>
                            </m:e>
                          </m:func>
                        </m:e>
                        <m:lim>
                          <m:r>
                            <a:rPr lang="ar-AE" sz="160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lim>
                      </m:limLow>
                    </m:oMath>
                  </m:oMathPara>
                </a14:m>
                <a:endParaRPr lang="ar-AE" sz="1600" b="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C98E98F-5D73-A6F2-B907-60B7B0FD19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  <a:blipFill>
                <a:blip r:embed="rId2"/>
                <a:stretch>
                  <a:fillRect l="-232" t="-1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304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AC9E-143B-5DDE-7904-634C707B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D50B7-9C77-2F66-C00B-0F4FB8D0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14F6481-2E39-7DFB-C1D4-4318FB4CB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Ограничения и условия на путь выравнивания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dirty="0">
                    <a:latin typeface="Aptos" panose="020B0004020202020204" pitchFamily="34" charset="0"/>
                  </a:rPr>
                  <a:t>Чтобы выравнивание было осмысленным, на путь накладываются логические ограничения: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latin typeface="Aptos" panose="020B0004020202020204" pitchFamily="34" charset="0"/>
                  </a:rPr>
                  <a:t>   1. </a:t>
                </a:r>
                <a:r>
                  <a:rPr lang="ru-RU" sz="1600" b="1" dirty="0">
                    <a:latin typeface="Aptos" panose="020B0004020202020204" pitchFamily="34" charset="0"/>
                  </a:rPr>
                  <a:t>Граничные условия (</a:t>
                </a:r>
                <a:r>
                  <a:rPr lang="en-US" sz="1600" b="1" dirty="0">
                    <a:latin typeface="Aptos" panose="020B0004020202020204" pitchFamily="34" charset="0"/>
                  </a:rPr>
                  <a:t>boundary conditions)</a:t>
                </a:r>
                <a:br>
                  <a:rPr lang="en-US" sz="1600" dirty="0">
                    <a:latin typeface="Aptos" panose="020B0004020202020204" pitchFamily="34" charset="0"/>
                  </a:rPr>
                </a:br>
                <a:r>
                  <a:rPr lang="en-US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dirty="0">
                    <a:latin typeface="Aptos" panose="020B0004020202020204" pitchFamily="34" charset="0"/>
                  </a:rPr>
                  <a:t>Путь должен начинаться в</a:t>
                </a:r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и заканчиваться в</a:t>
                </a:r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.</a:t>
                </a:r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Это гарантирует, что весь ряд используется при выравнивании.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latin typeface="Aptos" panose="020B0004020202020204" pitchFamily="34" charset="0"/>
                  </a:rPr>
                  <a:t>   2. </a:t>
                </a:r>
                <a:r>
                  <a:rPr lang="ru-RU" sz="1600" b="1" dirty="0">
                    <a:latin typeface="Aptos" panose="020B0004020202020204" pitchFamily="34" charset="0"/>
                  </a:rPr>
                  <a:t>Монотонность (</a:t>
                </a:r>
                <a:r>
                  <a:rPr lang="en-US" sz="1600" b="1" dirty="0">
                    <a:latin typeface="Aptos" panose="020B0004020202020204" pitchFamily="34" charset="0"/>
                  </a:rPr>
                  <a:t>monotonicity)</a:t>
                </a:r>
                <a:br>
                  <a:rPr lang="en-US" sz="1600" dirty="0">
                    <a:latin typeface="Aptos" panose="020B0004020202020204" pitchFamily="34" charset="0"/>
                  </a:rPr>
                </a:br>
                <a:r>
                  <a:rPr lang="en-US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dirty="0">
                    <a:latin typeface="Aptos" panose="020B0004020202020204" pitchFamily="34" charset="0"/>
                  </a:rPr>
                  <a:t>Индексы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и</a:t>
                </a:r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не убывают: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ar-AE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dirty="0">
                    <a:latin typeface="Aptos" panose="020B0004020202020204" pitchFamily="34" charset="0"/>
                  </a:rPr>
                  <a:t>Время не идёт назад — нельзя сопоставить будущую точку с прошлой.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latin typeface="Aptos" panose="020B0004020202020204" pitchFamily="34" charset="0"/>
                  </a:rPr>
                  <a:t> 3.</a:t>
                </a:r>
                <a:r>
                  <a:rPr lang="ru-RU" sz="1600" b="1" dirty="0">
                    <a:latin typeface="Aptos" panose="020B0004020202020204" pitchFamily="34" charset="0"/>
                  </a:rPr>
                  <a:t>Непрерывность (</a:t>
                </a:r>
                <a:r>
                  <a:rPr lang="en-US" sz="1600" b="1" dirty="0">
                    <a:latin typeface="Aptos" panose="020B0004020202020204" pitchFamily="34" charset="0"/>
                  </a:rPr>
                  <a:t>continuity)</a:t>
                </a:r>
                <a:br>
                  <a:rPr lang="en-US" sz="1600" dirty="0">
                    <a:latin typeface="Aptos" panose="020B0004020202020204" pitchFamily="34" charset="0"/>
                  </a:rPr>
                </a:br>
                <a:r>
                  <a:rPr lang="en-US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dirty="0">
                    <a:latin typeface="Aptos" panose="020B0004020202020204" pitchFamily="34" charset="0"/>
                  </a:rPr>
                  <a:t>Переходы между соседними точками пути ограничены: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 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lit/>
                        </m:rPr>
                        <a:rPr lang="en-US" sz="16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 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, 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 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, 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 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lit/>
                        </m:rPr>
                        <a:rPr lang="en-US" sz="1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dirty="0">
                    <a:latin typeface="Aptos" panose="020B0004020202020204" pitchFamily="34" charset="0"/>
                  </a:rPr>
                  <a:t>Путь не может «перепрыгивать» через точки, обеспечивая корректное выравнивание.</a:t>
                </a: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Временные ограничения: окно выравнивания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Классический </a:t>
                </a:r>
                <a:r>
                  <a:rPr lang="en-US" sz="1600" dirty="0">
                    <a:latin typeface="Aptos" panose="020B0004020202020204" pitchFamily="34" charset="0"/>
                  </a:rPr>
                  <a:t>DTW </a:t>
                </a:r>
                <a:r>
                  <a:rPr lang="ru-RU" sz="1600" dirty="0">
                    <a:latin typeface="Aptos" panose="020B0004020202020204" pitchFamily="34" charset="0"/>
                  </a:rPr>
                  <a:t>имеет вычислительную сложность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ar-AE" sz="1600" dirty="0">
                    <a:latin typeface="Aptos" panose="020B0004020202020204" pitchFamily="34" charset="0"/>
                  </a:rPr>
                  <a:t>, </a:t>
                </a:r>
                <a:r>
                  <a:rPr lang="ru-RU" sz="1600" dirty="0">
                    <a:latin typeface="Aptos" panose="020B0004020202020204" pitchFamily="34" charset="0"/>
                  </a:rPr>
                  <a:t>что может быть дорого при больших длинах рядов. Кроме того, слишком «свободное» выравнивание может сопоставлять совершенно несвязанные части рядов.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Поэтому вводят </a:t>
                </a:r>
                <a:r>
                  <a:rPr lang="ru-RU" sz="1600" b="1" dirty="0">
                    <a:latin typeface="Aptos" panose="020B0004020202020204" pitchFamily="34" charset="0"/>
                  </a:rPr>
                  <a:t>окно выравнивания</a:t>
                </a:r>
                <a:r>
                  <a:rPr lang="ru-RU" sz="1600" dirty="0">
                    <a:latin typeface="Aptos" panose="020B0004020202020204" pitchFamily="34" charset="0"/>
                  </a:rPr>
                  <a:t> (например, окно </a:t>
                </a:r>
                <a:r>
                  <a:rPr lang="en-US" sz="1600" dirty="0" err="1">
                    <a:latin typeface="Aptos" panose="020B0004020202020204" pitchFamily="34" charset="0"/>
                  </a:rPr>
                  <a:t>Sakoe</a:t>
                </a:r>
                <a:r>
                  <a:rPr lang="en-US" sz="1600" dirty="0">
                    <a:latin typeface="Aptos" panose="020B0004020202020204" pitchFamily="34" charset="0"/>
                  </a:rPr>
                  <a:t>–Chiba), </a:t>
                </a:r>
                <a:r>
                  <a:rPr lang="ru-RU" sz="1600" dirty="0">
                    <a:latin typeface="Aptos" panose="020B0004020202020204" pitchFamily="34" charset="0"/>
                  </a:rPr>
                  <a:t>ограничивающее допустимое отклонение индексов: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— ширина окна.</a:t>
                </a: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Эффект окна:</a:t>
                </a:r>
                <a:endParaRPr lang="ru-RU" sz="1600" dirty="0">
                  <a:latin typeface="Aptos" panose="020B0004020202020204" pitchFamily="34" charset="0"/>
                </a:endParaRP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снижает вычислительную сложность;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препятствует «патологическим» выравниваниям (когда один короткий участок растягивается на весь ряд);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заставляет путь держаться около диагонали, предполагая приблизительное совпадение временных масштабов.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14F6481-2E39-7DFB-C1D4-4318FB4CB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  <a:blipFill>
                <a:blip r:embed="rId2"/>
                <a:stretch>
                  <a:fillRect l="-174" t="-10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608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7A2E7-2CD8-B246-7894-76FDA1B2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5BECF-BC9C-98B2-10E9-15367F20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A31B8D-73D6-9A83-8D47-C55679260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Преимущества DTW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Инвариантность к сдвигам по времени и растяжению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По форме похожие паттерны считаются близкими, даже если немного «съехали» во времени.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Гибкость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Может использовать разные локальные метрики (квадратичное, абсолютное отклонение и т.п.).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Хорошо подходит для кластеризации временных паттернов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Можно строить DTW-матрицу расстояний между сегментами и применять K-</a:t>
                </a:r>
                <a:r>
                  <a:rPr lang="ru-RU" sz="1600" dirty="0" err="1">
                    <a:latin typeface="Aptos" panose="020B0004020202020204" pitchFamily="34" charset="0"/>
                  </a:rPr>
                  <a:t>Means</a:t>
                </a:r>
                <a:r>
                  <a:rPr lang="ru-RU" sz="1600" dirty="0">
                    <a:latin typeface="Aptos" panose="020B0004020202020204" pitchFamily="34" charset="0"/>
                  </a:rPr>
                  <a:t>, иерархическую кластеризацию и др.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Устойчивость к небольшим нерегулярностям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DTW «подгоняет» форму одного ряда под форму другого, сглаживая небольшие локальные смещения.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</a:t>
                </a:r>
                <a:r>
                  <a:rPr lang="ru-RU" sz="1600" b="1" dirty="0">
                    <a:latin typeface="Aptos" panose="020B0004020202020204" pitchFamily="34" charset="0"/>
                  </a:rPr>
                  <a:t>Недостатки и ограничения </a:t>
                </a:r>
                <a:r>
                  <a:rPr lang="en-US" sz="1600" b="1" dirty="0">
                    <a:latin typeface="Aptos" panose="020B0004020202020204" pitchFamily="34" charset="0"/>
                  </a:rPr>
                  <a:t>DTW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Высокая вычислительная сложность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Базовый </a:t>
                </a:r>
                <a:r>
                  <a:rPr lang="en-US" sz="1600" dirty="0">
                    <a:latin typeface="Aptos" panose="020B0004020202020204" pitchFamily="34" charset="0"/>
                  </a:rPr>
                  <a:t>DTW —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600" dirty="0">
                    <a:latin typeface="Aptos" panose="020B0004020202020204" pitchFamily="34" charset="0"/>
                  </a:rPr>
                  <a:t>.</a:t>
                </a:r>
                <a:r>
                  <a:rPr lang="ar-AE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</a:rPr>
                  <a:t>При большом числе сегментов и большой длине рядов это становится проблемой.</a:t>
                </a:r>
              </a:p>
              <a:p>
                <a:r>
                  <a:rPr lang="ru-RU" sz="1600" b="1" dirty="0" err="1">
                    <a:latin typeface="Aptos" panose="020B0004020202020204" pitchFamily="34" charset="0"/>
                  </a:rPr>
                  <a:t>Перенапасовка</a:t>
                </a:r>
                <a:r>
                  <a:rPr lang="ru-RU" sz="1600" b="1" dirty="0">
                    <a:latin typeface="Aptos" panose="020B0004020202020204" pitchFamily="34" charset="0"/>
                  </a:rPr>
                  <a:t> (</a:t>
                </a:r>
                <a:r>
                  <a:rPr lang="en-US" sz="1600" b="1" dirty="0">
                    <a:latin typeface="Aptos" panose="020B0004020202020204" pitchFamily="34" charset="0"/>
                  </a:rPr>
                  <a:t>over-alignment)</a:t>
                </a:r>
                <a:br>
                  <a:rPr lang="en-US" sz="1600" dirty="0">
                    <a:latin typeface="Aptos" panose="020B0004020202020204" pitchFamily="34" charset="0"/>
                  </a:rPr>
                </a:br>
                <a:r>
                  <a:rPr lang="en-US" sz="1600" dirty="0">
                    <a:latin typeface="Aptos" panose="020B0004020202020204" pitchFamily="34" charset="0"/>
                  </a:rPr>
                  <a:t>DTW </a:t>
                </a:r>
                <a:r>
                  <a:rPr lang="ru-RU" sz="1600" dirty="0">
                    <a:latin typeface="Aptos" panose="020B0004020202020204" pitchFamily="34" charset="0"/>
                  </a:rPr>
                  <a:t>может «слишком сильно» выравнять ряды, делая похожими паттерны, которые на самом деле относятся к разным режимам поведения.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Чувствительность к масштабам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Если ряды различаются по амплитуде, </a:t>
                </a:r>
                <a:r>
                  <a:rPr lang="en-US" sz="1600" dirty="0">
                    <a:latin typeface="Aptos" panose="020B0004020202020204" pitchFamily="34" charset="0"/>
                  </a:rPr>
                  <a:t>DTW-</a:t>
                </a:r>
                <a:r>
                  <a:rPr lang="ru-RU" sz="1600" dirty="0">
                    <a:latin typeface="Aptos" panose="020B0004020202020204" pitchFamily="34" charset="0"/>
                  </a:rPr>
                  <a:t>масштабирование нужно дополнять нормализацией (</a:t>
                </a:r>
                <a:r>
                  <a:rPr lang="en-US" sz="1600" dirty="0">
                    <a:latin typeface="Aptos" panose="020B0004020202020204" pitchFamily="34" charset="0"/>
                  </a:rPr>
                  <a:t>z-score, min-max </a:t>
                </a:r>
                <a:r>
                  <a:rPr lang="ru-RU" sz="1600" dirty="0">
                    <a:latin typeface="Aptos" panose="020B0004020202020204" pitchFamily="34" charset="0"/>
                  </a:rPr>
                  <a:t>и т.д.).</a:t>
                </a:r>
              </a:p>
              <a:p>
                <a:r>
                  <a:rPr lang="ru-RU" sz="1600" b="1" dirty="0">
                    <a:latin typeface="Aptos" panose="020B0004020202020204" pitchFamily="34" charset="0"/>
                  </a:rPr>
                  <a:t>Зависимость от выбора окна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Слишком узкое окно → не удаётся выровнять сдвинутые паттерны.</a:t>
                </a:r>
                <a:br>
                  <a:rPr lang="ru-RU" sz="1600" dirty="0">
                    <a:latin typeface="Aptos" panose="020B0004020202020204" pitchFamily="34" charset="0"/>
                  </a:rPr>
                </a:br>
                <a:r>
                  <a:rPr lang="ru-RU" sz="1600" dirty="0">
                    <a:latin typeface="Aptos" panose="020B0004020202020204" pitchFamily="34" charset="0"/>
                  </a:rPr>
                  <a:t>Слишком широкое → риск некорректных сопоставлений и рост вычислительной нагрузки.</a:t>
                </a: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A31B8D-73D6-9A83-8D47-C55679260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  <a:blipFill>
                <a:blip r:embed="rId2"/>
                <a:stretch>
                  <a:fillRect l="-174" t="-742" r="-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425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7DC93-BB88-398A-9E8C-BE8D5EFE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20F3F-466A-9584-8A99-EC35ADCF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82AC0F2-CA98-1FF8-CF5C-3D19AADD65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2859"/>
                <a:ext cx="5916561" cy="575274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Евклидово расстояние (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Euclidean</a:t>
                </a:r>
                <a:r>
                  <a:rPr lang="ru-RU" sz="2000" b="1" dirty="0">
                    <a:latin typeface="Aptos" panose="020B0004020202020204" pitchFamily="34" charset="0"/>
                  </a:rPr>
                  <a:t> 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Distance</a:t>
                </a:r>
                <a:r>
                  <a:rPr lang="ru-RU" sz="2000" b="1" dirty="0">
                    <a:latin typeface="Aptos" panose="020B0004020202020204" pitchFamily="34" charset="0"/>
                  </a:rPr>
                  <a:t>)</a:t>
                </a:r>
                <a:r>
                  <a:rPr lang="ru-RU" sz="2000" dirty="0">
                    <a:latin typeface="Aptos" panose="020B0004020202020204" pitchFamily="34" charset="0"/>
                  </a:rPr>
                  <a:t> — одна из самых простых и распространённых метрик схожести, которая широко используется в машинном обучении и статистике. Несмотря на ограниченность, она остаётся важным базовым инструментом для сравнения временных рядов, особенно в задачах, где нет существенных временных деформаций.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Формальное определение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Пусть заданы два временных ряда одинаковой длины: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Тогда </a:t>
                </a:r>
                <a:r>
                  <a:rPr lang="ru-RU" sz="2000" b="1" dirty="0">
                    <a:latin typeface="Aptos" panose="020B0004020202020204" pitchFamily="34" charset="0"/>
                  </a:rPr>
                  <a:t>евклидово расстояние</a:t>
                </a:r>
                <a:r>
                  <a:rPr lang="ru-RU" sz="2000" dirty="0">
                    <a:latin typeface="Aptos" panose="020B0004020202020204" pitchFamily="34" charset="0"/>
                  </a:rPr>
                  <a:t> между ними определяется как: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Это классическая метрика расстояния между двумя точками в пространстве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ar-AE" sz="2000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Иногда используется нормированная версия: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000" i="0">
                              <a:latin typeface="Aptos" panose="020B0004020202020204" pitchFamily="34" charset="0"/>
                            </a:rPr>
                            <m:t>norm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82AC0F2-CA98-1FF8-CF5C-3D19AADD65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2859"/>
                <a:ext cx="5916561" cy="5752741"/>
              </a:xfrm>
              <a:blipFill>
                <a:blip r:embed="rId2"/>
                <a:stretch>
                  <a:fillRect l="-722" t="-953" r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2A650F-07E2-66DE-0199-2B8D38AA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94"/>
          <a:stretch>
            <a:fillRect/>
          </a:stretch>
        </p:blipFill>
        <p:spPr>
          <a:xfrm>
            <a:off x="6754761" y="1991032"/>
            <a:ext cx="4837593" cy="33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18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1A5B-6CF0-8F5E-0B14-B8EA4AAE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9410F-1B70-C055-7643-B0E8DFCF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10A46-C146-0077-BE9C-733E6BECD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Интуитивная интерпретация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Евклидово расстояние: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напрямую сравнивает каждую пару значений в один и тот же момент времени;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оценивает различие между значениями, но </a:t>
                </a:r>
                <a:r>
                  <a:rPr lang="ru-RU" sz="2000" b="1" dirty="0">
                    <a:latin typeface="Aptos" panose="020B0004020202020204" pitchFamily="34" charset="0"/>
                  </a:rPr>
                  <a:t>не форму паттерна</a:t>
                </a:r>
                <a:r>
                  <a:rPr lang="ru-RU" sz="2000" dirty="0">
                    <a:latin typeface="Aptos" panose="020B0004020202020204" pitchFamily="34" charset="0"/>
                  </a:rPr>
                  <a:t>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чувствительно к сдвигам, растяжениям и разнице амплитуд.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Пример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Если два временных ряда имеют одинаковую форму (например, одинаковый суточный профиль нагрузки), но один пик наступает в 18:00, а другой — в 19:00, </a:t>
                </a:r>
                <a:r>
                  <a:rPr lang="ru-RU" sz="2000" dirty="0" err="1">
                    <a:latin typeface="Aptos" panose="020B0004020202020204" pitchFamily="34" charset="0"/>
                  </a:rPr>
                  <a:t>Euclidean</a:t>
                </a:r>
                <a:r>
                  <a:rPr lang="ru-RU" sz="2000" dirty="0">
                    <a:latin typeface="Aptos" panose="020B0004020202020204" pitchFamily="34" charset="0"/>
                  </a:rPr>
                  <a:t> </a:t>
                </a:r>
                <a:r>
                  <a:rPr lang="ru-RU" sz="2000" dirty="0" err="1">
                    <a:latin typeface="Aptos" panose="020B0004020202020204" pitchFamily="34" charset="0"/>
                  </a:rPr>
                  <a:t>distance</a:t>
                </a:r>
                <a:r>
                  <a:rPr lang="ru-RU" sz="2000" dirty="0">
                    <a:latin typeface="Aptos" panose="020B0004020202020204" pitchFamily="34" charset="0"/>
                  </a:rPr>
                  <a:t> будет </a:t>
                </a:r>
                <a:r>
                  <a:rPr lang="ru-RU" sz="2000" i="1" dirty="0">
                    <a:latin typeface="Aptos" panose="020B0004020202020204" pitchFamily="34" charset="0"/>
                  </a:rPr>
                  <a:t>большим</a:t>
                </a:r>
                <a:r>
                  <a:rPr lang="ru-RU" sz="2000" dirty="0">
                    <a:latin typeface="Aptos" panose="020B0004020202020204" pitchFamily="34" charset="0"/>
                  </a:rPr>
                  <a:t>, хотя формы очень похожи.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</a:t>
                </a:r>
                <a:r>
                  <a:rPr lang="ru-RU" sz="2000" b="1" dirty="0">
                    <a:latin typeface="Aptos" panose="020B0004020202020204" pitchFamily="34" charset="0"/>
                  </a:rPr>
                  <a:t>Преимущества </a:t>
                </a:r>
                <a:r>
                  <a:rPr lang="en-US" sz="2000" b="1" dirty="0">
                    <a:latin typeface="Aptos" panose="020B0004020202020204" pitchFamily="34" charset="0"/>
                  </a:rPr>
                  <a:t>Euclidean Distance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Несмотря на простоту, метрика полезна и широко применяется: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1. Низкая вычислительная сложность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ar-AE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Работает очень быстро, что важно для анализа больших массивов данных.</a:t>
                </a:r>
              </a:p>
              <a:p>
                <a:pPr marL="0" indent="0">
                  <a:buNone/>
                </a:pPr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10A46-C146-0077-BE9C-733E6BECD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2859"/>
                <a:ext cx="10515600" cy="5752741"/>
              </a:xfrm>
              <a:blipFill>
                <a:blip r:embed="rId2"/>
                <a:stretch>
                  <a:fillRect l="-638" t="-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595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B827-695F-177D-2C2B-3C542BCC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CF052-F370-F7A0-2FFE-17C674FB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Метрики схожести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76369-922A-1650-3ACA-8B7C9695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752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>
                <a:latin typeface="Aptos" panose="020B0004020202020204" pitchFamily="34" charset="0"/>
              </a:rPr>
              <a:t>   2. Хорошо работает с выровненными рядами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Если ряды имеют:</a:t>
            </a:r>
          </a:p>
          <a:p>
            <a:r>
              <a:rPr lang="ru-RU" sz="2000" dirty="0">
                <a:latin typeface="Aptos" panose="020B0004020202020204" pitchFamily="34" charset="0"/>
              </a:rPr>
              <a:t>одинаковую длину,</a:t>
            </a:r>
          </a:p>
          <a:p>
            <a:r>
              <a:rPr lang="ru-RU" sz="2000" dirty="0">
                <a:latin typeface="Aptos" panose="020B0004020202020204" pitchFamily="34" charset="0"/>
              </a:rPr>
              <a:t>отсутствие временных сдвигов,</a:t>
            </a:r>
          </a:p>
          <a:p>
            <a:r>
              <a:rPr lang="ru-RU" sz="2000" dirty="0">
                <a:latin typeface="Aptos" panose="020B0004020202020204" pitchFamily="34" charset="0"/>
              </a:rPr>
              <a:t>приблизительно одинаковую амплитуду,</a:t>
            </a:r>
          </a:p>
          <a:p>
            <a:r>
              <a:rPr lang="ru-RU" sz="2000" dirty="0">
                <a:latin typeface="Aptos" panose="020B0004020202020204" pitchFamily="34" charset="0"/>
              </a:rPr>
              <a:t>то </a:t>
            </a:r>
            <a:r>
              <a:rPr lang="ru-RU" sz="2000" dirty="0" err="1">
                <a:latin typeface="Aptos" panose="020B0004020202020204" pitchFamily="34" charset="0"/>
              </a:rPr>
              <a:t>Euclidean</a:t>
            </a:r>
            <a:r>
              <a:rPr lang="ru-RU" sz="2000" dirty="0">
                <a:latin typeface="Aptos" panose="020B0004020202020204" pitchFamily="34" charset="0"/>
              </a:rPr>
              <a:t> даёт разумную оценку.</a:t>
            </a:r>
          </a:p>
          <a:p>
            <a:pPr marL="0" indent="0">
              <a:buNone/>
            </a:pPr>
            <a:r>
              <a:rPr lang="ru-RU" sz="2000" b="1" dirty="0">
                <a:latin typeface="Aptos" panose="020B0004020202020204" pitchFamily="34" charset="0"/>
              </a:rPr>
              <a:t>   3. Простота интерпретации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Расстояние легко понять интуитивно.</a:t>
            </a:r>
          </a:p>
          <a:p>
            <a:pPr marL="0" indent="0">
              <a:buNone/>
            </a:pPr>
            <a:r>
              <a:rPr lang="ru-RU" sz="2000" b="1" dirty="0">
                <a:latin typeface="Aptos" panose="020B0004020202020204" pitchFamily="34" charset="0"/>
              </a:rPr>
              <a:t>   4. Используется в базовых алгоритмах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Например:</a:t>
            </a:r>
          </a:p>
          <a:p>
            <a:r>
              <a:rPr lang="ru-RU" sz="2000" dirty="0">
                <a:latin typeface="Aptos" panose="020B0004020202020204" pitchFamily="34" charset="0"/>
              </a:rPr>
              <a:t>K-</a:t>
            </a:r>
            <a:r>
              <a:rPr lang="ru-RU" sz="2000" dirty="0" err="1">
                <a:latin typeface="Aptos" panose="020B0004020202020204" pitchFamily="34" charset="0"/>
              </a:rPr>
              <a:t>Means</a:t>
            </a:r>
            <a:r>
              <a:rPr lang="ru-RU" sz="2000" dirty="0">
                <a:latin typeface="Aptos" panose="020B0004020202020204" pitchFamily="34" charset="0"/>
              </a:rPr>
              <a:t> в классическом виде,</a:t>
            </a:r>
          </a:p>
          <a:p>
            <a:r>
              <a:rPr lang="ru-RU" sz="2000" dirty="0">
                <a:latin typeface="Aptos" panose="020B0004020202020204" pitchFamily="34" charset="0"/>
              </a:rPr>
              <a:t>поиск ближайших соседей (k-NN),</a:t>
            </a:r>
          </a:p>
          <a:p>
            <a:r>
              <a:rPr lang="ru-RU" sz="2000" dirty="0">
                <a:latin typeface="Aptos" panose="020B0004020202020204" pitchFamily="34" charset="0"/>
              </a:rPr>
              <a:t>анализ аномалий в упрощённых моделях.</a:t>
            </a:r>
          </a:p>
          <a:p>
            <a:pPr marL="0" indent="0">
              <a:buNone/>
            </a:pPr>
            <a:endParaRPr lang="ru-RU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711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C1EC-D211-A7C7-8F25-8B6D0AAC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Метрики схожести временных рядов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BE5E8-AD7B-BB94-9355-C7BD8E6E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   Ограничения и недостатки </a:t>
            </a:r>
            <a:r>
              <a:rPr lang="ru-RU" b="1" dirty="0" err="1">
                <a:latin typeface="Aptos" panose="020B0004020202020204" pitchFamily="34" charset="0"/>
              </a:rPr>
              <a:t>Euclidean</a:t>
            </a:r>
            <a:r>
              <a:rPr lang="ru-RU" b="1" dirty="0">
                <a:latin typeface="Aptos" panose="020B0004020202020204" pitchFamily="34" charset="0"/>
              </a:rPr>
              <a:t> </a:t>
            </a:r>
            <a:r>
              <a:rPr lang="ru-RU" b="1" dirty="0" err="1">
                <a:latin typeface="Aptos" panose="020B0004020202020204" pitchFamily="34" charset="0"/>
              </a:rPr>
              <a:t>Distance</a:t>
            </a:r>
            <a:endParaRPr lang="ru-RU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</a:t>
            </a:r>
            <a:r>
              <a:rPr lang="ru-RU" dirty="0" err="1">
                <a:latin typeface="Aptos" panose="020B0004020202020204" pitchFamily="34" charset="0"/>
              </a:rPr>
              <a:t>Euclidean</a:t>
            </a:r>
            <a:r>
              <a:rPr lang="ru-RU" dirty="0">
                <a:latin typeface="Aptos" panose="020B0004020202020204" pitchFamily="34" charset="0"/>
              </a:rPr>
              <a:t> </a:t>
            </a:r>
            <a:r>
              <a:rPr lang="ru-RU" dirty="0" err="1">
                <a:latin typeface="Aptos" panose="020B0004020202020204" pitchFamily="34" charset="0"/>
              </a:rPr>
              <a:t>Distance</a:t>
            </a:r>
            <a:r>
              <a:rPr lang="ru-RU" dirty="0">
                <a:latin typeface="Aptos" panose="020B0004020202020204" pitchFamily="34" charset="0"/>
              </a:rPr>
              <a:t> </a:t>
            </a:r>
            <a:r>
              <a:rPr lang="ru-RU" b="1" dirty="0">
                <a:latin typeface="Aptos" panose="020B0004020202020204" pitchFamily="34" charset="0"/>
              </a:rPr>
              <a:t>не учитывает временную структуру</a:t>
            </a:r>
            <a:r>
              <a:rPr lang="ru-RU" dirty="0">
                <a:latin typeface="Aptos" panose="020B0004020202020204" pitchFamily="34" charset="0"/>
              </a:rPr>
              <a:t>, из-за чего часто оказывается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недостаточным для анализа реальных временных рядов.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1. Чувствительность к сдвигам по времени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Если паттерн немного смещён (пик наступает раньше/позже), значение расстояния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увеличивается.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2. Чувствительность к растяжению/сжатию временной оси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Два одинаковых паттерна разной длительности будут считаться «далёкими».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3. Требование одинаковой длины рядов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Если длины различаются, либо: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ряды нужно обрезать,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интерполировать,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дополнять нулями или средними значениями.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Любой из этих подходов искажает данные.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4. Чувствительность к масштабу значений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Одни и те же паттерны, но с разными амплитудами (например, высокий и низкий спрос) дают большое расстояние.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5. Неустойчивость к выбросам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Один резкий всплеск увеличивает расстояние в разы.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98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0C6AC9-2DF0-40C0-E354-52DEC921F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89346"/>
              </p:ext>
            </p:extLst>
          </p:nvPr>
        </p:nvGraphicFramePr>
        <p:xfrm>
          <a:off x="541528" y="437556"/>
          <a:ext cx="10979913" cy="59828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9971">
                  <a:extLst>
                    <a:ext uri="{9D8B030D-6E8A-4147-A177-3AD203B41FA5}">
                      <a16:colId xmlns:a16="http://schemas.microsoft.com/office/drawing/2014/main" val="4193283903"/>
                    </a:ext>
                  </a:extLst>
                </a:gridCol>
                <a:gridCol w="3659971">
                  <a:extLst>
                    <a:ext uri="{9D8B030D-6E8A-4147-A177-3AD203B41FA5}">
                      <a16:colId xmlns:a16="http://schemas.microsoft.com/office/drawing/2014/main" val="3710296650"/>
                    </a:ext>
                  </a:extLst>
                </a:gridCol>
                <a:gridCol w="3659971">
                  <a:extLst>
                    <a:ext uri="{9D8B030D-6E8A-4147-A177-3AD203B41FA5}">
                      <a16:colId xmlns:a16="http://schemas.microsoft.com/office/drawing/2014/main" val="556051"/>
                    </a:ext>
                  </a:extLst>
                </a:gridCol>
              </a:tblGrid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Характеристика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latin typeface="Aptos" panose="020B0004020202020204" pitchFamily="34" charset="0"/>
                        </a:rPr>
                        <a:t>Euclidean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latin typeface="Aptos" panose="020B0004020202020204" pitchFamily="34" charset="0"/>
                        </a:rPr>
                        <a:t>DTW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451221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Учитывает временные деформации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997748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Чувствителен к сдвигам по времени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Да</a:t>
                      </a:r>
                      <a:endParaRPr lang="en-GB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Нет</a:t>
                      </a:r>
                      <a:endParaRPr lang="en-GB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041006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Допускает разные длины рядов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Нет</a:t>
                      </a:r>
                      <a:endParaRPr lang="en-GB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Да</a:t>
                      </a:r>
                      <a:endParaRPr lang="en-GB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734148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Скорость вычислений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Очень 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Средняя / низкая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03795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Требует нормализации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Желательно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Часто обязательно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564352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Подходит для кластеризации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Только при выровненных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Отлично подходит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263138"/>
                  </a:ext>
                </a:extLst>
              </a:tr>
              <a:tr h="747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Устойчивость к шуму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Низкая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Средняя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71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414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643D-CB55-A1CF-2BDB-DFEF875B2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</a:t>
            </a:r>
            <a:r>
              <a:rPr lang="ru-RU" b="1" dirty="0">
                <a:latin typeface="Aptos" panose="020B0004020202020204" pitchFamily="34" charset="0"/>
              </a:rPr>
              <a:t>Кластеризация</a:t>
            </a:r>
            <a:r>
              <a:rPr lang="ru-RU" dirty="0">
                <a:latin typeface="Aptos" panose="020B0004020202020204" pitchFamily="34" charset="0"/>
              </a:rPr>
              <a:t> является одним из ключевых инструментов интеллектуального анализа данных, позволяющим автоматически группировать объекты по степени их схожести. В контексте временных рядов объектами чаще всего являются сегменты ряда, выделенные ранее на основе тренда, сезонности и волатильности.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Цель кластеризации — выявить повторяющиеся паттерны поведения, которые проявляются в разные периоды времени или в различных наблюдаемых процессах.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В отличие от обычных многомерных данных, временные ряды обладают уникальными особенностями:</a:t>
            </a:r>
          </a:p>
          <a:p>
            <a:r>
              <a:rPr lang="ru-RU" dirty="0">
                <a:latin typeface="Aptos" panose="020B0004020202020204" pitchFamily="34" charset="0"/>
              </a:rPr>
              <a:t>наличие временной упорядоченности;</a:t>
            </a:r>
          </a:p>
          <a:p>
            <a:r>
              <a:rPr lang="ru-RU" dirty="0">
                <a:latin typeface="Aptos" panose="020B0004020202020204" pitchFamily="34" charset="0"/>
              </a:rPr>
              <a:t>повторяющиеся сезонные структуры;</a:t>
            </a:r>
          </a:p>
          <a:p>
            <a:r>
              <a:rPr lang="ru-RU" dirty="0">
                <a:latin typeface="Aptos" panose="020B0004020202020204" pitchFamily="34" charset="0"/>
              </a:rPr>
              <a:t>различная скорость развития событий;</a:t>
            </a:r>
          </a:p>
          <a:p>
            <a:r>
              <a:rPr lang="ru-RU" dirty="0">
                <a:latin typeface="Aptos" panose="020B0004020202020204" pitchFamily="34" charset="0"/>
              </a:rPr>
              <a:t>возможные временные смещения;</a:t>
            </a:r>
          </a:p>
          <a:p>
            <a:r>
              <a:rPr lang="ru-RU" dirty="0">
                <a:latin typeface="Aptos" panose="020B0004020202020204" pitchFamily="34" charset="0"/>
              </a:rPr>
              <a:t>большая роль формы сигнала, а не отдельных точек.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Поэтому классические алгоритмы (например, 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) не могут применяться напрямую к необработанным временным рядам. Требуется модификация алгоритмов и использование специализированных метрик (например, DTW).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A35CFB9-9B15-7474-8EA9-7C8F927D5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1392154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0C46-8FA3-237B-9B1E-D05645E7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57374-2757-9ECC-27C0-32C4C3CFA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   Цели применения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1. </a:t>
            </a:r>
            <a:r>
              <a:rPr lang="ru-RU" b="1" dirty="0">
                <a:latin typeface="Aptos" panose="020B0004020202020204" pitchFamily="34" charset="0"/>
              </a:rPr>
              <a:t>Выявлять группы типичных паттернов поведения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Например, похожие недельные профили энергопотребления.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2. </a:t>
            </a:r>
            <a:r>
              <a:rPr lang="ru-RU" b="1" dirty="0">
                <a:latin typeface="Aptos" panose="020B0004020202020204" pitchFamily="34" charset="0"/>
              </a:rPr>
              <a:t>Понимать внутреннюю структуру процессов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Какие режимы работы присущи системе?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Какие циклы повторяются?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3. </a:t>
            </a:r>
            <a:r>
              <a:rPr lang="ru-RU" b="1" dirty="0">
                <a:latin typeface="Aptos" panose="020B0004020202020204" pitchFamily="34" charset="0"/>
              </a:rPr>
              <a:t>Повышать эффективность прогнозирования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Сегменты из одного кластера могут использоваться для обучения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специализированных моделей.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4. </a:t>
            </a:r>
            <a:r>
              <a:rPr lang="ru-RU" b="1" dirty="0">
                <a:latin typeface="Aptos" panose="020B0004020202020204" pitchFamily="34" charset="0"/>
              </a:rPr>
              <a:t>Обнаруживать аномалии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Аномалии — сегменты, которые не попадают ни в одну из «нормальных» групп.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5. </a:t>
            </a:r>
            <a:r>
              <a:rPr lang="ru-RU" b="1" dirty="0">
                <a:latin typeface="Aptos" panose="020B0004020202020204" pitchFamily="34" charset="0"/>
              </a:rPr>
              <a:t>Уменьшать размерность данных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Большое количество сегментов можно заменить компактным набором кластерных </a:t>
            </a:r>
            <a:r>
              <a:rPr lang="ru-RU" dirty="0" err="1">
                <a:latin typeface="Aptos" panose="020B0004020202020204" pitchFamily="34" charset="0"/>
              </a:rPr>
              <a:t>центроидов</a:t>
            </a:r>
            <a:r>
              <a:rPr lang="ru-RU" dirty="0">
                <a:latin typeface="Aptos" panose="020B0004020202020204" pitchFamily="34" charset="0"/>
              </a:rPr>
              <a:t>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   Кластеризация на основе матриц расстояний</a:t>
            </a:r>
            <a:r>
              <a:rPr lang="en-US" b="1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Из-за особенностей временных рядов прямое применение 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 невозможно, поскольку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 требует измерения расстояния между объектами и </a:t>
            </a:r>
            <a:r>
              <a:rPr lang="ru-RU" dirty="0" err="1">
                <a:latin typeface="Aptos" panose="020B0004020202020204" pitchFamily="34" charset="0"/>
              </a:rPr>
              <a:t>центроидами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ru-RU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b="1" dirty="0" err="1">
                <a:latin typeface="Aptos" panose="020B0004020202020204" pitchFamily="34" charset="0"/>
              </a:rPr>
              <a:t>Центроид</a:t>
            </a:r>
            <a:r>
              <a:rPr lang="ru-RU" dirty="0">
                <a:latin typeface="Aptos" panose="020B0004020202020204" pitchFamily="34" charset="0"/>
              </a:rPr>
              <a:t> — это среднее арифметическое, но среднее временных рядов с разной фазой и скоростью развития не имеет физического смысла.</a:t>
            </a:r>
          </a:p>
          <a:p>
            <a:pPr marL="0" indent="0">
              <a:buNone/>
            </a:pPr>
            <a:endParaRPr lang="ru-RU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Поэтому применяется другой подход:</a:t>
            </a:r>
          </a:p>
          <a:p>
            <a:r>
              <a:rPr lang="ru-RU" dirty="0">
                <a:latin typeface="Aptos" panose="020B0004020202020204" pitchFamily="34" charset="0"/>
              </a:rPr>
              <a:t>Сначала для всех сегментов вычисляется матрица расстояний.</a:t>
            </a:r>
          </a:p>
          <a:p>
            <a:r>
              <a:rPr lang="ru-RU" dirty="0">
                <a:latin typeface="Aptos" panose="020B0004020202020204" pitchFamily="34" charset="0"/>
              </a:rPr>
              <a:t>Затем алгоритм 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 адаптируется под ситуацию, когда расстояния заданы заранее.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Именно в этом месте появляется DTW как основная метрика.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793D4C9-1816-5FB4-3C7B-3262A016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1038171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16EE-2421-8026-C2BC-8D9C3657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04635-C3E2-E3CD-AB6C-4B2D7283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   K-</a:t>
            </a:r>
            <a:r>
              <a:rPr lang="ru-RU" b="1" dirty="0" err="1">
                <a:latin typeface="Aptos" panose="020B0004020202020204" pitchFamily="34" charset="0"/>
              </a:rPr>
              <a:t>Means</a:t>
            </a:r>
            <a:r>
              <a:rPr lang="ru-RU" b="1" dirty="0">
                <a:latin typeface="Aptos" panose="020B0004020202020204" pitchFamily="34" charset="0"/>
              </a:rPr>
              <a:t> на DTW-матрице расстояний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 — один из самых популярных алгоритмов кластеризации.</a:t>
            </a:r>
            <a:br>
              <a:rPr lang="ru-RU" dirty="0">
                <a:latin typeface="Aptos" panose="020B0004020202020204" pitchFamily="34" charset="0"/>
              </a:rPr>
            </a:br>
            <a:r>
              <a:rPr lang="ru-RU" dirty="0">
                <a:latin typeface="Aptos" panose="020B0004020202020204" pitchFamily="34" charset="0"/>
              </a:rPr>
              <a:t>   Однако для временных рядов он не может использоваться в классическом виде, потому что:</a:t>
            </a:r>
          </a:p>
          <a:p>
            <a:r>
              <a:rPr lang="ru-RU" dirty="0">
                <a:latin typeface="Aptos" panose="020B0004020202020204" pitchFamily="34" charset="0"/>
              </a:rPr>
              <a:t>обычный 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 минимизирует сумму квадратов расстояний в евклидовом пространстве;</a:t>
            </a:r>
          </a:p>
          <a:p>
            <a:r>
              <a:rPr lang="ru-RU" dirty="0" err="1">
                <a:latin typeface="Aptos" panose="020B0004020202020204" pitchFamily="34" charset="0"/>
              </a:rPr>
              <a:t>центроид</a:t>
            </a:r>
            <a:r>
              <a:rPr lang="ru-RU" dirty="0">
                <a:latin typeface="Aptos" panose="020B0004020202020204" pitchFamily="34" charset="0"/>
              </a:rPr>
              <a:t> вычисляется как среднее арифметическое объектов;</a:t>
            </a:r>
          </a:p>
          <a:p>
            <a:r>
              <a:rPr lang="ru-RU" dirty="0">
                <a:latin typeface="Aptos" panose="020B0004020202020204" pitchFamily="34" charset="0"/>
              </a:rPr>
              <a:t>временные ряды могут иметь временные деформации (DTW).</a:t>
            </a: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   Поэтому применяется модифицированная версия алгоритма, иногда называемая </a:t>
            </a:r>
            <a:r>
              <a:rPr lang="ru-RU" b="1" dirty="0">
                <a:latin typeface="Aptos" panose="020B0004020202020204" pitchFamily="34" charset="0"/>
              </a:rPr>
              <a:t>K-</a:t>
            </a:r>
            <a:r>
              <a:rPr lang="ru-RU" b="1" dirty="0" err="1">
                <a:latin typeface="Aptos" panose="020B0004020202020204" pitchFamily="34" charset="0"/>
              </a:rPr>
              <a:t>Means</a:t>
            </a:r>
            <a:r>
              <a:rPr lang="ru-RU" b="1" dirty="0">
                <a:latin typeface="Aptos" panose="020B0004020202020204" pitchFamily="34" charset="0"/>
              </a:rPr>
              <a:t>-DTW</a:t>
            </a:r>
            <a:r>
              <a:rPr lang="ru-RU" dirty="0">
                <a:latin typeface="Aptos" panose="020B0004020202020204" pitchFamily="34" charset="0"/>
              </a:rPr>
              <a:t>, </a:t>
            </a:r>
            <a:r>
              <a:rPr lang="ru-RU" b="1" dirty="0">
                <a:latin typeface="Aptos" panose="020B0004020202020204" pitchFamily="34" charset="0"/>
              </a:rPr>
              <a:t>DTW-</a:t>
            </a:r>
            <a:r>
              <a:rPr lang="ru-RU" b="1" dirty="0" err="1">
                <a:latin typeface="Aptos" panose="020B0004020202020204" pitchFamily="34" charset="0"/>
              </a:rPr>
              <a:t>KMeans</a:t>
            </a:r>
            <a:r>
              <a:rPr lang="ru-RU" dirty="0">
                <a:latin typeface="Aptos" panose="020B0004020202020204" pitchFamily="34" charset="0"/>
              </a:rPr>
              <a:t> или </a:t>
            </a:r>
            <a:r>
              <a:rPr lang="ru-RU" b="1" dirty="0">
                <a:latin typeface="Aptos" panose="020B0004020202020204" pitchFamily="34" charset="0"/>
              </a:rPr>
              <a:t>K-</a:t>
            </a:r>
            <a:r>
              <a:rPr lang="ru-RU" b="1" dirty="0" err="1">
                <a:latin typeface="Aptos" panose="020B0004020202020204" pitchFamily="34" charset="0"/>
              </a:rPr>
              <a:t>Medoids</a:t>
            </a:r>
            <a:r>
              <a:rPr lang="ru-RU" b="1" dirty="0">
                <a:latin typeface="Aptos" panose="020B0004020202020204" pitchFamily="34" charset="0"/>
              </a:rPr>
              <a:t>-</a:t>
            </a:r>
            <a:r>
              <a:rPr lang="ru-RU" b="1" dirty="0" err="1">
                <a:latin typeface="Aptos" panose="020B0004020202020204" pitchFamily="34" charset="0"/>
              </a:rPr>
              <a:t>like</a:t>
            </a:r>
            <a:r>
              <a:rPr lang="ru-RU" b="1" dirty="0">
                <a:latin typeface="Aptos" panose="020B0004020202020204" pitchFamily="34" charset="0"/>
              </a:rPr>
              <a:t> </a:t>
            </a:r>
            <a:r>
              <a:rPr lang="ru-RU" b="1" dirty="0" err="1">
                <a:latin typeface="Aptos" panose="020B0004020202020204" pitchFamily="34" charset="0"/>
              </a:rPr>
              <a:t>KMeans</a:t>
            </a:r>
            <a:r>
              <a:rPr lang="ru-RU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23B1D7F-B997-9320-3948-3E76344B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1147305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F17E-AE16-4947-85D3-17484949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26BD4-6AB4-B35C-8AEE-8EFA1F8E2D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b="1" dirty="0">
                    <a:latin typeface="Aptos" panose="020B0004020202020204" pitchFamily="34" charset="0"/>
                  </a:rPr>
                  <a:t>Общая идея алгоритма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</a:t>
                </a:r>
                <a:r>
                  <a:rPr lang="en-GB" dirty="0">
                    <a:latin typeface="Aptos" panose="020B0004020202020204" pitchFamily="34" charset="0"/>
                  </a:rPr>
                  <a:t>K-Means </a:t>
                </a:r>
                <a:r>
                  <a:rPr lang="ru-RU" dirty="0">
                    <a:latin typeface="Aptos" panose="020B0004020202020204" pitchFamily="34" charset="0"/>
                  </a:rPr>
                  <a:t>на </a:t>
                </a:r>
                <a:r>
                  <a:rPr lang="en-GB" dirty="0">
                    <a:latin typeface="Aptos" panose="020B0004020202020204" pitchFamily="34" charset="0"/>
                  </a:rPr>
                  <a:t>DTW-</a:t>
                </a:r>
                <a:r>
                  <a:rPr lang="ru-RU" dirty="0">
                    <a:latin typeface="Aptos" panose="020B0004020202020204" pitchFamily="34" charset="0"/>
                  </a:rPr>
                  <a:t>расстояниях работает следующим образом: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Aptos" panose="020B0004020202020204" pitchFamily="34" charset="0"/>
                  </a:rPr>
                  <a:t>1. </a:t>
                </a:r>
                <a:r>
                  <a:rPr lang="ru-RU" b="1" dirty="0">
                    <a:latin typeface="Aptos" panose="020B0004020202020204" pitchFamily="34" charset="0"/>
                  </a:rPr>
                  <a:t>Вычисляется </a:t>
                </a:r>
                <a:r>
                  <a:rPr lang="en-GB" b="1" dirty="0">
                    <a:latin typeface="Aptos" panose="020B0004020202020204" pitchFamily="34" charset="0"/>
                  </a:rPr>
                  <a:t>DTW-</a:t>
                </a:r>
                <a:r>
                  <a:rPr lang="ru-RU" b="1" dirty="0">
                    <a:latin typeface="Aptos" panose="020B0004020202020204" pitchFamily="34" charset="0"/>
                  </a:rPr>
                  <a:t>матрица расстояний</a:t>
                </a:r>
                <a:r>
                  <a:rPr lang="ru-RU" dirty="0">
                    <a:latin typeface="Aptos" panose="020B0004020202020204" pitchFamily="34" charset="0"/>
                  </a:rPr>
                  <a:t> между всеми сегментами: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𝐷𝑇𝑊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Aptos" panose="020B0004020202020204" pitchFamily="34" charset="0"/>
                  </a:rPr>
                  <a:t>2. </a:t>
                </a:r>
                <a:r>
                  <a:rPr lang="ru-RU" b="1" dirty="0">
                    <a:latin typeface="Aptos" panose="020B0004020202020204" pitchFamily="34" charset="0"/>
                  </a:rPr>
                  <a:t>Выбирается количество кластеров </a:t>
                </a:r>
                <a:r>
                  <a:rPr lang="en-GB" b="1" dirty="0">
                    <a:latin typeface="Aptos" panose="020B0004020202020204" pitchFamily="34" charset="0"/>
                  </a:rPr>
                  <a:t>K</a:t>
                </a:r>
                <a:r>
                  <a:rPr lang="en-GB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Aptos" panose="020B0004020202020204" pitchFamily="34" charset="0"/>
                  </a:rPr>
                  <a:t>3. </a:t>
                </a:r>
                <a:r>
                  <a:rPr lang="ru-RU" b="1" dirty="0">
                    <a:latin typeface="Aptos" panose="020B0004020202020204" pitchFamily="34" charset="0"/>
                  </a:rPr>
                  <a:t>Инициализация </a:t>
                </a:r>
                <a:r>
                  <a:rPr lang="ru-RU" b="1" dirty="0" err="1">
                    <a:latin typeface="Aptos" panose="020B0004020202020204" pitchFamily="34" charset="0"/>
                  </a:rPr>
                  <a:t>центроидов</a:t>
                </a:r>
                <a:r>
                  <a:rPr lang="ru-RU" b="1" dirty="0">
                    <a:latin typeface="Aptos" panose="020B0004020202020204" pitchFamily="34" charset="0"/>
                  </a:rPr>
                  <a:t> кластеров</a:t>
                </a:r>
                <a:br>
                  <a:rPr lang="ru-RU" dirty="0">
                    <a:latin typeface="Aptos" panose="020B0004020202020204" pitchFamily="34" charset="0"/>
                  </a:rPr>
                </a:br>
                <a:r>
                  <a:rPr lang="ru-RU" dirty="0">
                    <a:latin typeface="Aptos" panose="020B0004020202020204" pitchFamily="34" charset="0"/>
                  </a:rPr>
                  <a:t>Так как среднее арифметическое временных рядов не имеет смысла при </a:t>
                </a:r>
                <a:r>
                  <a:rPr lang="en-GB" dirty="0">
                    <a:latin typeface="Aptos" panose="020B0004020202020204" pitchFamily="34" charset="0"/>
                  </a:rPr>
                  <a:t>DTW, </a:t>
                </a:r>
                <a:r>
                  <a:rPr lang="ru-RU" dirty="0" err="1">
                    <a:latin typeface="Aptos" panose="020B0004020202020204" pitchFamily="34" charset="0"/>
                  </a:rPr>
                  <a:t>центроид</a:t>
                </a:r>
                <a:r>
                  <a:rPr lang="ru-RU" dirty="0">
                    <a:latin typeface="Aptos" panose="020B0004020202020204" pitchFamily="34" charset="0"/>
                  </a:rPr>
                  <a:t> определяют иначе</a:t>
                </a:r>
                <a:r>
                  <a:rPr lang="en-US" dirty="0">
                    <a:latin typeface="Aptos" panose="020B0004020202020204" pitchFamily="34" charset="0"/>
                  </a:rPr>
                  <a:t> (</a:t>
                </a:r>
                <a:r>
                  <a:rPr lang="ru-RU" dirty="0">
                    <a:latin typeface="Aptos" panose="020B0004020202020204" pitchFamily="34" charset="0"/>
                  </a:rPr>
                  <a:t>либо выбирают случайный сегмент из набора,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ru-RU" dirty="0">
                    <a:latin typeface="Aptos" panose="020B0004020202020204" pitchFamily="34" charset="0"/>
                  </a:rPr>
                  <a:t>либо используют </a:t>
                </a:r>
                <a:r>
                  <a:rPr lang="ru-RU" dirty="0" err="1">
                    <a:latin typeface="Aptos" panose="020B0004020202020204" pitchFamily="34" charset="0"/>
                  </a:rPr>
                  <a:t>медоид</a:t>
                </a:r>
                <a:r>
                  <a:rPr lang="ru-RU" dirty="0">
                    <a:latin typeface="Aptos" panose="020B0004020202020204" pitchFamily="34" charset="0"/>
                  </a:rPr>
                  <a:t> (ряд, имеющий минимальную сумму расстояний до других рядов в кластере)</a:t>
                </a:r>
                <a:r>
                  <a:rPr lang="en-US" dirty="0">
                    <a:latin typeface="Aptos" panose="020B0004020202020204" pitchFamily="34" charset="0"/>
                  </a:rPr>
                  <a:t>)</a:t>
                </a:r>
                <a:r>
                  <a:rPr lang="ru-RU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Aptos" panose="020B0004020202020204" pitchFamily="34" charset="0"/>
                  </a:rPr>
                  <a:t>4. </a:t>
                </a:r>
                <a:r>
                  <a:rPr lang="ru-RU" b="1" dirty="0">
                    <a:latin typeface="Aptos" panose="020B0004020202020204" pitchFamily="34" charset="0"/>
                  </a:rPr>
                  <a:t>Шаг распределения</a:t>
                </a:r>
                <a:br>
                  <a:rPr lang="ru-RU" dirty="0">
                    <a:latin typeface="Aptos" panose="020B0004020202020204" pitchFamily="34" charset="0"/>
                  </a:rPr>
                </a:br>
                <a:r>
                  <a:rPr lang="ru-RU" dirty="0">
                    <a:latin typeface="Aptos" panose="020B0004020202020204" pitchFamily="34" charset="0"/>
                  </a:rPr>
                  <a:t>Каждый сегмент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Aptos" panose="020B0004020202020204" pitchFamily="34" charset="0"/>
                  </a:rPr>
                  <a:t>назначается в тот кластер, </a:t>
                </a:r>
                <a:r>
                  <a:rPr lang="ru-RU" dirty="0" err="1">
                    <a:latin typeface="Aptos" panose="020B0004020202020204" pitchFamily="34" charset="0"/>
                  </a:rPr>
                  <a:t>центроид</a:t>
                </a:r>
                <a:r>
                  <a:rPr lang="ru-RU" dirty="0">
                    <a:latin typeface="Aptos" panose="020B0004020202020204" pitchFamily="34" charset="0"/>
                  </a:rPr>
                  <a:t> которого (</a:t>
                </a:r>
                <a:r>
                  <a:rPr lang="ru-RU" dirty="0" err="1">
                    <a:latin typeface="Aptos" panose="020B0004020202020204" pitchFamily="34" charset="0"/>
                  </a:rPr>
                  <a:t>медоид</a:t>
                </a:r>
                <a:r>
                  <a:rPr lang="ru-RU" dirty="0">
                    <a:latin typeface="Aptos" panose="020B0004020202020204" pitchFamily="34" charset="0"/>
                  </a:rPr>
                  <a:t>) минимизирует расстояние </a:t>
                </a:r>
                <a:r>
                  <a:rPr lang="en-GB" dirty="0">
                    <a:latin typeface="Aptos" panose="020B0004020202020204" pitchFamily="34" charset="0"/>
                  </a:rPr>
                  <a:t>DTW: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𝑐𝑙𝑢𝑠𝑡𝑒𝑟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 dirty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i="0" dirty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lit/>
                                    </m:r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..</m:t>
                                  </m:r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m:rPr>
                                      <m:lit/>
                                    </m:r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func>
                        </m:e>
                      </m:func>
                      <m:r>
                        <a:rPr lang="it-IT" i="1" dirty="0">
                          <a:latin typeface="Cambria Math" panose="02040503050406030204" pitchFamily="18" charset="0"/>
                        </a:rPr>
                        <m:t>𝑇𝑊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26BD4-6AB4-B35C-8AEE-8EFA1F8E2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1043" t="-2889" r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44D2AB7-6AD0-5D74-A6E2-B5348AE9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3046763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1596-0A0B-18C6-EF25-7AE01754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7006-EA53-AC9C-FCAE-7874CF9A7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b="1" dirty="0">
                    <a:latin typeface="Aptos" panose="020B0004020202020204" pitchFamily="34" charset="0"/>
                  </a:rPr>
                  <a:t>   </a:t>
                </a:r>
                <a:r>
                  <a:rPr lang="en-US" b="1" dirty="0">
                    <a:latin typeface="Aptos" panose="020B0004020202020204" pitchFamily="34" charset="0"/>
                  </a:rPr>
                  <a:t>5. </a:t>
                </a:r>
                <a:r>
                  <a:rPr lang="ru-RU" b="1" dirty="0">
                    <a:latin typeface="Aptos" panose="020B0004020202020204" pitchFamily="34" charset="0"/>
                  </a:rPr>
                  <a:t>Шаг обновления </a:t>
                </a:r>
                <a:r>
                  <a:rPr lang="ru-RU" b="1" dirty="0" err="1">
                    <a:latin typeface="Aptos" panose="020B0004020202020204" pitchFamily="34" charset="0"/>
                  </a:rPr>
                  <a:t>центроидов</a:t>
                </a:r>
                <a:br>
                  <a:rPr lang="ru-RU" dirty="0">
                    <a:latin typeface="Aptos" panose="020B0004020202020204" pitchFamily="34" charset="0"/>
                  </a:rPr>
                </a:br>
                <a:r>
                  <a:rPr lang="ru-RU" dirty="0">
                    <a:latin typeface="Aptos" panose="020B0004020202020204" pitchFamily="34" charset="0"/>
                  </a:rPr>
                  <a:t>   Для каждого кластера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dirty="0">
                    <a:latin typeface="Aptos" panose="020B00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𝑐𝑙𝑢𝑠𝑡𝑒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𝑐𝑙𝑢𝑠𝑡𝑒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𝐷𝑇𝑊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 </m:t>
                      </m:r>
                    </m:oMath>
                  </m:oMathPara>
                </a14:m>
                <a:endParaRPr lang="ar-AE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То есть выбирается </a:t>
                </a:r>
                <a:r>
                  <a:rPr lang="ru-RU" i="1" dirty="0" err="1">
                    <a:latin typeface="Aptos" panose="020B0004020202020204" pitchFamily="34" charset="0"/>
                  </a:rPr>
                  <a:t>медоид</a:t>
                </a:r>
                <a:r>
                  <a:rPr lang="ru-RU" dirty="0">
                    <a:latin typeface="Aptos" panose="020B0004020202020204" pitchFamily="34" charset="0"/>
                  </a:rPr>
                  <a:t> — наиболее представительный сегмент.</a:t>
                </a:r>
              </a:p>
              <a:p>
                <a:pPr marL="0" indent="0">
                  <a:buNone/>
                </a:pPr>
                <a:r>
                  <a:rPr lang="ru-RU" b="1" dirty="0">
                    <a:latin typeface="Aptos" panose="020B0004020202020204" pitchFamily="34" charset="0"/>
                  </a:rPr>
                  <a:t>   </a:t>
                </a:r>
                <a:r>
                  <a:rPr lang="en-US" b="1" dirty="0">
                    <a:latin typeface="Aptos" panose="020B0004020202020204" pitchFamily="34" charset="0"/>
                  </a:rPr>
                  <a:t>6. </a:t>
                </a:r>
                <a:r>
                  <a:rPr lang="ru-RU" b="1" dirty="0">
                    <a:latin typeface="Aptos" panose="020B0004020202020204" pitchFamily="34" charset="0"/>
                  </a:rPr>
                  <a:t>Повторить шаги 4 и 5</a:t>
                </a:r>
                <a:r>
                  <a:rPr lang="ru-RU" dirty="0">
                    <a:latin typeface="Aptos" panose="020B0004020202020204" pitchFamily="34" charset="0"/>
                  </a:rPr>
                  <a:t>, пока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ru-RU" dirty="0">
                    <a:latin typeface="Aptos" panose="020B0004020202020204" pitchFamily="34" charset="0"/>
                  </a:rPr>
                  <a:t>кластеры перестанут меняться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ru-RU" dirty="0">
                    <a:latin typeface="Aptos" panose="020B0004020202020204" pitchFamily="34" charset="0"/>
                  </a:rPr>
                  <a:t>или будет достигнут лимит итераций.</a:t>
                </a:r>
                <a:endParaRPr lang="en-US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i="1" u="sng" dirty="0">
                    <a:latin typeface="Aptos" panose="020B0004020202020204" pitchFamily="34" charset="0"/>
                  </a:rPr>
                  <a:t>   Почему используется </a:t>
                </a:r>
                <a:r>
                  <a:rPr lang="ru-RU" i="1" u="sng" dirty="0" err="1">
                    <a:latin typeface="Aptos" panose="020B0004020202020204" pitchFamily="34" charset="0"/>
                  </a:rPr>
                  <a:t>медоид</a:t>
                </a:r>
                <a:r>
                  <a:rPr lang="ru-RU" i="1" u="sng" dirty="0">
                    <a:latin typeface="Aptos" panose="020B0004020202020204" pitchFamily="34" charset="0"/>
                  </a:rPr>
                  <a:t>, а не среднее?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Среднее арифметическое ряда: нарушает временную структуру, сглаживает пики и изменения, теряет смысл при смещении паттернов.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Например, если два суточных профиля имеют пик в 18:00 и 21:00, их среднее будет иметь пик примерно в 19:30 — которого не существует в реальности.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Поэтому единственный корректный центр кластера — это реальный сегмент ряда, наиболее близкий по DTW к остальным.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7006-EA53-AC9C-FCAE-7874CF9A7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928" t="-2444" b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55899B0-EBF9-FB68-F2B7-72A0F3A6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35519354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C1163-23BC-54AB-A75B-50B9B819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C5EC-F9F1-EE34-550A-E188A67C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i="1" u="sng" dirty="0">
                <a:latin typeface="Aptos" panose="020B0004020202020204" pitchFamily="34" charset="0"/>
              </a:rPr>
              <a:t>   Преимущества </a:t>
            </a:r>
            <a:r>
              <a:rPr lang="en-GB" b="1" i="1" u="sng" dirty="0">
                <a:latin typeface="Aptos" panose="020B0004020202020204" pitchFamily="34" charset="0"/>
              </a:rPr>
              <a:t>K-Means: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1. Успешно выявляет паттерны при временных сдвигах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Если похожие паттерны немного смещены по времени, DTW их корректно выравнивает.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2. Устойчив к различиям в скорости развития событий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Например, два сегмента могут иметь одну форму, но один растягивается, а другой сжимается.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3. Формирует осмысленные кластеры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 err="1">
                <a:latin typeface="Aptos" panose="020B0004020202020204" pitchFamily="34" charset="0"/>
              </a:rPr>
              <a:t>Центроидом</a:t>
            </a:r>
            <a:r>
              <a:rPr lang="ru-RU" dirty="0">
                <a:latin typeface="Aptos" panose="020B0004020202020204" pitchFamily="34" charset="0"/>
              </a:rPr>
              <a:t> является реальный паттерн, что позволяет: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легко интерпретировать результаты;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визуализировать представительные сегменты;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использовать их в прогнозировании.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4. Подходит для анализа сезонности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Например, можно группировать: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недели по характеру потребления энергии,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дни по типичному профилю нагрузки,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сезоны по формам колебаний температуры.</a:t>
            </a:r>
          </a:p>
          <a:p>
            <a:pPr marL="0" indent="0">
              <a:buNone/>
            </a:pPr>
            <a:r>
              <a:rPr lang="ru-RU" b="1" i="1" u="sng" dirty="0">
                <a:latin typeface="Aptos" panose="020B0004020202020204" pitchFamily="34" charset="0"/>
              </a:rPr>
              <a:t>   Ограничения и сложности</a:t>
            </a:r>
            <a:r>
              <a:rPr lang="en-US" b="1" i="1" u="sng" dirty="0">
                <a:latin typeface="Aptos" panose="020B00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1. Высокая вычислительная стоимость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Каждая итерация требует вычислять DTW между большим количеством пар сегментов.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2. Сложность выбора K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Как и в обычном K-</a:t>
            </a:r>
            <a:r>
              <a:rPr lang="ru-RU" dirty="0" err="1">
                <a:latin typeface="Aptos" panose="020B0004020202020204" pitchFamily="34" charset="0"/>
              </a:rPr>
              <a:t>Means</a:t>
            </a:r>
            <a:r>
              <a:rPr lang="ru-RU" dirty="0">
                <a:latin typeface="Aptos" panose="020B0004020202020204" pitchFamily="34" charset="0"/>
              </a:rPr>
              <a:t>, число кластеров нужно выбирать вручную (или методом «локтя»).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3. Возможные эффекты переобучения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Если сегменты слишком короткие или слишком длинные, кластеры становятся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либо слишком чувствительными к шуму,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либо слишком размытыми.</a:t>
            </a:r>
          </a:p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4. Количество итераций может быть большим</a:t>
            </a:r>
            <a:r>
              <a:rPr lang="en-US" b="1" dirty="0">
                <a:latin typeface="Aptos" panose="020B0004020202020204" pitchFamily="34" charset="0"/>
              </a:rPr>
              <a:t>. </a:t>
            </a:r>
            <a:r>
              <a:rPr lang="ru-RU" dirty="0">
                <a:latin typeface="Aptos" panose="020B0004020202020204" pitchFamily="34" charset="0"/>
              </a:rPr>
              <a:t>Особенно при высокой размерности сегментов.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700389D-AABC-CB00-9BA5-F8B1C106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557239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7C68C-22FA-59ED-3244-997D5734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75D1-1530-3428-9CC0-6BD8F8C6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</a:t>
            </a:r>
            <a:r>
              <a:rPr lang="ru-RU" sz="1600" b="1" dirty="0" err="1">
                <a:latin typeface="Aptos" panose="020B0004020202020204" pitchFamily="34" charset="0"/>
              </a:rPr>
              <a:t>Hierarchical</a:t>
            </a:r>
            <a:r>
              <a:rPr lang="ru-RU" sz="1600" b="1" dirty="0">
                <a:latin typeface="Aptos" panose="020B0004020202020204" pitchFamily="34" charset="0"/>
              </a:rPr>
              <a:t> </a:t>
            </a:r>
            <a:r>
              <a:rPr lang="ru-RU" sz="1600" b="1" dirty="0" err="1">
                <a:latin typeface="Aptos" panose="020B0004020202020204" pitchFamily="34" charset="0"/>
              </a:rPr>
              <a:t>Clustering</a:t>
            </a:r>
            <a:r>
              <a:rPr lang="ru-RU" sz="1600" b="1" dirty="0">
                <a:latin typeface="Aptos" panose="020B0004020202020204" pitchFamily="34" charset="0"/>
              </a:rPr>
              <a:t> (</a:t>
            </a:r>
            <a:r>
              <a:rPr lang="ru-RU" sz="1600" b="1" dirty="0" err="1">
                <a:latin typeface="Aptos" panose="020B0004020202020204" pitchFamily="34" charset="0"/>
              </a:rPr>
              <a:t>Агломеративная</a:t>
            </a:r>
            <a:r>
              <a:rPr lang="ru-RU" sz="1600" b="1" dirty="0">
                <a:latin typeface="Aptos" panose="020B0004020202020204" pitchFamily="34" charset="0"/>
              </a:rPr>
              <a:t> иерархическая кластеризация временных рядов)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Иерархическая кластеризация — один из наиболее распространённых методов группировки временных рядов, особенно в задачах, где нужно получить иерархическую структуру сходств или визуализировать степень близости между паттернами. В отличие от K-</a:t>
            </a:r>
            <a:r>
              <a:rPr lang="ru-RU" sz="1600" dirty="0" err="1">
                <a:latin typeface="Aptos" panose="020B0004020202020204" pitchFamily="34" charset="0"/>
              </a:rPr>
              <a:t>Means</a:t>
            </a:r>
            <a:r>
              <a:rPr lang="ru-RU" sz="1600" dirty="0">
                <a:latin typeface="Aptos" panose="020B0004020202020204" pitchFamily="34" charset="0"/>
              </a:rPr>
              <a:t>, этот метод не требует заранее задавать количество кластеров и позволяет исследовать структуру данных на разных уровнях детализации.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Иерархическая кластеризация особенно эффективна при работе с временными рядами, поскольку хорошо сочетается с метриками типа </a:t>
            </a:r>
            <a:r>
              <a:rPr lang="ru-RU" sz="1600" b="1" dirty="0">
                <a:latin typeface="Aptos" panose="020B0004020202020204" pitchFamily="34" charset="0"/>
              </a:rPr>
              <a:t>DTW</a:t>
            </a:r>
            <a:r>
              <a:rPr lang="ru-RU" sz="1600" dirty="0">
                <a:latin typeface="Aptos" panose="020B0004020202020204" pitchFamily="34" charset="0"/>
              </a:rPr>
              <a:t>, учитывающими временную деформацию.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Общая идея </a:t>
            </a:r>
            <a:r>
              <a:rPr lang="ru-RU" sz="1600" b="1" dirty="0" err="1">
                <a:latin typeface="Aptos" panose="020B0004020202020204" pitchFamily="34" charset="0"/>
              </a:rPr>
              <a:t>агломеративной</a:t>
            </a:r>
            <a:r>
              <a:rPr lang="ru-RU" sz="1600" b="1" dirty="0">
                <a:latin typeface="Aptos" panose="020B0004020202020204" pitchFamily="34" charset="0"/>
              </a:rPr>
              <a:t> иерархической кластеризации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</a:t>
            </a:r>
            <a:r>
              <a:rPr lang="ru-RU" sz="1600" dirty="0" err="1">
                <a:latin typeface="Aptos" panose="020B0004020202020204" pitchFamily="34" charset="0"/>
              </a:rPr>
              <a:t>Агломеративная</a:t>
            </a:r>
            <a:r>
              <a:rPr lang="ru-RU" sz="1600" dirty="0">
                <a:latin typeface="Aptos" panose="020B0004020202020204" pitchFamily="34" charset="0"/>
              </a:rPr>
              <a:t> кластеризация работает "снизу вверх":</a:t>
            </a:r>
          </a:p>
          <a:p>
            <a:r>
              <a:rPr lang="ru-RU" sz="1600" dirty="0">
                <a:latin typeface="Aptos" panose="020B0004020202020204" pitchFamily="34" charset="0"/>
              </a:rPr>
              <a:t>каждый объект (сегмент временного ряда) изначально является отдельным кластером;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на каждом шаге объединяются два наиболее похожих кластера;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процесс продолжается до тех пор, пока не останется один крупный кластер.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Результатом является </a:t>
            </a:r>
            <a:r>
              <a:rPr lang="ru-RU" sz="1600" b="1" dirty="0" err="1">
                <a:latin typeface="Aptos" panose="020B0004020202020204" pitchFamily="34" charset="0"/>
              </a:rPr>
              <a:t>дендрограмма</a:t>
            </a:r>
            <a:r>
              <a:rPr lang="ru-RU" sz="1600" dirty="0">
                <a:latin typeface="Aptos" panose="020B0004020202020204" pitchFamily="34" charset="0"/>
              </a:rPr>
              <a:t> — древовидная структура, показывающая:</a:t>
            </a:r>
          </a:p>
          <a:p>
            <a:r>
              <a:rPr lang="ru-RU" sz="1600" dirty="0">
                <a:latin typeface="Aptos" panose="020B0004020202020204" pitchFamily="34" charset="0"/>
              </a:rPr>
              <a:t>какие сегменты объединяются в группы,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на каком расстоянии,</a:t>
            </a:r>
          </a:p>
          <a:p>
            <a:r>
              <a:rPr lang="ru-RU" sz="1600" dirty="0">
                <a:latin typeface="Aptos" panose="020B0004020202020204" pitchFamily="34" charset="0"/>
              </a:rPr>
              <a:t>какую структуру схожести имеют данные.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Это делает метод незаменимым для изучения структуры паттернов временных рядов.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Для временных рядов используются DTW (для гибкого сравнения форм паттернов) и </a:t>
            </a:r>
            <a:r>
              <a:rPr lang="ru-RU" sz="1600" dirty="0" err="1">
                <a:latin typeface="Aptos" panose="020B0004020202020204" pitchFamily="34" charset="0"/>
              </a:rPr>
              <a:t>Euclidean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Distance</a:t>
            </a:r>
            <a:r>
              <a:rPr lang="ru-RU" sz="1600" dirty="0">
                <a:latin typeface="Aptos" panose="020B0004020202020204" pitchFamily="34" charset="0"/>
              </a:rPr>
              <a:t> (для коротких и строго выровненных сегментов). Чаще всего применяется именно DTW.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5535F79-B5AA-A0DB-9D4E-894790CB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2689738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CB02-A4E0-21F0-E7D6-CDAF4A0F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7F5A3-8326-4E1D-BE75-9C6190F6B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b="1" dirty="0">
                    <a:latin typeface="Aptos" panose="020B0004020202020204" pitchFamily="34" charset="0"/>
                  </a:rPr>
                  <a:t>   Способы объединения кластеров (</a:t>
                </a:r>
                <a:r>
                  <a:rPr lang="ru-RU" b="1" dirty="0" err="1">
                    <a:latin typeface="Aptos" panose="020B0004020202020204" pitchFamily="34" charset="0"/>
                  </a:rPr>
                  <a:t>linkage</a:t>
                </a:r>
                <a:r>
                  <a:rPr lang="ru-RU" b="1" dirty="0">
                    <a:latin typeface="Aptos" panose="020B0004020202020204" pitchFamily="34" charset="0"/>
                  </a:rPr>
                  <a:t> </a:t>
                </a:r>
                <a:r>
                  <a:rPr lang="ru-RU" b="1" dirty="0" err="1">
                    <a:latin typeface="Aptos" panose="020B0004020202020204" pitchFamily="34" charset="0"/>
                  </a:rPr>
                  <a:t>methods</a:t>
                </a:r>
                <a:r>
                  <a:rPr lang="ru-RU" b="1" dirty="0">
                    <a:latin typeface="Aptos" panose="020B00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Чтобы объединить два кластера, нужно определить расстояние между ними. Делается это разными способами.</a:t>
                </a:r>
              </a:p>
              <a:p>
                <a:pPr marL="0" indent="0">
                  <a:buNone/>
                </a:pPr>
                <a:r>
                  <a:rPr lang="ru-RU" b="1" dirty="0">
                    <a:latin typeface="Aptos" panose="020B0004020202020204" pitchFamily="34" charset="0"/>
                  </a:rPr>
                  <a:t>   1. </a:t>
                </a:r>
                <a:r>
                  <a:rPr lang="en-GB" b="1" dirty="0">
                    <a:latin typeface="Aptos" panose="020B0004020202020204" pitchFamily="34" charset="0"/>
                  </a:rPr>
                  <a:t>Single Linkage — </a:t>
                </a:r>
                <a:r>
                  <a:rPr lang="ru-RU" b="1" dirty="0">
                    <a:latin typeface="Aptos" panose="020B0004020202020204" pitchFamily="34" charset="0"/>
                  </a:rPr>
                  <a:t>минимальное расстояние.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, 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lim>
                          </m:limLow>
                        </m:fName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fun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ru-RU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Ищет минимальное расстояние между элементами двух кластеров.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Плюсы: выделяет вытянутые структуры; хорошо ищет цепочки похожих объектов.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Минусы: склонен к «эффекту цепочки» — один выброс может притянуть множество сегментов.</a:t>
                </a:r>
                <a:endParaRPr lang="en-US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b="1" dirty="0">
                    <a:latin typeface="Aptos" panose="020B0004020202020204" pitchFamily="34" charset="0"/>
                  </a:rPr>
                  <a:t>   2. </a:t>
                </a:r>
                <a:r>
                  <a:rPr lang="en-GB" b="1" dirty="0">
                    <a:latin typeface="Aptos" panose="020B0004020202020204" pitchFamily="34" charset="0"/>
                  </a:rPr>
                  <a:t>Complete Linkage — </a:t>
                </a:r>
                <a:r>
                  <a:rPr lang="ru-RU" b="1" dirty="0">
                    <a:latin typeface="Aptos" panose="020B0004020202020204" pitchFamily="34" charset="0"/>
                  </a:rPr>
                  <a:t>максимальное расстояние.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, 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lim>
                          </m:limLow>
                        </m:fName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fun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ru-RU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Смотрит на наибольшее расстояние между двумя кластерами.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Плюсы: формирует компактные, плотные кластеры; хорошо работает для данных с шумом.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Aptos" panose="020B0004020202020204" pitchFamily="34" charset="0"/>
                  </a:rPr>
                  <a:t>   Минусы: слишком строгий: кластеры формируются медленно; чувствителен к отдельным «плохим» сегментам.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7F5A3-8326-4E1D-BE75-9C6190F6B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638" t="-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E6AB30-A599-4C81-6C79-F3D44B44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612225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0105-865D-0588-38EC-6E058CBC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559A6-C9CB-28E1-2A09-2A60FE5DFB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latin typeface="Aptos" panose="020B0004020202020204" pitchFamily="34" charset="0"/>
                  </a:rPr>
                  <a:t>   3. </a:t>
                </a:r>
                <a:r>
                  <a:rPr lang="ru-RU" sz="2400" b="1" dirty="0" err="1">
                    <a:latin typeface="Aptos" panose="020B0004020202020204" pitchFamily="34" charset="0"/>
                  </a:rPr>
                  <a:t>Average</a:t>
                </a:r>
                <a:r>
                  <a:rPr lang="ru-RU" sz="2400" b="1" dirty="0">
                    <a:latin typeface="Aptos" panose="020B0004020202020204" pitchFamily="34" charset="0"/>
                  </a:rPr>
                  <a:t> </a:t>
                </a:r>
                <a:r>
                  <a:rPr lang="ru-RU" sz="2400" b="1" dirty="0" err="1">
                    <a:latin typeface="Aptos" panose="020B0004020202020204" pitchFamily="34" charset="0"/>
                  </a:rPr>
                  <a:t>Linkage</a:t>
                </a:r>
                <a:r>
                  <a:rPr lang="ru-RU" sz="2400" b="1" dirty="0">
                    <a:latin typeface="Aptos" panose="020B0004020202020204" pitchFamily="34" charset="0"/>
                  </a:rPr>
                  <a:t> — среднее расстояние.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/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ru-RU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Aptos" panose="020B0004020202020204" pitchFamily="34" charset="0"/>
                  </a:rPr>
                  <a:t>   Использует усреднённое расстояние между всеми парами сегментов.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Aptos" panose="020B0004020202020204" pitchFamily="34" charset="0"/>
                  </a:rPr>
                  <a:t>   Плюсы: компромисс между </a:t>
                </a:r>
                <a:r>
                  <a:rPr lang="ru-RU" sz="2400" dirty="0" err="1">
                    <a:latin typeface="Aptos" panose="020B0004020202020204" pitchFamily="34" charset="0"/>
                  </a:rPr>
                  <a:t>single</a:t>
                </a:r>
                <a:r>
                  <a:rPr lang="ru-RU" sz="2400" dirty="0">
                    <a:latin typeface="Aptos" panose="020B0004020202020204" pitchFamily="34" charset="0"/>
                  </a:rPr>
                  <a:t> и </a:t>
                </a:r>
                <a:r>
                  <a:rPr lang="ru-RU" sz="2400" dirty="0" err="1">
                    <a:latin typeface="Aptos" panose="020B0004020202020204" pitchFamily="34" charset="0"/>
                  </a:rPr>
                  <a:t>complete</a:t>
                </a:r>
                <a:r>
                  <a:rPr lang="ru-RU" sz="2400" dirty="0">
                    <a:latin typeface="Aptos" panose="020B0004020202020204" pitchFamily="34" charset="0"/>
                  </a:rPr>
                  <a:t> </a:t>
                </a:r>
                <a:r>
                  <a:rPr lang="ru-RU" sz="2400" dirty="0" err="1">
                    <a:latin typeface="Aptos" panose="020B0004020202020204" pitchFamily="34" charset="0"/>
                  </a:rPr>
                  <a:t>linkage</a:t>
                </a:r>
                <a:r>
                  <a:rPr lang="ru-RU" sz="2400" dirty="0">
                    <a:latin typeface="Aptos" panose="020B0004020202020204" pitchFamily="34" charset="0"/>
                  </a:rPr>
                  <a:t>; работает стабильно при умеренном шуме; часто используется в анализе временных рядов.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Aptos" panose="020B0004020202020204" pitchFamily="34" charset="0"/>
                  </a:rPr>
                  <a:t>   Минусы: может сглаживать реальную структуру данных.</a:t>
                </a: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Aptos" panose="020B0004020202020204" pitchFamily="34" charset="0"/>
                  </a:rPr>
                  <a:t>   4. </a:t>
                </a:r>
                <a:r>
                  <a:rPr lang="ru-RU" sz="2400" b="1" dirty="0" err="1">
                    <a:latin typeface="Aptos" panose="020B0004020202020204" pitchFamily="34" charset="0"/>
                  </a:rPr>
                  <a:t>Ward’s</a:t>
                </a:r>
                <a:r>
                  <a:rPr lang="ru-RU" sz="2400" b="1" dirty="0">
                    <a:latin typeface="Aptos" panose="020B0004020202020204" pitchFamily="34" charset="0"/>
                  </a:rPr>
                  <a:t> </a:t>
                </a:r>
                <a:r>
                  <a:rPr lang="ru-RU" sz="2400" b="1" dirty="0" err="1">
                    <a:latin typeface="Aptos" panose="020B0004020202020204" pitchFamily="34" charset="0"/>
                  </a:rPr>
                  <a:t>method</a:t>
                </a:r>
                <a:r>
                  <a:rPr lang="ru-RU" sz="2400" b="1" dirty="0">
                    <a:latin typeface="Aptos" panose="020B0004020202020204" pitchFamily="34" charset="0"/>
                  </a:rPr>
                  <a:t> (</a:t>
                </a:r>
                <a:r>
                  <a:rPr lang="ru-RU" sz="2400" b="1" dirty="0" err="1">
                    <a:latin typeface="Aptos" panose="020B0004020202020204" pitchFamily="34" charset="0"/>
                  </a:rPr>
                  <a:t>Вардин</a:t>
                </a:r>
                <a:r>
                  <a:rPr lang="ru-RU" sz="2400" b="1" dirty="0">
                    <a:latin typeface="Aptos" panose="020B0004020202020204" pitchFamily="34" charset="0"/>
                  </a:rPr>
                  <a:t> метод).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Aptos" panose="020B0004020202020204" pitchFamily="34" charset="0"/>
                  </a:rPr>
                  <a:t>   Минимизирует увеличение </a:t>
                </a:r>
                <a:r>
                  <a:rPr lang="ru-RU" sz="2400" dirty="0" err="1">
                    <a:latin typeface="Aptos" panose="020B0004020202020204" pitchFamily="34" charset="0"/>
                  </a:rPr>
                  <a:t>внутрикластерной</a:t>
                </a:r>
                <a:r>
                  <a:rPr lang="ru-RU" sz="2400" dirty="0">
                    <a:latin typeface="Aptos" panose="020B0004020202020204" pitchFamily="34" charset="0"/>
                  </a:rPr>
                  <a:t> дисперсии. Важное замечание: Этот метод не подходит напрямую для DTW, потому что Ward требует евклидовой геометрии. Однако его иногда адаптируют при использовании DTW </a:t>
                </a:r>
                <a:r>
                  <a:rPr lang="ru-RU" sz="2400" dirty="0" err="1">
                    <a:latin typeface="Aptos" panose="020B0004020202020204" pitchFamily="34" charset="0"/>
                  </a:rPr>
                  <a:t>Barycenter</a:t>
                </a:r>
                <a:r>
                  <a:rPr lang="ru-RU" sz="2400" dirty="0">
                    <a:latin typeface="Aptos" panose="020B0004020202020204" pitchFamily="34" charset="0"/>
                  </a:rPr>
                  <a:t> </a:t>
                </a:r>
                <a:r>
                  <a:rPr lang="ru-RU" sz="2400" dirty="0" err="1">
                    <a:latin typeface="Aptos" panose="020B0004020202020204" pitchFamily="34" charset="0"/>
                  </a:rPr>
                  <a:t>Averaging</a:t>
                </a:r>
                <a:r>
                  <a:rPr lang="ru-RU" sz="2400" dirty="0">
                    <a:latin typeface="Aptos" panose="020B0004020202020204" pitchFamily="34" charset="0"/>
                  </a:rPr>
                  <a:t> (DBA).</a:t>
                </a:r>
                <a:endParaRPr lang="en-GB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559A6-C9CB-28E1-2A09-2A60FE5DF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928" t="-1444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66D571E-20EA-C60F-94E8-73C0307B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87585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E066C-2E79-FF9A-C8A8-A5DE696E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A11E1-527B-2E04-B133-5C873E530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600" b="1" dirty="0">
                    <a:latin typeface="Aptos" panose="020B0004020202020204" pitchFamily="34" charset="0"/>
                  </a:rPr>
                  <a:t>   Алгоритм </a:t>
                </a:r>
                <a:r>
                  <a:rPr lang="ru-RU" sz="2600" b="1" dirty="0" err="1">
                    <a:latin typeface="Aptos" panose="020B0004020202020204" pitchFamily="34" charset="0"/>
                  </a:rPr>
                  <a:t>агломеративной</a:t>
                </a:r>
                <a:r>
                  <a:rPr lang="ru-RU" sz="2600" b="1" dirty="0">
                    <a:latin typeface="Aptos" panose="020B0004020202020204" pitchFamily="34" charset="0"/>
                  </a:rPr>
                  <a:t> кластеризации с </a:t>
                </a:r>
                <a:r>
                  <a:rPr lang="en-GB" sz="2600" b="1" dirty="0">
                    <a:latin typeface="Aptos" panose="020B0004020202020204" pitchFamily="34" charset="0"/>
                  </a:rPr>
                  <a:t>DTW</a:t>
                </a:r>
              </a:p>
              <a:p>
                <a:pPr marL="0" indent="0">
                  <a:buNone/>
                </a:pPr>
                <a:r>
                  <a:rPr lang="ru-RU" sz="2600" b="1" dirty="0">
                    <a:latin typeface="Aptos" panose="020B0004020202020204" pitchFamily="34" charset="0"/>
                  </a:rPr>
                  <a:t>   Шаг 1.</a:t>
                </a:r>
                <a:r>
                  <a:rPr lang="ru-RU" sz="2600" dirty="0">
                    <a:latin typeface="Aptos" panose="020B0004020202020204" pitchFamily="34" charset="0"/>
                  </a:rPr>
                  <a:t> Построить </a:t>
                </a:r>
                <a:r>
                  <a:rPr lang="en-GB" sz="2600" dirty="0">
                    <a:latin typeface="Aptos" panose="020B0004020202020204" pitchFamily="34" charset="0"/>
                  </a:rPr>
                  <a:t>DTW-</a:t>
                </a:r>
                <a:r>
                  <a:rPr lang="ru-RU" sz="2600" dirty="0">
                    <a:latin typeface="Aptos" panose="020B0004020202020204" pitchFamily="34" charset="0"/>
                  </a:rPr>
                  <a:t>матрицу расстояний между всеми сегментами: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 i="1">
                          <a:latin typeface="Cambria Math" panose="02040503050406030204" pitchFamily="18" charset="0"/>
                        </a:rPr>
                        <m:t>𝐷𝑇𝑊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600" b="1" dirty="0">
                    <a:latin typeface="Aptos" panose="020B0004020202020204" pitchFamily="34" charset="0"/>
                  </a:rPr>
                  <a:t>   Шаг 2.</a:t>
                </a:r>
                <a:r>
                  <a:rPr lang="ru-RU" sz="2600" dirty="0">
                    <a:latin typeface="Aptos" panose="020B0004020202020204" pitchFamily="34" charset="0"/>
                  </a:rPr>
                  <a:t> Инициализировать каждый сегмент как отдельный кластер.</a:t>
                </a:r>
              </a:p>
              <a:p>
                <a:pPr marL="0" indent="0">
                  <a:buNone/>
                </a:pPr>
                <a:r>
                  <a:rPr lang="ru-RU" sz="2600" b="1" dirty="0">
                    <a:latin typeface="Aptos" panose="020B0004020202020204" pitchFamily="34" charset="0"/>
                  </a:rPr>
                  <a:t>   Шаг 3.</a:t>
                </a:r>
                <a:r>
                  <a:rPr lang="ru-RU" sz="2600" dirty="0">
                    <a:latin typeface="Aptos" panose="020B0004020202020204" pitchFamily="34" charset="0"/>
                  </a:rPr>
                  <a:t> Выбрать метод объединения (</a:t>
                </a:r>
                <a:r>
                  <a:rPr lang="en-GB" sz="2600" dirty="0">
                    <a:latin typeface="Aptos" panose="020B0004020202020204" pitchFamily="34" charset="0"/>
                  </a:rPr>
                  <a:t>single, complete, average).</a:t>
                </a:r>
              </a:p>
              <a:p>
                <a:pPr marL="0" indent="0">
                  <a:buNone/>
                </a:pPr>
                <a:r>
                  <a:rPr lang="ru-RU" sz="2600" b="1" dirty="0">
                    <a:latin typeface="Aptos" panose="020B0004020202020204" pitchFamily="34" charset="0"/>
                  </a:rPr>
                  <a:t>   Шаг 4.</a:t>
                </a:r>
                <a:r>
                  <a:rPr lang="ru-RU" sz="2600" dirty="0">
                    <a:latin typeface="Aptos" panose="020B0004020202020204" pitchFamily="34" charset="0"/>
                  </a:rPr>
                  <a:t> На каждом шаге:</a:t>
                </a:r>
              </a:p>
              <a:p>
                <a:r>
                  <a:rPr lang="ru-RU" sz="2600" dirty="0">
                    <a:latin typeface="Aptos" panose="020B0004020202020204" pitchFamily="34" charset="0"/>
                  </a:rPr>
                  <a:t>найти два ближайших кластера: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60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GB" sz="26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</m:func>
                      </m:fName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func>
                    <m:r>
                      <a:rPr lang="ru-RU" sz="2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600" dirty="0">
                  <a:latin typeface="Aptos" panose="020B0004020202020204" pitchFamily="34" charset="0"/>
                </a:endParaRPr>
              </a:p>
              <a:p>
                <a:r>
                  <a:rPr lang="ru-RU" sz="2600" dirty="0">
                    <a:latin typeface="Aptos" panose="020B0004020202020204" pitchFamily="34" charset="0"/>
                  </a:rPr>
                  <a:t>объединить их в новый кластер;</a:t>
                </a:r>
              </a:p>
              <a:p>
                <a:r>
                  <a:rPr lang="ru-RU" sz="2600" dirty="0">
                    <a:latin typeface="Aptos" panose="020B0004020202020204" pitchFamily="34" charset="0"/>
                  </a:rPr>
                  <a:t>пересчитать расстояния между новыми кластерами.</a:t>
                </a:r>
              </a:p>
              <a:p>
                <a:pPr marL="0" indent="0">
                  <a:buNone/>
                </a:pPr>
                <a:r>
                  <a:rPr lang="ru-RU" sz="2600" b="1" dirty="0">
                    <a:latin typeface="Aptos" panose="020B0004020202020204" pitchFamily="34" charset="0"/>
                  </a:rPr>
                  <a:t>   Шаг 5.</a:t>
                </a:r>
                <a:r>
                  <a:rPr lang="ru-RU" sz="2600" dirty="0">
                    <a:latin typeface="Aptos" panose="020B0004020202020204" pitchFamily="34" charset="0"/>
                  </a:rPr>
                  <a:t> Построить </a:t>
                </a:r>
                <a:r>
                  <a:rPr lang="ru-RU" sz="2600" dirty="0" err="1">
                    <a:latin typeface="Aptos" panose="020B0004020202020204" pitchFamily="34" charset="0"/>
                  </a:rPr>
                  <a:t>дендрограмму</a:t>
                </a:r>
                <a:r>
                  <a:rPr lang="ru-RU" sz="2600" dirty="0">
                    <a:latin typeface="Aptos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A11E1-527B-2E04-B133-5C873E530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1043" t="-1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270AC7B-4AB7-DBD6-96B9-8BD1E7A6D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541355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1459-3B56-E010-DC52-5BD57915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7CBD-7595-C58B-0877-5EEDADCE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1800" b="1" i="1" u="sng" dirty="0">
                <a:latin typeface="Aptos" panose="020B0004020202020204" pitchFamily="34" charset="0"/>
              </a:rPr>
              <a:t>   Преимущества иерархической кластеризации временных рядов</a:t>
            </a:r>
            <a:r>
              <a:rPr lang="en-GB" sz="1800" b="1" i="1" u="sng" dirty="0">
                <a:latin typeface="Aptos" panose="020B00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1. Не нужно заранее задавать число кластеров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В отличие от K-</a:t>
            </a:r>
            <a:r>
              <a:rPr lang="ru-RU" sz="1800" dirty="0" err="1">
                <a:latin typeface="Aptos" panose="020B0004020202020204" pitchFamily="34" charset="0"/>
              </a:rPr>
              <a:t>Means</a:t>
            </a:r>
            <a:r>
              <a:rPr lang="ru-RU" sz="1800" dirty="0">
                <a:latin typeface="Aptos" panose="020B0004020202020204" pitchFamily="34" charset="0"/>
              </a:rPr>
              <a:t>, количество кластеров выбирается </a:t>
            </a:r>
            <a:r>
              <a:rPr lang="ru-RU" sz="1800" i="1" dirty="0">
                <a:latin typeface="Aptos" panose="020B0004020202020204" pitchFamily="34" charset="0"/>
              </a:rPr>
              <a:t>постфактум</a:t>
            </a:r>
            <a:r>
              <a:rPr lang="ru-RU" sz="1800" dirty="0">
                <a:latin typeface="Aptos" panose="020B0004020202020204" pitchFamily="34" charset="0"/>
              </a:rPr>
              <a:t>, визуально — по </a:t>
            </a:r>
            <a:r>
              <a:rPr lang="ru-RU" sz="1800" dirty="0" err="1">
                <a:latin typeface="Aptos" panose="020B0004020202020204" pitchFamily="34" charset="0"/>
              </a:rPr>
              <a:t>дендрограмме</a:t>
            </a:r>
            <a:r>
              <a:rPr lang="ru-RU" sz="1800" dirty="0">
                <a:latin typeface="Aptos" panose="020B0004020202020204" pitchFamily="34" charset="0"/>
              </a:rPr>
              <a:t>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2. Отлично подходит для исследования структуры данных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Можно увидеть, какие кластеры формируются раньше, какие позже.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3. Хорошо сочетается с DTW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DTW-расстояния естественно ложатся в модель иерархической кластеризации.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4. Кластеры легко интерпретировать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Каждый уровень объединения можно анализировать отдельно. 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5. Устойчивость к сложной форме кластеров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Не требует «круглой» формы кластеров, как K-</a:t>
            </a:r>
            <a:r>
              <a:rPr lang="ru-RU" sz="1800" dirty="0" err="1">
                <a:latin typeface="Aptos" panose="020B0004020202020204" pitchFamily="34" charset="0"/>
              </a:rPr>
              <a:t>Means</a:t>
            </a:r>
            <a:r>
              <a:rPr lang="ru-RU" sz="1800" dirty="0">
                <a:latin typeface="Aptos" panose="020B0004020202020204" pitchFamily="34" charset="0"/>
              </a:rPr>
              <a:t>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i="1" u="sng" dirty="0">
                <a:latin typeface="Aptos" panose="020B0004020202020204" pitchFamily="34" charset="0"/>
              </a:rPr>
              <a:t>   Недостатки и ограничения</a:t>
            </a:r>
            <a:r>
              <a:rPr lang="en-US" sz="1800" b="1" i="1" u="sng" dirty="0">
                <a:latin typeface="Aptos" panose="020B00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1. Высокая вычислительная сложность. </a:t>
            </a:r>
            <a:r>
              <a:rPr lang="ru-RU" sz="1800" dirty="0">
                <a:latin typeface="Aptos" panose="020B0004020202020204" pitchFamily="34" charset="0"/>
              </a:rPr>
              <a:t>Алгоритм требует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вычисления DTW для всех пар сегментов и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обновления расстояний на каждом шаге.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2. Невозможность «развернуть» </a:t>
            </a:r>
            <a:r>
              <a:rPr lang="ru-RU" sz="1800" b="1" dirty="0" err="1">
                <a:latin typeface="Aptos" panose="020B0004020202020204" pitchFamily="34" charset="0"/>
              </a:rPr>
              <a:t>дендрограмму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Если объединение было ошибочным, его нельзя отменить.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3. Высокая чувствительность к выбросам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Несколько аномальных сегментов могут изменить структуру дерева.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4. Трудности при больших наборах данных</a:t>
            </a:r>
            <a:r>
              <a:rPr lang="en-US" sz="1800" b="1" dirty="0">
                <a:latin typeface="Aptos" panose="020B0004020202020204" pitchFamily="34" charset="0"/>
              </a:rPr>
              <a:t>. </a:t>
            </a:r>
            <a:r>
              <a:rPr lang="ru-RU" sz="1800" dirty="0">
                <a:latin typeface="Aptos" panose="020B0004020202020204" pitchFamily="34" charset="0"/>
              </a:rPr>
              <a:t>При десятках тысяч сегментов метод становится тяжёлым.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C874DB6-3184-16D0-9EB3-2F1435D1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Кластеризация временных рядов</a:t>
            </a:r>
          </a:p>
        </p:txBody>
      </p:sp>
    </p:spTree>
    <p:extLst>
      <p:ext uri="{BB962C8B-B14F-4D97-AF65-F5344CB8AC3E}">
        <p14:creationId xmlns:p14="http://schemas.microsoft.com/office/powerpoint/2010/main" val="19702736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010F-6926-1142-D19F-1EA636E4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D5DD38-3945-5066-716A-209A906F7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83833"/>
              </p:ext>
            </p:extLst>
          </p:nvPr>
        </p:nvGraphicFramePr>
        <p:xfrm>
          <a:off x="1007872" y="607568"/>
          <a:ext cx="9928353" cy="56743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09451">
                  <a:extLst>
                    <a:ext uri="{9D8B030D-6E8A-4147-A177-3AD203B41FA5}">
                      <a16:colId xmlns:a16="http://schemas.microsoft.com/office/drawing/2014/main" val="1597381672"/>
                    </a:ext>
                  </a:extLst>
                </a:gridCol>
                <a:gridCol w="3309451">
                  <a:extLst>
                    <a:ext uri="{9D8B030D-6E8A-4147-A177-3AD203B41FA5}">
                      <a16:colId xmlns:a16="http://schemas.microsoft.com/office/drawing/2014/main" val="3770885161"/>
                    </a:ext>
                  </a:extLst>
                </a:gridCol>
                <a:gridCol w="3309451">
                  <a:extLst>
                    <a:ext uri="{9D8B030D-6E8A-4147-A177-3AD203B41FA5}">
                      <a16:colId xmlns:a16="http://schemas.microsoft.com/office/drawing/2014/main" val="821333447"/>
                    </a:ext>
                  </a:extLst>
                </a:gridCol>
              </a:tblGrid>
              <a:tr h="70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Свойство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latin typeface="Aptos" panose="020B0004020202020204" pitchFamily="34" charset="0"/>
                        </a:rPr>
                        <a:t>K-Means (</a:t>
                      </a:r>
                      <a:r>
                        <a:rPr lang="ru-RU">
                          <a:latin typeface="Aptos" panose="020B0004020202020204" pitchFamily="34" charset="0"/>
                        </a:rPr>
                        <a:t>на </a:t>
                      </a:r>
                      <a:r>
                        <a:rPr lang="en-GB">
                          <a:latin typeface="Aptos" panose="020B0004020202020204" pitchFamily="34" charset="0"/>
                        </a:rPr>
                        <a:t>DTW)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Иерархическая кластеризация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863945"/>
                  </a:ext>
                </a:extLst>
              </a:tr>
              <a:tr h="70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Нужно задавать количество кластеров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Нет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816277"/>
                  </a:ext>
                </a:extLst>
              </a:tr>
              <a:tr h="1012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Способность исследовать структуру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Средняя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Отличная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080107"/>
                  </a:ext>
                </a:extLst>
              </a:tr>
              <a:tr h="70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Интерпретация результата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Центроид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Дендрограмма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965651"/>
                  </a:ext>
                </a:extLst>
              </a:tr>
              <a:tr h="70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Чувствительность к шуму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Средняя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Высокая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054895"/>
                  </a:ext>
                </a:extLst>
              </a:tr>
              <a:tr h="70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Возможность отменить неверное объединение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Нет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368894"/>
                  </a:ext>
                </a:extLst>
              </a:tr>
              <a:tr h="70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Вычислительная сложность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Средняя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Высокая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524014"/>
                  </a:ext>
                </a:extLst>
              </a:tr>
              <a:tr h="410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Гибкость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latin typeface="Aptos" panose="020B0004020202020204" pitchFamily="34" charset="0"/>
                        </a:rPr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Aptos" panose="020B0004020202020204" pitchFamily="34" charset="0"/>
                        </a:rPr>
                        <a:t>Очень высокая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285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55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461E-8304-8309-3325-2462CE46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E8DA3-267E-7930-D9AD-F879BA8BB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Aptos" panose="020B0004020202020204" pitchFamily="34" charset="0"/>
              </a:rPr>
              <a:t>   Корреляционный анализ </a:t>
            </a:r>
            <a:r>
              <a:rPr lang="ru-RU" sz="2000" dirty="0">
                <a:latin typeface="Aptos" panose="020B0004020202020204" pitchFamily="34" charset="0"/>
              </a:rPr>
              <a:t>является одним из фундаментальных инструментов интеллектуального анализа данных и позволяет исследовать связи между различными временными рядами или между признаками, описывающими один и тот же процесс.    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Если кластеризация выявляет структурное сходство паттернов, то корреляция отвечает на вопрос:</a:t>
            </a:r>
          </a:p>
          <a:p>
            <a:pPr marL="0" indent="0">
              <a:buNone/>
            </a:pPr>
            <a:r>
              <a:rPr lang="ru-RU" sz="2000" b="1" dirty="0">
                <a:latin typeface="Aptos" panose="020B0004020202020204" pitchFamily="34" charset="0"/>
              </a:rPr>
              <a:t>   Насколько сильно и каким образом один показатель соотносится с другим?</a:t>
            </a:r>
            <a:endParaRPr lang="ru-RU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Корреляционный анализ используется:</a:t>
            </a:r>
          </a:p>
          <a:p>
            <a:r>
              <a:rPr lang="ru-RU" sz="2000" dirty="0">
                <a:latin typeface="Aptos" panose="020B0004020202020204" pitchFamily="34" charset="0"/>
              </a:rPr>
              <a:t>для анализа связей между климатическими параметрами (температурой, влажностью, осадками);</a:t>
            </a:r>
          </a:p>
          <a:p>
            <a:r>
              <a:rPr lang="ru-RU" sz="2000" dirty="0">
                <a:latin typeface="Aptos" panose="020B0004020202020204" pitchFamily="34" charset="0"/>
              </a:rPr>
              <a:t>для исследования зависимости потребления энергии от внешних факторов;</a:t>
            </a:r>
          </a:p>
          <a:p>
            <a:r>
              <a:rPr lang="ru-RU" sz="2000" dirty="0">
                <a:latin typeface="Aptos" panose="020B0004020202020204" pitchFamily="34" charset="0"/>
              </a:rPr>
              <a:t>для выявления взаимосвязей между финансовыми индикаторами;</a:t>
            </a:r>
          </a:p>
          <a:p>
            <a:r>
              <a:rPr lang="ru-RU" sz="2000" dirty="0">
                <a:latin typeface="Aptos" panose="020B0004020202020204" pitchFamily="34" charset="0"/>
              </a:rPr>
              <a:t>для построения прогностических моделей;</a:t>
            </a:r>
          </a:p>
          <a:p>
            <a:r>
              <a:rPr lang="ru-RU" sz="2000" dirty="0">
                <a:latin typeface="Aptos" panose="020B0004020202020204" pitchFamily="34" charset="0"/>
              </a:rPr>
              <a:t>для поиска причинно-следственных структур (хотя корреляция не равна причинности).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В контексте анализа временных рядов корреляция помогает понять, какие признаки влияют друг на друга или изменяются синхронно.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F90C809-D410-DC52-4EEB-AE913D7B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38472859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1FFF0-6802-1476-0917-00221175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9A6E-6CBF-DAC6-3E38-F8452369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Корреляции между признаками и рядами используются для решения следующих задач: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1. Выявление зависимостей между показателями. </a:t>
            </a:r>
            <a:r>
              <a:rPr lang="ru-RU" sz="1800" dirty="0">
                <a:latin typeface="Aptos" panose="020B0004020202020204" pitchFamily="34" charset="0"/>
              </a:rPr>
              <a:t>Например: повышение температуры связано с ростом потребления электроэнергии? увеличение влажности влияет на спрос на отопление? экономические индикаторы движутся синхронно или разнонаправленно?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2. Понимание сезонных закономерностей. </a:t>
            </a:r>
            <a:r>
              <a:rPr lang="ru-RU" sz="1800" dirty="0">
                <a:latin typeface="Aptos" panose="020B0004020202020204" pitchFamily="34" charset="0"/>
              </a:rPr>
              <a:t>Некоторые взаимосвязи проявляются только в определённые периоды (летом, зимой, в будни, выходные).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3. Упрощение модели. </a:t>
            </a:r>
            <a:r>
              <a:rPr lang="ru-RU" sz="1800" dirty="0">
                <a:latin typeface="Aptos" panose="020B0004020202020204" pitchFamily="34" charset="0"/>
              </a:rPr>
              <a:t>Если два признака сильно коррелируют, один из них может быть исключён.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4. Выделение ключевых факторов. </a:t>
            </a:r>
            <a:r>
              <a:rPr lang="ru-RU" sz="1800" dirty="0">
                <a:latin typeface="Aptos" panose="020B0004020202020204" pitchFamily="34" charset="0"/>
              </a:rPr>
              <a:t>Помогает ответить: </a:t>
            </a:r>
            <a:r>
              <a:rPr lang="ru-RU" sz="1800" i="1" dirty="0">
                <a:latin typeface="Aptos" panose="020B0004020202020204" pitchFamily="34" charset="0"/>
              </a:rPr>
              <a:t>какие параметры наиболее сильно связаны с целевым показателем?</a:t>
            </a: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5. Выявление скрытых структур. </a:t>
            </a:r>
            <a:r>
              <a:rPr lang="ru-RU" sz="1800" dirty="0">
                <a:latin typeface="Aptos" panose="020B0004020202020204" pitchFamily="34" charset="0"/>
              </a:rPr>
              <a:t>Например, взаимосвязанность недельных профилей у разных потребителей.</a:t>
            </a:r>
          </a:p>
          <a:p>
            <a:pPr marL="0" indent="0">
              <a:buNone/>
            </a:pPr>
            <a:endParaRPr lang="ru-RU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 Типы корреляции и используемые коэффициенты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Для временных рядов важно использовать разные виды коэффициентов, поскольку данные могут быть:</a:t>
            </a:r>
          </a:p>
          <a:p>
            <a:r>
              <a:rPr lang="ru-RU" sz="1800" dirty="0">
                <a:latin typeface="Aptos" panose="020B0004020202020204" pitchFamily="34" charset="0"/>
              </a:rPr>
              <a:t>нелинейными,</a:t>
            </a:r>
          </a:p>
          <a:p>
            <a:r>
              <a:rPr lang="ru-RU" sz="1800" dirty="0">
                <a:latin typeface="Aptos" panose="020B0004020202020204" pitchFamily="34" charset="0"/>
              </a:rPr>
              <a:t>содержащими выбросы,</a:t>
            </a:r>
          </a:p>
          <a:p>
            <a:r>
              <a:rPr lang="ru-RU" sz="1800" dirty="0">
                <a:latin typeface="Aptos" panose="020B0004020202020204" pitchFamily="34" charset="0"/>
              </a:rPr>
              <a:t>ранговыми,</a:t>
            </a:r>
          </a:p>
          <a:p>
            <a:r>
              <a:rPr lang="ru-RU" sz="1800" dirty="0">
                <a:latin typeface="Aptos" panose="020B0004020202020204" pitchFamily="34" charset="0"/>
              </a:rPr>
              <a:t>монотонными,</a:t>
            </a:r>
          </a:p>
          <a:p>
            <a:r>
              <a:rPr lang="ru-RU" sz="1800" dirty="0">
                <a:latin typeface="Aptos" panose="020B0004020202020204" pitchFamily="34" charset="0"/>
              </a:rPr>
              <a:t>несинхронными.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Ниже представлены три основных метода.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4CB70B-AE94-62B3-9F60-3CDC34D3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528242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1D28-EA4C-7FA1-C8F4-16E0EB74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EEDF1-4AD2-2FF1-C3BF-6CDA0F8DC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1. Корреляция Пирсона (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Pearson</a:t>
                </a:r>
                <a:r>
                  <a:rPr lang="ru-RU" sz="2000" b="1" dirty="0">
                    <a:latin typeface="Aptos" panose="020B0004020202020204" pitchFamily="34" charset="0"/>
                  </a:rPr>
                  <a:t> 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correlation</a:t>
                </a:r>
                <a:r>
                  <a:rPr lang="ru-RU" sz="2000" b="1" dirty="0">
                    <a:latin typeface="Aptos" panose="020B00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Самый распространённый коэффициент, измеряющий </a:t>
                </a:r>
                <a:r>
                  <a:rPr lang="ru-RU" sz="2000" b="1" dirty="0">
                    <a:latin typeface="Aptos" panose="020B0004020202020204" pitchFamily="34" charset="0"/>
                  </a:rPr>
                  <a:t>линейную зависимость</a:t>
                </a:r>
                <a:r>
                  <a:rPr lang="ru-RU" sz="2000" dirty="0">
                    <a:latin typeface="Aptos" panose="020B0004020202020204" pitchFamily="34" charset="0"/>
                  </a:rPr>
                  <a:t> между двумя величинами.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Формула: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0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 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0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Где: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00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ar-AE" sz="20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lim>
                        <m:r>
                          <a:rPr lang="ar-AE" sz="200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ar-AE" sz="2000" dirty="0">
                    <a:latin typeface="Aptos" panose="020B0004020202020204" pitchFamily="34" charset="0"/>
                  </a:rPr>
                  <a:t>— </a:t>
                </a:r>
                <a:r>
                  <a:rPr lang="ru-RU" sz="2000" dirty="0">
                    <a:latin typeface="Aptos" panose="020B0004020202020204" pitchFamily="34" charset="0"/>
                  </a:rPr>
                  <a:t>средние значения;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числитель — ковариация;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знаменатель — нормировка на стандартное отклонение.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</a:t>
                </a:r>
                <a:r>
                  <a:rPr lang="en-GB" sz="2000" b="1" dirty="0">
                    <a:latin typeface="Aptos" panose="020B0004020202020204" pitchFamily="34" charset="0"/>
                  </a:rPr>
                  <a:t>Pearson</a:t>
                </a:r>
                <a:r>
                  <a:rPr lang="ru-RU" sz="2000" b="1" dirty="0">
                    <a:latin typeface="Aptos" panose="020B0004020202020204" pitchFamily="34" charset="0"/>
                  </a:rPr>
                  <a:t> измеряет </a:t>
                </a:r>
                <a:r>
                  <a:rPr lang="ru-RU" sz="2000" dirty="0">
                    <a:latin typeface="Aptos" panose="020B0004020202020204" pitchFamily="34" charset="0"/>
                  </a:rPr>
                  <a:t>силу и направление </a:t>
                </a:r>
                <a:r>
                  <a:rPr lang="ru-RU" sz="2000" i="1" dirty="0">
                    <a:latin typeface="Aptos" panose="020B0004020202020204" pitchFamily="34" charset="0"/>
                  </a:rPr>
                  <a:t>линейной</a:t>
                </a:r>
                <a:r>
                  <a:rPr lang="ru-RU" sz="2000" dirty="0">
                    <a:latin typeface="Aptos" panose="020B0004020202020204" pitchFamily="34" charset="0"/>
                  </a:rPr>
                  <a:t> зависимости. </a:t>
                </a:r>
                <a:r>
                  <a:rPr lang="ru-RU" sz="2000" b="1" dirty="0">
                    <a:latin typeface="Aptos" panose="020B0004020202020204" pitchFamily="34" charset="0"/>
                  </a:rPr>
                  <a:t>Подходит когда: </a:t>
                </a:r>
                <a:r>
                  <a:rPr lang="ru-RU" sz="2000" dirty="0">
                    <a:latin typeface="Aptos" panose="020B0004020202020204" pitchFamily="34" charset="0"/>
                  </a:rPr>
                  <a:t>данные нормальные; зависимость линейная; отсутствуют значительные выбросы.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Недостатки: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не ловит нелинейные зависимости;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чувствителен к выбросам;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требует стационарности ряда (иначе появляются ложные связи).</a:t>
                </a:r>
              </a:p>
              <a:p>
                <a:pPr marL="0" indent="0">
                  <a:buNone/>
                </a:pPr>
                <a:endParaRPr lang="ru-RU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EEDF1-4AD2-2FF1-C3BF-6CDA0F8DC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580" t="-1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F79934F-55E7-F0FD-2BBE-E4BA2F6E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1384184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5D71-1CF4-E1D6-6001-7B9B6D97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6435EA-1749-0F39-6252-BE360040A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</a:t>
                </a:r>
                <a:r>
                  <a:rPr lang="en-US" sz="2000" b="1" dirty="0">
                    <a:latin typeface="Aptos" panose="020B0004020202020204" pitchFamily="34" charset="0"/>
                  </a:rPr>
                  <a:t>2. </a:t>
                </a:r>
                <a:r>
                  <a:rPr lang="ru-RU" sz="2000" b="1" dirty="0">
                    <a:latin typeface="Aptos" panose="020B0004020202020204" pitchFamily="34" charset="0"/>
                  </a:rPr>
                  <a:t>Корреляция 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Спирмена</a:t>
                </a:r>
                <a:r>
                  <a:rPr lang="ru-RU" sz="2000" b="1" dirty="0">
                    <a:latin typeface="Aptos" panose="020B0004020202020204" pitchFamily="34" charset="0"/>
                  </a:rPr>
                  <a:t> (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Spearman</a:t>
                </a:r>
                <a:r>
                  <a:rPr lang="ru-RU" sz="2000" b="1" dirty="0">
                    <a:latin typeface="Aptos" panose="020B0004020202020204" pitchFamily="34" charset="0"/>
                  </a:rPr>
                  <a:t> 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correlation</a:t>
                </a:r>
                <a:r>
                  <a:rPr lang="ru-RU" sz="2000" b="1" dirty="0">
                    <a:latin typeface="Aptos" panose="020B00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Основана на рангах значений — это </a:t>
                </a:r>
                <a:r>
                  <a:rPr lang="ru-RU" sz="2000" b="1" dirty="0">
                    <a:latin typeface="Aptos" panose="020B0004020202020204" pitchFamily="34" charset="0"/>
                  </a:rPr>
                  <a:t>ранговая, монотонная</a:t>
                </a:r>
                <a:r>
                  <a:rPr lang="en-US" sz="2000" b="1" dirty="0">
                    <a:latin typeface="Aptos" panose="020B0004020202020204" pitchFamily="34" charset="0"/>
                  </a:rPr>
                  <a:t> </a:t>
                </a:r>
                <a:r>
                  <a:rPr lang="ru-RU" sz="2000" b="1" dirty="0">
                    <a:latin typeface="Aptos" panose="020B0004020202020204" pitchFamily="34" charset="0"/>
                  </a:rPr>
                  <a:t>корреляция</a:t>
                </a:r>
                <a:r>
                  <a:rPr lang="ru-RU" sz="2000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Вместо исходных значений используются их места в</a:t>
                </a: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ru-RU" sz="2000" dirty="0">
                    <a:latin typeface="Aptos" panose="020B0004020202020204" pitchFamily="34" charset="0"/>
                  </a:rPr>
                  <a:t>отсортированном списке.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Формула для идеального случая без повторов:</a:t>
                </a:r>
                <a:endParaRPr lang="en-US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000" dirty="0">
                    <a:latin typeface="Aptos" panose="020B0004020202020204" pitchFamily="34" charset="0"/>
                  </a:rPr>
                  <a:t>— </a:t>
                </a:r>
                <a:r>
                  <a:rPr lang="ru-RU" sz="2000" dirty="0">
                    <a:latin typeface="Aptos" panose="020B0004020202020204" pitchFamily="34" charset="0"/>
                  </a:rPr>
                  <a:t>разность рангов.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</a:t>
                </a:r>
                <a:r>
                  <a:rPr lang="en-GB" sz="2000" b="1" dirty="0">
                    <a:latin typeface="Aptos" panose="020B0004020202020204" pitchFamily="34" charset="0"/>
                  </a:rPr>
                  <a:t>Spearman </a:t>
                </a:r>
                <a:r>
                  <a:rPr lang="ru-RU" sz="2000" b="1" dirty="0">
                    <a:latin typeface="Aptos" panose="020B0004020202020204" pitchFamily="34" charset="0"/>
                  </a:rPr>
                  <a:t>измеряет</a:t>
                </a:r>
                <a:r>
                  <a:rPr lang="en-US" sz="2000" b="1" dirty="0">
                    <a:latin typeface="Aptos" panose="020B0004020202020204" pitchFamily="34" charset="0"/>
                  </a:rPr>
                  <a:t>: </a:t>
                </a:r>
                <a:r>
                  <a:rPr lang="ru-RU" sz="2000" dirty="0">
                    <a:latin typeface="Aptos" panose="020B0004020202020204" pitchFamily="34" charset="0"/>
                  </a:rPr>
                  <a:t>Монотонную зависимость (как линейную, так и нелинейную).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Подходит когда</a:t>
                </a:r>
                <a:r>
                  <a:rPr lang="en-US" sz="2000" b="1" dirty="0">
                    <a:latin typeface="Aptos" panose="020B0004020202020204" pitchFamily="34" charset="0"/>
                  </a:rPr>
                  <a:t>: </a:t>
                </a:r>
                <a:r>
                  <a:rPr lang="ru-RU" sz="2000" dirty="0">
                    <a:latin typeface="Aptos" panose="020B0004020202020204" pitchFamily="34" charset="0"/>
                  </a:rPr>
                  <a:t>когда переменные растут или падают одновременно, но не обязательно линейно;</a:t>
                </a: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ru-RU" sz="2000" dirty="0">
                    <a:latin typeface="Aptos" panose="020B0004020202020204" pitchFamily="34" charset="0"/>
                  </a:rPr>
                  <a:t>когда данные содержат выбросы — ранговая форма устойчива;</a:t>
                </a: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ru-RU" sz="2000" dirty="0">
                    <a:latin typeface="Aptos" panose="020B0004020202020204" pitchFamily="34" charset="0"/>
                  </a:rPr>
                  <a:t>когда распределение далеко от нормального.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Недостатки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теряется информация о величине отклонений;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не ловит сложные колебательные зависимости.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6435EA-1749-0F39-6252-BE360040A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638" t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E3D0293-F700-D359-70A5-006E8051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34994090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3015-C6EA-A5F1-396F-ACD9AA38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9CF7B-D561-685F-4546-07AD3BF4DF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</a:t>
                </a:r>
                <a:r>
                  <a:rPr lang="en-US" sz="2000" b="1" dirty="0">
                    <a:latin typeface="Aptos" panose="020B0004020202020204" pitchFamily="34" charset="0"/>
                  </a:rPr>
                  <a:t>3. </a:t>
                </a:r>
                <a:r>
                  <a:rPr lang="ru-RU" sz="2000" b="1" dirty="0">
                    <a:latin typeface="Aptos" panose="020B0004020202020204" pitchFamily="34" charset="0"/>
                  </a:rPr>
                  <a:t>Корреляция Кендалла (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Kendall</a:t>
                </a:r>
                <a:r>
                  <a:rPr lang="ru-RU" sz="2000" b="1" dirty="0">
                    <a:latin typeface="Aptos" panose="020B0004020202020204" pitchFamily="34" charset="0"/>
                  </a:rPr>
                  <a:t> </a:t>
                </a:r>
                <a:r>
                  <a:rPr lang="ru-RU" sz="2000" b="1" dirty="0" err="1">
                    <a:latin typeface="Aptos" panose="020B0004020202020204" pitchFamily="34" charset="0"/>
                  </a:rPr>
                  <a:t>tau</a:t>
                </a:r>
                <a:r>
                  <a:rPr lang="ru-RU" sz="2000" b="1" dirty="0">
                    <a:latin typeface="Aptos" panose="020B00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Ещё один ранговый коэффициент, основанный на подсчёте </a:t>
                </a:r>
                <a:r>
                  <a:rPr lang="ru-RU" sz="2000" b="1" dirty="0">
                    <a:latin typeface="Aptos" panose="020B0004020202020204" pitchFamily="34" charset="0"/>
                  </a:rPr>
                  <a:t>согласованных</a:t>
                </a:r>
                <a:r>
                  <a:rPr lang="ru-RU" sz="2000" dirty="0">
                    <a:latin typeface="Aptos" panose="020B0004020202020204" pitchFamily="34" charset="0"/>
                  </a:rPr>
                  <a:t> и </a:t>
                </a:r>
                <a:r>
                  <a:rPr lang="ru-RU" sz="2000" b="1" dirty="0">
                    <a:latin typeface="Aptos" panose="020B0004020202020204" pitchFamily="34" charset="0"/>
                  </a:rPr>
                  <a:t>несогласованных</a:t>
                </a:r>
                <a:r>
                  <a:rPr lang="ru-RU" sz="2000" dirty="0">
                    <a:latin typeface="Aptos" panose="020B0004020202020204" pitchFamily="34" charset="0"/>
                  </a:rPr>
                  <a:t> пар наблюдений.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Формула: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 dirty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fr-FR" sz="20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 dirty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fr-FR" sz="20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GB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Чем больше пар идут в одном направлении («если X растёт, Y тоже</a:t>
                </a: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ru-RU" sz="2000" dirty="0">
                    <a:latin typeface="Aptos" panose="020B0004020202020204" pitchFamily="34" charset="0"/>
                  </a:rPr>
                  <a:t>растёт»), тем выше τ.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Преимущества: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более устойчива к шуму, чем </a:t>
                </a:r>
                <a:r>
                  <a:rPr lang="ru-RU" sz="2000" dirty="0" err="1">
                    <a:latin typeface="Aptos" panose="020B0004020202020204" pitchFamily="34" charset="0"/>
                  </a:rPr>
                  <a:t>Spearman</a:t>
                </a:r>
                <a:r>
                  <a:rPr lang="ru-RU" sz="2000" dirty="0">
                    <a:latin typeface="Aptos" panose="020B0004020202020204" pitchFamily="34" charset="0"/>
                  </a:rPr>
                  <a:t>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лучше для малых выборок;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отражает чистую монотонность.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Недостатки: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вычислительно дороже;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менее интуитивна при больших объёмах данных.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9CF7B-D561-685F-4546-07AD3BF4D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638" t="-1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070172A-3475-D02E-C72B-BBBEA720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3077223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94796-6349-0635-E2D5-8AE563E7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CB7B9-6342-8269-81B3-24152EF44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sz="1800" b="1" dirty="0">
                    <a:latin typeface="Aptos" panose="020B0004020202020204" pitchFamily="34" charset="0"/>
                  </a:rPr>
                  <a:t>   Применение корреляционного анализа к временным рядам</a:t>
                </a:r>
              </a:p>
              <a:p>
                <a:pPr marL="0" indent="0">
                  <a:buNone/>
                </a:pPr>
                <a:r>
                  <a:rPr lang="ru-RU" sz="1800" b="1" dirty="0">
                    <a:latin typeface="Aptos" panose="020B0004020202020204" pitchFamily="34" charset="0"/>
                  </a:rPr>
                  <a:t>   1. Перекрёстная корреляция (</a:t>
                </a:r>
                <a:r>
                  <a:rPr lang="en-GB" sz="1800" b="1" dirty="0">
                    <a:latin typeface="Aptos" panose="020B0004020202020204" pitchFamily="34" charset="0"/>
                  </a:rPr>
                  <a:t>Cross-Correlation)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   Иногда один показатель влияет на другой </a:t>
                </a:r>
                <a:r>
                  <a:rPr lang="ru-RU" sz="1800" i="1" dirty="0">
                    <a:latin typeface="Aptos" panose="020B0004020202020204" pitchFamily="34" charset="0"/>
                  </a:rPr>
                  <a:t>с задержкой</a:t>
                </a:r>
                <a:r>
                  <a:rPr lang="ru-RU" sz="1800" dirty="0">
                    <a:latin typeface="Aptos" panose="020B0004020202020204" pitchFamily="34" charset="0"/>
                  </a:rPr>
                  <a:t>.</a:t>
                </a:r>
                <a:r>
                  <a:rPr lang="en-US" sz="1800" dirty="0">
                    <a:latin typeface="Aptos" panose="020B0004020202020204" pitchFamily="34" charset="0"/>
                  </a:rPr>
                  <a:t> </a:t>
                </a:r>
                <a:r>
                  <a:rPr lang="ru-RU" sz="1800" dirty="0">
                    <a:latin typeface="Aptos" panose="020B0004020202020204" pitchFamily="34" charset="0"/>
                  </a:rPr>
                  <a:t>Например:</a:t>
                </a:r>
                <a:r>
                  <a:rPr lang="en-US" sz="1800" dirty="0">
                    <a:latin typeface="Aptos" panose="020B0004020202020204" pitchFamily="34" charset="0"/>
                  </a:rPr>
                  <a:t> </a:t>
                </a:r>
                <a:r>
                  <a:rPr lang="ru-RU" sz="1800" dirty="0">
                    <a:latin typeface="Aptos" panose="020B0004020202020204" pitchFamily="34" charset="0"/>
                  </a:rPr>
                  <a:t>Температура повышается → через 2 часа увеличивается нагрузка на кондиционеры.</a:t>
                </a:r>
                <a:r>
                  <a:rPr lang="en-US" sz="1800" dirty="0">
                    <a:latin typeface="Aptos" panose="020B0004020202020204" pitchFamily="34" charset="0"/>
                  </a:rPr>
                  <a:t> </a:t>
                </a:r>
                <a:r>
                  <a:rPr lang="ru-RU" sz="1800" dirty="0">
                    <a:latin typeface="Aptos" panose="020B0004020202020204" pitchFamily="34" charset="0"/>
                  </a:rPr>
                  <a:t>Перекрёстная корреляция позволяет найти: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оптимальный лаг (задержку);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совпадение фаз сезонности;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причинно-временные зависимости.</a:t>
                </a:r>
              </a:p>
              <a:p>
                <a:pPr marL="0" indent="0">
                  <a:buNone/>
                </a:pPr>
                <a:r>
                  <a:rPr lang="ru-RU" sz="1800" b="1" dirty="0">
                    <a:latin typeface="Aptos" panose="020B0004020202020204" pitchFamily="34" charset="0"/>
                  </a:rPr>
                  <a:t>   2. Корреляционные матрицы признаков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Для набора признаков строится матрица: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smtClean="0">
                          <a:latin typeface="Cambria Math" panose="02040503050406030204" pitchFamily="18" charset="0"/>
                        </a:rPr>
                        <m:t>𝐶𝑜𝑟𝑟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𝑓𝑒𝑎𝑡𝑢𝑟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, 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𝑓𝑒𝑎𝑡𝑢𝑟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8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   Позволяет выявить: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группы взаимосвязанных признаков;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признаки, не влияющие на остальные;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признаки, дублирующие друг друга.</a:t>
                </a:r>
              </a:p>
              <a:p>
                <a:pPr marL="0" indent="0">
                  <a:buNone/>
                </a:pPr>
                <a:r>
                  <a:rPr lang="ru-RU" sz="1800" b="1" dirty="0">
                    <a:latin typeface="Aptos" panose="020B0004020202020204" pitchFamily="34" charset="0"/>
                  </a:rPr>
                  <a:t>   3. Корреляция сегментов временных рядов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Aptos" panose="020B0004020202020204" pitchFamily="34" charset="0"/>
                  </a:rPr>
                  <a:t>После сегментации можно изучать: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насколько схожи паттерны соседних периодов;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как изменяется взаимосвязь в разных сезонах;</a:t>
                </a:r>
              </a:p>
              <a:p>
                <a:r>
                  <a:rPr lang="ru-RU" sz="1800" dirty="0">
                    <a:latin typeface="Aptos" panose="020B0004020202020204" pitchFamily="34" charset="0"/>
                  </a:rPr>
                  <a:t>какие сегменты имеют одинаковые факторы влияния.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CB7B9-6342-8269-81B3-24152EF44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136"/>
                <a:ext cx="10515600" cy="5486400"/>
              </a:xfrm>
              <a:blipFill>
                <a:blip r:embed="rId2"/>
                <a:stretch>
                  <a:fillRect l="-232" t="-1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FB43F7C-6DEC-6244-2217-8DDFF0EB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5075994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B5BE-15F8-9338-64AA-91DB5D2A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9099A-DDCD-CAA3-0FCA-16E87A9D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28" y="1143000"/>
            <a:ext cx="3889248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Примеры интерпретации корреляций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Температура </a:t>
            </a:r>
            <a:r>
              <a:rPr lang="ru-RU" sz="1600" b="1" dirty="0" err="1">
                <a:latin typeface="Aptos" panose="020B0004020202020204" pitchFamily="34" charset="0"/>
              </a:rPr>
              <a:t>vs</a:t>
            </a:r>
            <a:r>
              <a:rPr lang="ru-RU" sz="1600" b="1" dirty="0">
                <a:latin typeface="Aptos" panose="020B0004020202020204" pitchFamily="34" charset="0"/>
              </a:rPr>
              <a:t>. энергопотребление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зимой при падении температуры растёт потребление отопления;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летом при росте температуры — нагрузка кондиционеров.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Влажность </a:t>
            </a:r>
            <a:r>
              <a:rPr lang="ru-RU" sz="1600" b="1" dirty="0" err="1">
                <a:latin typeface="Aptos" panose="020B0004020202020204" pitchFamily="34" charset="0"/>
              </a:rPr>
              <a:t>vs</a:t>
            </a:r>
            <a:r>
              <a:rPr lang="ru-RU" sz="1600" b="1" dirty="0">
                <a:latin typeface="Aptos" panose="020B0004020202020204" pitchFamily="34" charset="0"/>
              </a:rPr>
              <a:t>. потребление энергии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высокая влажность увеличивает нагрузку на вентиляционные системы.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Цена сырья </a:t>
            </a:r>
            <a:r>
              <a:rPr lang="ru-RU" sz="1600" b="1" dirty="0" err="1">
                <a:latin typeface="Aptos" panose="020B0004020202020204" pitchFamily="34" charset="0"/>
              </a:rPr>
              <a:t>vs</a:t>
            </a:r>
            <a:r>
              <a:rPr lang="ru-RU" sz="1600" b="1" dirty="0">
                <a:latin typeface="Aptos" panose="020B0004020202020204" pitchFamily="34" charset="0"/>
              </a:rPr>
              <a:t>. объём производства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сильная отрицательная корреляция: при высокой цене — производство уменьшается.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Доходность разных финансовых инструментов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положительная корреляция: рынки движутся синхронно.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отрицательная: активы хеджируют друг друга.</a:t>
            </a:r>
          </a:p>
          <a:p>
            <a:pPr marL="0" indent="0">
              <a:buNone/>
            </a:pP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E736905-5BE9-1679-597D-913E2C75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Корреляционный анализ признаков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2EBFB-4B0E-9498-0E03-A3C67CC5170F}"/>
              </a:ext>
            </a:extLst>
          </p:cNvPr>
          <p:cNvSpPr txBox="1"/>
          <p:nvPr/>
        </p:nvSpPr>
        <p:spPr>
          <a:xfrm>
            <a:off x="4495960" y="952859"/>
            <a:ext cx="754668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Преимущества корреляционного анализа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700" dirty="0">
                <a:latin typeface="Aptos" panose="020B0004020202020204" pitchFamily="34" charset="0"/>
              </a:rPr>
              <a:t>простота интерпретации;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700" dirty="0">
                <a:latin typeface="Aptos" panose="020B0004020202020204" pitchFamily="34" charset="0"/>
              </a:rPr>
              <a:t>ясность визуализации (матрицы, графы);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700" dirty="0">
                <a:latin typeface="Aptos" panose="020B0004020202020204" pitchFamily="34" charset="0"/>
              </a:rPr>
              <a:t>полезность для отбора признаков;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700" dirty="0">
                <a:latin typeface="Aptos" panose="020B0004020202020204" pitchFamily="34" charset="0"/>
              </a:rPr>
              <a:t>помогает выявлять скрытые зависимости;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700" dirty="0">
                <a:latin typeface="Aptos" panose="020B0004020202020204" pitchFamily="34" charset="0"/>
              </a:rPr>
              <a:t>основа для моделей прогнозирования (линейных, регрессионных и др.).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60C01-750F-38D5-7427-B91793E7E2C1}"/>
              </a:ext>
            </a:extLst>
          </p:cNvPr>
          <p:cNvSpPr txBox="1"/>
          <p:nvPr/>
        </p:nvSpPr>
        <p:spPr>
          <a:xfrm>
            <a:off x="4495960" y="2874526"/>
            <a:ext cx="754668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Ограничения корреляционного анализа</a:t>
            </a:r>
          </a:p>
          <a:p>
            <a:pPr>
              <a:buNone/>
            </a:pPr>
            <a:r>
              <a:rPr lang="ru-RU" sz="1700" dirty="0">
                <a:latin typeface="Aptos" panose="020B0004020202020204" pitchFamily="34" charset="0"/>
              </a:rPr>
              <a:t>Корреляция — мощный инструмент, но имеет серьёзные ограничения.</a:t>
            </a:r>
          </a:p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1. Корреляция не означает причинность</a:t>
            </a:r>
          </a:p>
          <a:p>
            <a:pPr>
              <a:buNone/>
            </a:pPr>
            <a:r>
              <a:rPr lang="ru-RU" sz="1700" dirty="0">
                <a:latin typeface="Aptos" panose="020B0004020202020204" pitchFamily="34" charset="0"/>
              </a:rPr>
              <a:t>Два показателя могут совпадать по сезонности, но не влиять друг на друга.</a:t>
            </a:r>
          </a:p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2. Нестационарность создаёт ложные зависимости</a:t>
            </a:r>
          </a:p>
          <a:p>
            <a:pPr>
              <a:buNone/>
            </a:pPr>
            <a:r>
              <a:rPr lang="ru-RU" sz="1700" dirty="0">
                <a:latin typeface="Aptos" panose="020B0004020202020204" pitchFamily="34" charset="0"/>
              </a:rPr>
              <a:t>Если оба ряда имеют тренд, </a:t>
            </a:r>
            <a:r>
              <a:rPr lang="ru-RU" sz="1700" dirty="0" err="1">
                <a:latin typeface="Aptos" panose="020B0004020202020204" pitchFamily="34" charset="0"/>
              </a:rPr>
              <a:t>Pearson</a:t>
            </a:r>
            <a:r>
              <a:rPr lang="ru-RU" sz="1700" dirty="0">
                <a:latin typeface="Aptos" panose="020B0004020202020204" pitchFamily="34" charset="0"/>
              </a:rPr>
              <a:t> покажет высокую корреляцию, даже если связи нет.</a:t>
            </a:r>
          </a:p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3. Сезонность может приводить к ложным корреляциям</a:t>
            </a:r>
          </a:p>
          <a:p>
            <a:pPr>
              <a:buNone/>
            </a:pPr>
            <a:r>
              <a:rPr lang="ru-RU" sz="1700" dirty="0">
                <a:latin typeface="Aptos" panose="020B0004020202020204" pitchFamily="34" charset="0"/>
              </a:rPr>
              <a:t>Совпадение по сезонному циклу ≠ причинная связь.</a:t>
            </a:r>
          </a:p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4. Чувствительность к выбросам</a:t>
            </a:r>
          </a:p>
          <a:p>
            <a:pPr>
              <a:buNone/>
            </a:pPr>
            <a:r>
              <a:rPr lang="ru-RU" sz="1700" dirty="0">
                <a:latin typeface="Aptos" panose="020B0004020202020204" pitchFamily="34" charset="0"/>
              </a:rPr>
              <a:t>Особенно для </a:t>
            </a:r>
            <a:r>
              <a:rPr lang="ru-RU" sz="1700" dirty="0" err="1">
                <a:latin typeface="Aptos" panose="020B0004020202020204" pitchFamily="34" charset="0"/>
              </a:rPr>
              <a:t>Pearson</a:t>
            </a:r>
            <a:r>
              <a:rPr lang="ru-RU" sz="1700" dirty="0">
                <a:latin typeface="Aptos" panose="020B0004020202020204" pitchFamily="34" charset="0"/>
              </a:rPr>
              <a:t>.</a:t>
            </a:r>
          </a:p>
          <a:p>
            <a:pPr>
              <a:buNone/>
            </a:pPr>
            <a:r>
              <a:rPr lang="ru-RU" sz="1700" b="1" dirty="0">
                <a:latin typeface="Aptos" panose="020B0004020202020204" pitchFamily="34" charset="0"/>
              </a:rPr>
              <a:t>5. Нужно использовать предварительную обработку</a:t>
            </a:r>
          </a:p>
          <a:p>
            <a:pPr>
              <a:buNone/>
            </a:pPr>
            <a:r>
              <a:rPr lang="ru-RU" sz="1700" dirty="0">
                <a:latin typeface="Aptos" panose="020B0004020202020204" pitchFamily="34" charset="0"/>
              </a:rPr>
              <a:t>Для временных рядов необходимы:</a:t>
            </a:r>
            <a:r>
              <a:rPr lang="en-US" sz="1700" dirty="0">
                <a:latin typeface="Aptos" panose="020B0004020202020204" pitchFamily="34" charset="0"/>
              </a:rPr>
              <a:t> </a:t>
            </a:r>
            <a:r>
              <a:rPr lang="ru-RU" sz="1700" dirty="0" err="1">
                <a:latin typeface="Aptos" panose="020B0004020202020204" pitchFamily="34" charset="0"/>
              </a:rPr>
              <a:t>детрендинг</a:t>
            </a:r>
            <a:r>
              <a:rPr lang="ru-RU" sz="1700" dirty="0">
                <a:latin typeface="Aptos" panose="020B0004020202020204" pitchFamily="34" charset="0"/>
              </a:rPr>
              <a:t>,</a:t>
            </a:r>
            <a:r>
              <a:rPr lang="en-US" sz="1700" dirty="0">
                <a:latin typeface="Aptos" panose="020B0004020202020204" pitchFamily="34" charset="0"/>
              </a:rPr>
              <a:t> </a:t>
            </a:r>
            <a:r>
              <a:rPr lang="ru-RU" sz="1700" dirty="0">
                <a:latin typeface="Aptos" panose="020B0004020202020204" pitchFamily="34" charset="0"/>
              </a:rPr>
              <a:t>нормализация,</a:t>
            </a:r>
            <a:r>
              <a:rPr lang="en-US" sz="1700" dirty="0">
                <a:latin typeface="Aptos" panose="020B0004020202020204" pitchFamily="34" charset="0"/>
              </a:rPr>
              <a:t> </a:t>
            </a:r>
            <a:r>
              <a:rPr lang="ru-RU" sz="1700" dirty="0">
                <a:latin typeface="Aptos" panose="020B0004020202020204" pitchFamily="34" charset="0"/>
              </a:rPr>
              <a:t>устранение сезонности,</a:t>
            </a:r>
            <a:r>
              <a:rPr lang="en-US" sz="1700" dirty="0">
                <a:latin typeface="Aptos" panose="020B0004020202020204" pitchFamily="34" charset="0"/>
              </a:rPr>
              <a:t> </a:t>
            </a:r>
            <a:r>
              <a:rPr lang="ru-RU" sz="1700" dirty="0">
                <a:latin typeface="Aptos" panose="020B0004020202020204" pitchFamily="34" charset="0"/>
              </a:rPr>
              <a:t>сглаживание.</a:t>
            </a:r>
          </a:p>
        </p:txBody>
      </p:sp>
    </p:spTree>
    <p:extLst>
      <p:ext uri="{BB962C8B-B14F-4D97-AF65-F5344CB8AC3E}">
        <p14:creationId xmlns:p14="http://schemas.microsoft.com/office/powerpoint/2010/main" val="31028639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A5F1-B8C9-E557-FA0D-BD5F9C02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80695-B0BB-D46C-8BD1-8862F3406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Одной из ключевых задач анализа временных рядов является обнаружение повторяющихся паттернов и режимов функционирования системы. Кластеризация сегментов позволяет выявить типовые формы поведения, которые могут возникать на различных временных интервалах.</a:t>
            </a:r>
          </a:p>
          <a:p>
            <a:pPr marL="0" indent="0">
              <a:buNone/>
            </a:pPr>
            <a:r>
              <a:rPr lang="ru-RU" sz="2000" b="1" dirty="0">
                <a:latin typeface="Aptos" panose="020B0004020202020204" pitchFamily="34" charset="0"/>
              </a:rPr>
              <a:t>   Примеры применений: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Энергетика:</a:t>
            </a:r>
            <a:br>
              <a:rPr lang="ru-RU" sz="2000" dirty="0">
                <a:latin typeface="Aptos" panose="020B0004020202020204" pitchFamily="34" charset="0"/>
              </a:rPr>
            </a:br>
            <a:r>
              <a:rPr lang="ru-RU" sz="2000" dirty="0">
                <a:latin typeface="Aptos" panose="020B0004020202020204" pitchFamily="34" charset="0"/>
              </a:rPr>
              <a:t>Выявление типичных шаблонов дневной/недельной нагрузки: рабочие дни, выходные, праздничные дни, периоды высоких температур.</a:t>
            </a:r>
            <a:br>
              <a:rPr lang="ru-RU" sz="2000" dirty="0">
                <a:latin typeface="Aptos" panose="020B0004020202020204" pitchFamily="34" charset="0"/>
              </a:rPr>
            </a:br>
            <a:r>
              <a:rPr lang="ru-RU" sz="2000" dirty="0">
                <a:latin typeface="Aptos" panose="020B0004020202020204" pitchFamily="34" charset="0"/>
              </a:rPr>
              <a:t>Кластеры помогают понять, какие режимы являются регулярными, а какие — аномальными.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Транспорт и логистика:</a:t>
            </a:r>
            <a:br>
              <a:rPr lang="ru-RU" sz="2000" dirty="0">
                <a:latin typeface="Aptos" panose="020B0004020202020204" pitchFamily="34" charset="0"/>
              </a:rPr>
            </a:br>
            <a:r>
              <a:rPr lang="ru-RU" sz="2000" dirty="0">
                <a:latin typeface="Aptos" panose="020B0004020202020204" pitchFamily="34" charset="0"/>
              </a:rPr>
              <a:t>Выделение типов поведения пассажиропотока: утренний пик, вечерний пик, ночной спад.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Медицина:</a:t>
            </a:r>
            <a:br>
              <a:rPr lang="ru-RU" sz="2000" dirty="0">
                <a:latin typeface="Aptos" panose="020B0004020202020204" pitchFamily="34" charset="0"/>
              </a:rPr>
            </a:br>
            <a:r>
              <a:rPr lang="ru-RU" sz="2000" dirty="0">
                <a:latin typeface="Aptos" panose="020B0004020202020204" pitchFamily="34" charset="0"/>
              </a:rPr>
              <a:t>Поиск повторяющихся форм сигналов ЭКГ, дыхания, активности пациента.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Финансовые рынки:</a:t>
            </a:r>
            <a:br>
              <a:rPr lang="ru-RU" sz="2000" dirty="0">
                <a:latin typeface="Aptos" panose="020B0004020202020204" pitchFamily="34" charset="0"/>
              </a:rPr>
            </a:br>
            <a:r>
              <a:rPr lang="ru-RU" sz="2000" dirty="0">
                <a:latin typeface="Aptos" panose="020B0004020202020204" pitchFamily="34" charset="0"/>
              </a:rPr>
              <a:t>Обнаружение повторяющихся паттернов волатильности на бирже.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Такие шаблоны помогают интерпретировать структуру процесса и служат основой для дальнейшего прогнозирования.</a:t>
            </a:r>
          </a:p>
          <a:p>
            <a:pPr marL="0" indent="0">
              <a:buNone/>
            </a:pP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91C668C-6380-DEBC-D3D1-22516A5D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4158366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D600-5031-2C57-3953-E4C45763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ACF02-3627-136D-C476-8197ABC39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10515600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Сезонность в бизнесе — это регулярные повторяющиеся изменения показателей, возникающие в фиксированные интервалы времени под влиянием предсказуемых факторов: поведения потребителей, календарных событий, цикличности производства, маркетинговых активностей, погодных условий, режима работы рынков и других внешних стимулов. Анализ сезонности позволяет компаниям принимать оптимальные управленческие решения, планировать ресурсы, прогнозировать спрос и предотвращать неблагоприятные финансовые последствия.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</a:t>
            </a:r>
            <a:r>
              <a:rPr lang="ru-RU" sz="1600" b="1" dirty="0">
                <a:latin typeface="Aptos" panose="020B0004020202020204" pitchFamily="34" charset="0"/>
              </a:rPr>
              <a:t>Типы сезонности в бизнес-данных</a:t>
            </a: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В бизнесе наблюдаются несколько типов сезонных колебаний: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1) Календарная сезонность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Возникает из-за событий, которые повторяются регулярно по календарю:</a:t>
            </a:r>
          </a:p>
          <a:p>
            <a:r>
              <a:rPr lang="ru-RU" sz="1600" dirty="0">
                <a:latin typeface="Aptos" panose="020B0004020202020204" pitchFamily="34" charset="0"/>
              </a:rPr>
              <a:t>праздничные периоды (Новый год, Пасха, Рамадан, День благодарения);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сезон отпусков (летние месяцы);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начало учебного года;</a:t>
            </a:r>
          </a:p>
          <a:p>
            <a:r>
              <a:rPr lang="ru-RU" sz="1600" dirty="0">
                <a:latin typeface="Aptos" panose="020B0004020202020204" pitchFamily="34" charset="0"/>
              </a:rPr>
              <a:t>конец финансового квартала.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Пример:</a:t>
            </a:r>
            <a:br>
              <a:rPr lang="ru-RU" sz="1600" dirty="0">
                <a:latin typeface="Aptos" panose="020B0004020202020204" pitchFamily="34" charset="0"/>
              </a:rPr>
            </a:br>
            <a:r>
              <a:rPr lang="ru-RU" sz="1600" dirty="0">
                <a:latin typeface="Aptos" panose="020B0004020202020204" pitchFamily="34" charset="0"/>
              </a:rPr>
              <a:t>   В розничной торговле в декабре традиционно фиксируется крупнейший годовой всплеск продаж.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2) Поведенческая сезонность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Связана с человеческими привычками:</a:t>
            </a:r>
          </a:p>
          <a:p>
            <a:r>
              <a:rPr lang="ru-RU" sz="1600" dirty="0">
                <a:latin typeface="Aptos" panose="020B0004020202020204" pitchFamily="34" charset="0"/>
              </a:rPr>
              <a:t>в начале месяца — всплеск покупок после получения зарплат;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 пятницам — рост заказов в сфере </a:t>
            </a:r>
            <a:r>
              <a:rPr lang="ru-RU" sz="1600" dirty="0" err="1">
                <a:latin typeface="Aptos" panose="020B0004020202020204" pitchFamily="34" charset="0"/>
              </a:rPr>
              <a:t>food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delivery</a:t>
            </a:r>
            <a:r>
              <a:rPr lang="ru-RU" sz="1600" dirty="0">
                <a:latin typeface="Aptos" panose="020B0004020202020204" pitchFamily="34" charset="0"/>
              </a:rPr>
              <a:t>;</a:t>
            </a:r>
          </a:p>
          <a:p>
            <a:r>
              <a:rPr lang="ru-RU" sz="1600" dirty="0">
                <a:latin typeface="Aptos" panose="020B0004020202020204" pitchFamily="34" charset="0"/>
              </a:rPr>
              <a:t>в выходные — массы посетителей ТРЦ.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703A49C-7B15-D27C-DEDA-F939418F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34317271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C8F4-A8D6-7EB6-B092-EA7913B5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08C2-EBF1-0B7E-83B5-5EADDC572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6216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3) Сезонность, обусловленная климатом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Примеры:</a:t>
            </a:r>
          </a:p>
          <a:p>
            <a:r>
              <a:rPr lang="ru-RU" sz="1600" dirty="0">
                <a:latin typeface="Aptos" panose="020B0004020202020204" pitchFamily="34" charset="0"/>
              </a:rPr>
              <a:t>летом выше продажи напитков и прохладительных товаров;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зимой растёт спрос на отопление и тёплую одежду.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4) Сезонность в производственных и логистических процессах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Определяется графиком поставок, циклами производства, ограничениями оборудования.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Зачем бизнесу анализ сезонности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1) Улучшение прогнозирования спроса</a:t>
            </a:r>
          </a:p>
          <a:p>
            <a:r>
              <a:rPr lang="ru-RU" sz="1600" dirty="0">
                <a:latin typeface="Aptos" panose="020B0004020202020204" pitchFamily="34" charset="0"/>
              </a:rPr>
              <a:t>Учёт сезонности позволяет точнее предсказывать потребности клиентов и снижать риск: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дефицита товара,</a:t>
            </a:r>
          </a:p>
          <a:p>
            <a:r>
              <a:rPr lang="ru-RU" sz="1600" dirty="0">
                <a:latin typeface="Aptos" panose="020B0004020202020204" pitchFamily="34" charset="0"/>
              </a:rPr>
              <a:t>затоваривания складов,</a:t>
            </a:r>
          </a:p>
          <a:p>
            <a:r>
              <a:rPr lang="ru-RU" sz="1600" dirty="0">
                <a:latin typeface="Aptos" panose="020B0004020202020204" pitchFamily="34" charset="0"/>
              </a:rPr>
              <a:t>избыточных расходов на логистику.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2) Оптимизация запасов и цепочек поставок</a:t>
            </a:r>
          </a:p>
          <a:p>
            <a:r>
              <a:rPr lang="ru-RU" sz="1600" dirty="0">
                <a:latin typeface="Aptos" panose="020B0004020202020204" pitchFamily="34" charset="0"/>
              </a:rPr>
              <a:t>Стратегия управления запасами напрямую зависит от корректного понимания: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сезонных циклов закупок;</a:t>
            </a:r>
          </a:p>
          <a:p>
            <a:r>
              <a:rPr lang="ru-RU" sz="1600" dirty="0">
                <a:latin typeface="Aptos" panose="020B0004020202020204" pitchFamily="34" charset="0"/>
              </a:rPr>
              <a:t>времени поставки;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сезонных лагов между спросом и предложением.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B3E5ADD-5EDA-B2BA-A235-F2780E6C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576919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4C39C-8D08-A7E3-A18F-EF22BBA2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91E64-BC03-4615-FE8C-0F8EF8A8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6216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3) Управление маркетингом и рекламой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Компании могут:</a:t>
            </a:r>
          </a:p>
          <a:p>
            <a:r>
              <a:rPr lang="ru-RU" sz="1600" dirty="0">
                <a:latin typeface="Aptos" panose="020B0004020202020204" pitchFamily="34" charset="0"/>
              </a:rPr>
              <a:t>усиливать рекламную активность в пиковые периоды,</a:t>
            </a:r>
          </a:p>
          <a:p>
            <a:r>
              <a:rPr lang="ru-RU" sz="1600" dirty="0">
                <a:latin typeface="Aptos" panose="020B0004020202020204" pitchFamily="34" charset="0"/>
              </a:rPr>
              <a:t>экономить бюджет, снижая активность в «мертвые» периоды.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4) Финансовое планирование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Сезонность влияет на:</a:t>
            </a:r>
          </a:p>
          <a:p>
            <a:r>
              <a:rPr lang="ru-RU" sz="1600" dirty="0">
                <a:latin typeface="Aptos" panose="020B0004020202020204" pitchFamily="34" charset="0"/>
              </a:rPr>
              <a:t>финансовые отчёты;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оценку прибыли;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бюджетирование;</a:t>
            </a:r>
          </a:p>
          <a:p>
            <a:r>
              <a:rPr lang="ru-RU" sz="1600" dirty="0">
                <a:latin typeface="Aptos" panose="020B0004020202020204" pitchFamily="34" charset="0"/>
              </a:rPr>
              <a:t>управление денежными потоками.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Пример:</a:t>
            </a:r>
            <a:br>
              <a:rPr lang="ru-RU" sz="1600" dirty="0">
                <a:latin typeface="Aptos" panose="020B0004020202020204" pitchFamily="34" charset="0"/>
              </a:rPr>
            </a:br>
            <a:r>
              <a:rPr lang="ru-RU" sz="1600" dirty="0">
                <a:latin typeface="Aptos" panose="020B0004020202020204" pitchFamily="34" charset="0"/>
              </a:rPr>
              <a:t>   Туристические компании получают прибыль в высокой сезон, а в низкий — оптимизируют расходы.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5) Определение рыночных закономерностей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Анализ сезонности помогает:</a:t>
            </a:r>
          </a:p>
          <a:p>
            <a:r>
              <a:rPr lang="ru-RU" sz="1600" dirty="0">
                <a:latin typeface="Aptos" panose="020B0004020202020204" pitchFamily="34" charset="0"/>
              </a:rPr>
              <a:t>выявлять устойчивые паттерны в поведении клиентов;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понимать взаимосвязь маркетинга и спроса;</a:t>
            </a:r>
          </a:p>
          <a:p>
            <a:r>
              <a:rPr lang="ru-RU" sz="1600" dirty="0">
                <a:latin typeface="Aptos" panose="020B0004020202020204" pitchFamily="34" charset="0"/>
              </a:rPr>
              <a:t>формировать более продвинутые стратегии работы.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DA09B9-D064-8C53-B666-3DFF8251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42862957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CE31-71FD-6067-2EE3-D2EA8ABA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1CCD5-F0B5-DBC1-51CA-F022F1BFD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859"/>
            <a:ext cx="10515600" cy="56216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Предварительный этап для прогнозирования временных рядов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Сегментация и кластеризация паттернов часто являются подготовительным этапом к построению моделей прогнозирования.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Применения: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построение специализированных моделей на основе групп паттернов (каждый кластер имеет свою модель);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обучение моделей только на “типичных” сегментах, исключая аномалии;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повышение точности прогноза за счёт учёта принадлежности сегмента к определённому </a:t>
            </a:r>
            <a:r>
              <a:rPr lang="ru-RU" sz="1600" dirty="0" err="1">
                <a:latin typeface="Aptos" panose="020B0004020202020204" pitchFamily="34" charset="0"/>
              </a:rPr>
              <a:t>клusterу</a:t>
            </a:r>
            <a:r>
              <a:rPr lang="ru-RU" sz="16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Кластеризация, особенно на основе DTW, помогает формировать </a:t>
            </a:r>
            <a:r>
              <a:rPr lang="ru-RU" sz="1600" i="1" dirty="0">
                <a:latin typeface="Aptos" panose="020B0004020202020204" pitchFamily="34" charset="0"/>
              </a:rPr>
              <a:t>контекстно-зависимые модели</a:t>
            </a:r>
            <a:r>
              <a:rPr lang="ru-RU" sz="1600" dirty="0">
                <a:latin typeface="Aptos" panose="020B0004020202020204" pitchFamily="34" charset="0"/>
              </a:rPr>
              <a:t> прогноза, что особенно важно для нестационарных процессов.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Выявление аномалий и неожиданных событий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Аномалия — сегмент временного ряда, который существенно отличается от типичных паттернов поведения системы. Методы кластеризации позволяют выделять аномалии как:</a:t>
            </a:r>
          </a:p>
          <a:p>
            <a:r>
              <a:rPr lang="ru-RU" sz="1600" dirty="0">
                <a:latin typeface="Aptos" panose="020B0004020202020204" pitchFamily="34" charset="0"/>
              </a:rPr>
              <a:t>точки, не относящиеся ни к одному кластеру;</a:t>
            </a:r>
          </a:p>
          <a:p>
            <a:r>
              <a:rPr lang="ru-RU" sz="1600" dirty="0">
                <a:latin typeface="Aptos" panose="020B0004020202020204" pitchFamily="34" charset="0"/>
              </a:rPr>
              <a:t>сегменты, находящиеся на больших DTW-расстояниях от </a:t>
            </a:r>
            <a:r>
              <a:rPr lang="ru-RU" sz="1600" dirty="0" err="1">
                <a:latin typeface="Aptos" panose="020B0004020202020204" pitchFamily="34" charset="0"/>
              </a:rPr>
              <a:t>центроидов</a:t>
            </a:r>
            <a:r>
              <a:rPr lang="ru-RU" sz="1600" dirty="0">
                <a:latin typeface="Aptos" panose="020B0004020202020204" pitchFamily="34" charset="0"/>
              </a:rPr>
              <a:t>;</a:t>
            </a:r>
          </a:p>
          <a:p>
            <a:r>
              <a:rPr lang="ru-RU" sz="1600" dirty="0">
                <a:latin typeface="Aptos" panose="020B0004020202020204" pitchFamily="34" charset="0"/>
              </a:rPr>
              <a:t>редкие и уникальные паттерны.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Примеры аномалий:</a:t>
            </a:r>
          </a:p>
          <a:p>
            <a:r>
              <a:rPr lang="ru-RU" sz="1600" dirty="0">
                <a:latin typeface="Aptos" panose="020B0004020202020204" pitchFamily="34" charset="0"/>
              </a:rPr>
              <a:t>резкий скачок энергопотребления из-за аварийного режима;</a:t>
            </a:r>
          </a:p>
          <a:p>
            <a:r>
              <a:rPr lang="ru-RU" sz="1600" dirty="0">
                <a:latin typeface="Aptos" panose="020B0004020202020204" pitchFamily="34" charset="0"/>
              </a:rPr>
              <a:t>необычное снижение трафика на веб-сайте;</a:t>
            </a:r>
          </a:p>
          <a:p>
            <a:r>
              <a:rPr lang="ru-RU" sz="1600" dirty="0">
                <a:latin typeface="Aptos" panose="020B0004020202020204" pitchFamily="34" charset="0"/>
              </a:rPr>
              <a:t>аномальная активность датчика;</a:t>
            </a:r>
          </a:p>
          <a:p>
            <a:r>
              <a:rPr lang="ru-RU" sz="1600" dirty="0">
                <a:latin typeface="Aptos" panose="020B0004020202020204" pitchFamily="34" charset="0"/>
              </a:rPr>
              <a:t>медицинские отклонения в сигнале пациента.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Выявление таких событий имеет ключевое значение для мониторинга, безопасности, энергосбережения и диагностики.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5CA1C4C-82DF-504E-8AD8-9AEE9EF02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329151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AC5E-54C4-9DCD-28C6-36D33547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DE0D3-4A20-AFD2-836D-A89CCAF71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116"/>
            <a:ext cx="10515600" cy="5350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Анализ временных закономерностей представляет собой ключевой инструмент в исследовании динамических процессов, наблюдаемых в самых различных сферах — от энергетики и климатологии до экономики, медицины и цифровых платформ. Временные ряды содержат богатую структуру: тренды, сезонность, циклы и случайные колебания, которые невозможно корректно интерпретировать без специализированных методов обработки и анализа.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В совокупности рассмотренные методы обеспечивают глубокое понимание структуры временных данных. Они позволяют переходить от сырых наблюдений к выявлению фундаментальных закономерностей, которые лежат в основе процессов. Анализ сезонности, трендов и взаимосвязей между признаками становится не только инструментом исследования, но и основой для принятия решений, прогнозирования, управления ресурсами и оптимизации систем в реальных условиях.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Таким образом, применение сегментации, метрик схожести, кластеризации и корреляционного анализа представляет собой мощный комплекс подходов, позволяющий решать широкий спектр задач интеллектуального анализа данных. Эти методы обеспечивают не только повышение точности моделей и интерпретируемости результатов, но и открывают возможности для выявления новых знаний о поведении временных процессов, делая анализ данных более осмысленным и практически полезным.</a:t>
            </a:r>
          </a:p>
          <a:p>
            <a:pPr marL="0" indent="0">
              <a:buNone/>
            </a:pPr>
            <a:endParaRPr lang="ru-RU" sz="18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6B64882-C562-2E5D-7834-75BB4C8E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02863"/>
            <a:ext cx="10515600" cy="549996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ptos Display" panose="020B0004020202020204" pitchFamily="34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2413840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1CD2B-02EA-7422-0FA5-992528E7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7729E17-0AFD-55E5-27D9-B8102096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915"/>
            <a:ext cx="10515600" cy="158816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Aptos Display" panose="020B00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5301925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7405</Words>
  <Application>Microsoft Office PowerPoint</Application>
  <PresentationFormat>Widescreen</PresentationFormat>
  <Paragraphs>719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Cambria Math</vt:lpstr>
      <vt:lpstr>Тема Office</vt:lpstr>
      <vt:lpstr>Анализ временных закономерностей и сезонности с помощью кластеризации и корреляции признаков (Time Series Pattern Clustering and Feature Correlation Analysis)</vt:lpstr>
      <vt:lpstr>План</vt:lpstr>
      <vt:lpstr>Введение</vt:lpstr>
      <vt:lpstr>Временные ряды и их ключевые особенности</vt:lpstr>
      <vt:lpstr>Временные ряды и их ключевые особенности</vt:lpstr>
      <vt:lpstr>Временные ряды и их ключевые особенности</vt:lpstr>
      <vt:lpstr>Временные ряды и их ключевые особенности</vt:lpstr>
      <vt:lpstr>Временные ряды и их ключевые особенности</vt:lpstr>
      <vt:lpstr>PowerPoint Presentation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Сегментация временных рядов (Time Series Segmentation)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Метрики схожести временных рядов</vt:lpstr>
      <vt:lpstr>PowerPoint Presentation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Кластеризация временных рядов</vt:lpstr>
      <vt:lpstr>PowerPoint Presentation</vt:lpstr>
      <vt:lpstr>Корреляционный анализ признаков</vt:lpstr>
      <vt:lpstr>Корреляционный анализ признаков</vt:lpstr>
      <vt:lpstr>Корреляционный анализ признаков</vt:lpstr>
      <vt:lpstr>Корреляционный анализ признаков</vt:lpstr>
      <vt:lpstr>Корреляционный анализ признаков</vt:lpstr>
      <vt:lpstr>Корреляционный анализ признаков</vt:lpstr>
      <vt:lpstr>Корреляционный анализ признаков</vt:lpstr>
      <vt:lpstr>Применения</vt:lpstr>
      <vt:lpstr>Применения</vt:lpstr>
      <vt:lpstr>Применения</vt:lpstr>
      <vt:lpstr>Применения</vt:lpstr>
      <vt:lpstr>Применения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Марина Маркасьян</dc:creator>
  <cp:lastModifiedBy>Турал Бабаев</cp:lastModifiedBy>
  <cp:revision>6</cp:revision>
  <dcterms:created xsi:type="dcterms:W3CDTF">2023-02-11T08:11:06Z</dcterms:created>
  <dcterms:modified xsi:type="dcterms:W3CDTF">2025-12-12T07:53:26Z</dcterms:modified>
</cp:coreProperties>
</file>